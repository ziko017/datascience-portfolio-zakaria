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7" r:id="rId9"/>
    <p:sldId id="268" r:id="rId10"/>
    <p:sldId id="272" r:id="rId11"/>
    <p:sldId id="273" r:id="rId12"/>
    <p:sldId id="274" r:id="rId13"/>
    <p:sldId id="275" r:id="rId14"/>
    <p:sldId id="276" r:id="rId15"/>
    <p:sldId id="277" r:id="rId16"/>
    <p:sldId id="281" r:id="rId17"/>
    <p:sldId id="279" r:id="rId18"/>
    <p:sldId id="280" r:id="rId19"/>
    <p:sldId id="303" r:id="rId20"/>
    <p:sldId id="302" r:id="rId21"/>
    <p:sldId id="284" r:id="rId22"/>
    <p:sldId id="304" r:id="rId23"/>
    <p:sldId id="306" r:id="rId24"/>
    <p:sldId id="307" r:id="rId25"/>
    <p:sldId id="308" r:id="rId26"/>
    <p:sldId id="309" r:id="rId27"/>
    <p:sldId id="299" r:id="rId28"/>
    <p:sldId id="300" r:id="rId29"/>
  </p:sldIdLst>
  <p:sldSz cx="18288000" cy="10287000"/>
  <p:notesSz cx="6858000" cy="9144000"/>
  <p:embeddedFontLst>
    <p:embeddedFont>
      <p:font typeface="Helvetica World Bold" panose="020B0604020202020204" charset="-128"/>
      <p:regular r:id="rId31"/>
    </p:embeddedFont>
    <p:embeddedFont>
      <p:font typeface="Alice Bold" panose="020B0604020202020204" charset="0"/>
      <p:regular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ormorant Garamond Bold Italics" panose="020B0604020202020204" charset="0"/>
      <p:regular r:id="rId38"/>
    </p:embeddedFont>
    <p:embeddedFont>
      <p:font typeface="Cormorant Garamond Italics" panose="020B0604020202020204" charset="0"/>
      <p:regular r:id="rId39"/>
    </p:embeddedFont>
    <p:embeddedFont>
      <p:font typeface="Poppins" panose="020B0604020202020204" charset="0"/>
      <p:regular r:id="rId40"/>
      <p:bold r:id="rId41"/>
      <p:italic r:id="rId42"/>
      <p:boldItalic r:id="rId43"/>
    </p:embeddedFont>
    <p:embeddedFont>
      <p:font typeface="Poppins Bold" panose="020B0604020202020204" charset="0"/>
      <p:regular r:id="rId44"/>
      <p:bold r:id="rId45"/>
    </p:embeddedFont>
    <p:embeddedFont>
      <p:font typeface="Poppins Bold Italics" panose="020B0604020202020204" charset="0"/>
      <p:regular r:id="rId46"/>
    </p:embeddedFont>
    <p:embeddedFont>
      <p:font typeface="Poppins Italics" panose="020B0604020202020204" charset="0"/>
      <p:regular r:id="rId47"/>
    </p:embeddedFont>
    <p:embeddedFont>
      <p:font typeface="Quicksand" panose="020B0604020202020204" charset="0"/>
      <p:regular r:id="rId48"/>
    </p:embeddedFont>
    <p:embeddedFont>
      <p:font typeface="Quicksand Bold" panose="020B0604020202020204" charset="0"/>
      <p:regular r:id="rId49"/>
    </p:embeddedFont>
    <p:embeddedFont>
      <p:font typeface="Roboto Bold" panose="020B0604020202020204" charset="0"/>
      <p:regular r:id="rId50"/>
      <p:bold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DEA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85" autoAdjust="0"/>
    <p:restoredTop sz="82526" autoAdjust="0"/>
  </p:normalViewPr>
  <p:slideViewPr>
    <p:cSldViewPr>
      <p:cViewPr>
        <p:scale>
          <a:sx n="50" d="100"/>
          <a:sy n="50" d="100"/>
        </p:scale>
        <p:origin x="720" y="-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font" Target="fonts/font20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font" Target="fonts/font2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 dirty="0"/>
              <a:t>Mon projet porte sur l’intégration de l’intelligence artificielle dans la plateforme de supervision Zabbix. L’idée est de rendre Zabbix plus intelligent : non seulement détecter les incidents, mais aussi automatiser les actions correctives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24058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 à partir de ce constat qu’est née la 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problématique suivante</a:t>
            </a:r>
            <a:endParaRPr lang="en-US" dirty="0"/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7172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L'objectif principal est de ne jamais donner la réponse directement — </a:t>
            </a:r>
            <a:r>
              <a:rPr lang="fr-FR" dirty="0" err="1"/>
              <a:t>CyberSocrate</a:t>
            </a:r>
            <a:r>
              <a:rPr lang="fr-FR" dirty="0"/>
              <a:t> guide l'étudiant à construire lui-même ses connaissances à travers une série de questions progressives adaptées à son niveau.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43112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305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11700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9756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80351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3829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58585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7854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1689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6775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6656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579094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                           </a:t>
            </a:r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 → Niveau déclaré par l'étudiant 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→ Détection implicite via vocabulaire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 → Ajustement après 3 échanges → Style selon score</a:t>
            </a:r>
          </a:p>
          <a:p>
            <a:endParaRPr lang="en-US" dirty="0"/>
          </a:p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→ Tu es un assistant socratique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 → Ne jamais donner la réponse → UNE seule question à la fois </a:t>
            </a: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82860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85863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466937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EE5B3-C6A9-40B2-54CC-6D4E9D7F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6BE386E-A123-46F3-14EC-6F2124B06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32FC6E0-E89F-8136-0E8D-A7BE27008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14F4AD-BF39-1C91-DC95-83896C8F5E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773520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FAB5-3300-AB50-EDBE-84F4CAED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CD26DB3-D1D7-B528-11A1-A24FD4E7A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A54185A-A008-E4B1-3C0E-CA66AFED6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B0FD48-B02D-B5D3-3BC1-DC7374BFC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31895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EF588-804B-93C6-7FD4-979D0E880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5E0E4FE-1E3D-3102-44A0-8AE4B3BEE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245BA36-408A-0636-509D-329429649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7F00E9-21C7-69D2-DFDD-381BEE310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70661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164DC-D0B9-622B-5DF5-EFD937017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4E21803-A08C-CF5C-41A3-D107888CE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CFE475F-B03F-E929-DCC3-93A352AE6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9E0407-0237-8518-FDCA-F1200450A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39983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126D5-96F8-9846-419B-E211CE548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EF78D38-ACE8-151D-01A5-F1E7ECF41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2E6CF18-94F8-EFCD-9AD1-425DEA90D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DFB0EF-498B-FFDF-D479-6D0C394F4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32360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16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17.sv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" Type="http://schemas.openxmlformats.org/officeDocument/2006/relationships/image" Target="../media/image20.svg"/><Relationship Id="rId21" Type="http://schemas.openxmlformats.org/officeDocument/2006/relationships/image" Target="../media/image39.svg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17" Type="http://schemas.openxmlformats.org/officeDocument/2006/relationships/image" Target="../media/image35.svg"/><Relationship Id="rId25" Type="http://schemas.openxmlformats.org/officeDocument/2006/relationships/image" Target="../media/image43.svg"/><Relationship Id="rId2" Type="http://schemas.openxmlformats.org/officeDocument/2006/relationships/image" Target="../media/image19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24" Type="http://schemas.openxmlformats.org/officeDocument/2006/relationships/image" Target="../media/image42.png"/><Relationship Id="rId5" Type="http://schemas.openxmlformats.org/officeDocument/2006/relationships/image" Target="../media/image22.svg"/><Relationship Id="rId15" Type="http://schemas.openxmlformats.org/officeDocument/2006/relationships/image" Target="../media/image33.svg"/><Relationship Id="rId23" Type="http://schemas.openxmlformats.org/officeDocument/2006/relationships/image" Target="../media/image41.svg"/><Relationship Id="rId10" Type="http://schemas.openxmlformats.org/officeDocument/2006/relationships/image" Target="../media/image28.png"/><Relationship Id="rId19" Type="http://schemas.openxmlformats.org/officeDocument/2006/relationships/image" Target="../media/image37.svg"/><Relationship Id="rId4" Type="http://schemas.openxmlformats.org/officeDocument/2006/relationships/image" Target="../media/image21.png"/><Relationship Id="rId9" Type="http://schemas.openxmlformats.org/officeDocument/2006/relationships/image" Target="../media/image27.sv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8.png"/><Relationship Id="rId18" Type="http://schemas.openxmlformats.org/officeDocument/2006/relationships/image" Target="../media/image22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19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png"/><Relationship Id="rId7" Type="http://schemas.openxmlformats.org/officeDocument/2006/relationships/image" Target="../media/image5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54.png"/><Relationship Id="rId4" Type="http://schemas.openxmlformats.org/officeDocument/2006/relationships/image" Target="../media/image49.svg"/><Relationship Id="rId9" Type="http://schemas.openxmlformats.org/officeDocument/2006/relationships/image" Target="../media/image5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svg"/><Relationship Id="rId18" Type="http://schemas.openxmlformats.org/officeDocument/2006/relationships/image" Target="../media/image48.png"/><Relationship Id="rId26" Type="http://schemas.openxmlformats.org/officeDocument/2006/relationships/image" Target="../media/image76.png"/><Relationship Id="rId3" Type="http://schemas.openxmlformats.org/officeDocument/2006/relationships/image" Target="../media/image55.png"/><Relationship Id="rId21" Type="http://schemas.openxmlformats.org/officeDocument/2006/relationships/image" Target="../media/image71.svg"/><Relationship Id="rId7" Type="http://schemas.openxmlformats.org/officeDocument/2006/relationships/image" Target="../media/image59.svg"/><Relationship Id="rId12" Type="http://schemas.openxmlformats.org/officeDocument/2006/relationships/image" Target="../media/image64.png"/><Relationship Id="rId17" Type="http://schemas.openxmlformats.org/officeDocument/2006/relationships/image" Target="../media/image69.svg"/><Relationship Id="rId25" Type="http://schemas.openxmlformats.org/officeDocument/2006/relationships/image" Target="../media/image75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8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11" Type="http://schemas.openxmlformats.org/officeDocument/2006/relationships/image" Target="../media/image63.svg"/><Relationship Id="rId24" Type="http://schemas.openxmlformats.org/officeDocument/2006/relationships/image" Target="../media/image74.png"/><Relationship Id="rId5" Type="http://schemas.openxmlformats.org/officeDocument/2006/relationships/image" Target="../media/image57.svg"/><Relationship Id="rId15" Type="http://schemas.openxmlformats.org/officeDocument/2006/relationships/image" Target="../media/image67.svg"/><Relationship Id="rId23" Type="http://schemas.openxmlformats.org/officeDocument/2006/relationships/image" Target="../media/image73.svg"/><Relationship Id="rId28" Type="http://schemas.openxmlformats.org/officeDocument/2006/relationships/image" Target="../media/image78.png"/><Relationship Id="rId10" Type="http://schemas.openxmlformats.org/officeDocument/2006/relationships/image" Target="../media/image62.png"/><Relationship Id="rId19" Type="http://schemas.openxmlformats.org/officeDocument/2006/relationships/image" Target="../media/image49.svg"/><Relationship Id="rId4" Type="http://schemas.openxmlformats.org/officeDocument/2006/relationships/image" Target="../media/image56.svg"/><Relationship Id="rId9" Type="http://schemas.openxmlformats.org/officeDocument/2006/relationships/image" Target="../media/image61.svg"/><Relationship Id="rId14" Type="http://schemas.openxmlformats.org/officeDocument/2006/relationships/image" Target="../media/image66.png"/><Relationship Id="rId22" Type="http://schemas.openxmlformats.org/officeDocument/2006/relationships/image" Target="../media/image72.png"/><Relationship Id="rId27" Type="http://schemas.openxmlformats.org/officeDocument/2006/relationships/image" Target="../media/image7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73.svg"/><Relationship Id="rId3" Type="http://schemas.openxmlformats.org/officeDocument/2006/relationships/image" Target="../media/image48.png"/><Relationship Id="rId7" Type="http://schemas.openxmlformats.org/officeDocument/2006/relationships/image" Target="../media/image75.sv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1.svg"/><Relationship Id="rId5" Type="http://schemas.openxmlformats.org/officeDocument/2006/relationships/image" Target="../media/image78.png"/><Relationship Id="rId10" Type="http://schemas.openxmlformats.org/officeDocument/2006/relationships/image" Target="../media/image70.png"/><Relationship Id="rId4" Type="http://schemas.openxmlformats.org/officeDocument/2006/relationships/image" Target="../media/image49.svg"/><Relationship Id="rId9" Type="http://schemas.openxmlformats.org/officeDocument/2006/relationships/image" Target="../media/image7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8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svg"/><Relationship Id="rId9" Type="http://schemas.openxmlformats.org/officeDocument/2006/relationships/image" Target="../media/image8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13" Type="http://schemas.openxmlformats.org/officeDocument/2006/relationships/image" Target="../media/image96.png"/><Relationship Id="rId3" Type="http://schemas.openxmlformats.org/officeDocument/2006/relationships/image" Target="../media/image19.png"/><Relationship Id="rId7" Type="http://schemas.openxmlformats.org/officeDocument/2006/relationships/image" Target="../media/image92.png"/><Relationship Id="rId12" Type="http://schemas.openxmlformats.org/officeDocument/2006/relationships/image" Target="../media/image95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svg"/><Relationship Id="rId11" Type="http://schemas.openxmlformats.org/officeDocument/2006/relationships/image" Target="../media/image94.png"/><Relationship Id="rId5" Type="http://schemas.openxmlformats.org/officeDocument/2006/relationships/image" Target="../media/image90.png"/><Relationship Id="rId15" Type="http://schemas.openxmlformats.org/officeDocument/2006/relationships/image" Target="../media/image98.png"/><Relationship Id="rId10" Type="http://schemas.openxmlformats.org/officeDocument/2006/relationships/image" Target="../media/image22.svg"/><Relationship Id="rId4" Type="http://schemas.openxmlformats.org/officeDocument/2006/relationships/image" Target="../media/image20.svg"/><Relationship Id="rId9" Type="http://schemas.openxmlformats.org/officeDocument/2006/relationships/image" Target="../media/image21.png"/><Relationship Id="rId14" Type="http://schemas.openxmlformats.org/officeDocument/2006/relationships/image" Target="../media/image9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6.png"/><Relationship Id="rId4" Type="http://schemas.openxmlformats.org/officeDocument/2006/relationships/image" Target="../media/image10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png"/><Relationship Id="rId4" Type="http://schemas.openxmlformats.org/officeDocument/2006/relationships/image" Target="../media/image107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9.png"/><Relationship Id="rId7" Type="http://schemas.openxmlformats.org/officeDocument/2006/relationships/image" Target="../media/image11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svg"/><Relationship Id="rId11" Type="http://schemas.openxmlformats.org/officeDocument/2006/relationships/image" Target="../media/image117.svg"/><Relationship Id="rId5" Type="http://schemas.openxmlformats.org/officeDocument/2006/relationships/image" Target="../media/image111.svg"/><Relationship Id="rId10" Type="http://schemas.openxmlformats.org/officeDocument/2006/relationships/image" Target="../media/image116.png"/><Relationship Id="rId4" Type="http://schemas.openxmlformats.org/officeDocument/2006/relationships/image" Target="../media/image110.svg"/><Relationship Id="rId9" Type="http://schemas.openxmlformats.org/officeDocument/2006/relationships/image" Target="../media/image11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12.svg"/><Relationship Id="rId18" Type="http://schemas.openxmlformats.org/officeDocument/2006/relationships/image" Target="../media/image125.jpeg"/><Relationship Id="rId3" Type="http://schemas.openxmlformats.org/officeDocument/2006/relationships/image" Target="../media/image114.png"/><Relationship Id="rId21" Type="http://schemas.openxmlformats.org/officeDocument/2006/relationships/image" Target="../media/image128.png"/><Relationship Id="rId7" Type="http://schemas.openxmlformats.org/officeDocument/2006/relationships/image" Target="../media/image113.svg"/><Relationship Id="rId12" Type="http://schemas.openxmlformats.org/officeDocument/2006/relationships/image" Target="../media/image110.svg"/><Relationship Id="rId17" Type="http://schemas.openxmlformats.org/officeDocument/2006/relationships/image" Target="../media/image117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16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svg"/><Relationship Id="rId11" Type="http://schemas.openxmlformats.org/officeDocument/2006/relationships/image" Target="../media/image122.svg"/><Relationship Id="rId5" Type="http://schemas.openxmlformats.org/officeDocument/2006/relationships/image" Target="../media/image109.png"/><Relationship Id="rId15" Type="http://schemas.openxmlformats.org/officeDocument/2006/relationships/image" Target="../media/image124.svg"/><Relationship Id="rId10" Type="http://schemas.openxmlformats.org/officeDocument/2006/relationships/image" Target="../media/image121.png"/><Relationship Id="rId19" Type="http://schemas.openxmlformats.org/officeDocument/2006/relationships/image" Target="../media/image126.png"/><Relationship Id="rId4" Type="http://schemas.openxmlformats.org/officeDocument/2006/relationships/image" Target="../media/image115.svg"/><Relationship Id="rId9" Type="http://schemas.openxmlformats.org/officeDocument/2006/relationships/image" Target="../media/image120.svg"/><Relationship Id="rId14" Type="http://schemas.openxmlformats.org/officeDocument/2006/relationships/image" Target="../media/image1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sv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3764" y="9669608"/>
            <a:ext cx="8114971" cy="0"/>
          </a:xfrm>
          <a:prstGeom prst="line">
            <a:avLst/>
          </a:prstGeom>
          <a:ln w="76200" cap="flat">
            <a:solidFill>
              <a:srgbClr val="5F24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Freeform 3"/>
          <p:cNvSpPr/>
          <p:nvPr/>
        </p:nvSpPr>
        <p:spPr>
          <a:xfrm>
            <a:off x="9618706" y="9410700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7"/>
                </a:lnTo>
                <a:lnTo>
                  <a:pt x="0" y="44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1043764" y="3501317"/>
            <a:ext cx="16229942" cy="1767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fr-FR" sz="5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morant Garamond Bold Italics" panose="020B0604020202020204" charset="0"/>
              </a:rPr>
              <a:t>ASSISTANT PÉDAGOGIQUE SOCRATIQUE EN CYBERSÉCURITÉ</a:t>
            </a:r>
            <a:r>
              <a:rPr lang="fr-FR" sz="5400" dirty="0">
                <a:solidFill>
                  <a:schemeClr val="tx2"/>
                </a:solidFill>
                <a:latin typeface="Cormorant Garamond Bold Italics" panose="020B0604020202020204" charset="0"/>
              </a:rPr>
              <a:t> :</a:t>
            </a:r>
          </a:p>
        </p:txBody>
      </p:sp>
      <p:sp>
        <p:nvSpPr>
          <p:cNvPr id="7" name="Freeform 7"/>
          <p:cNvSpPr/>
          <p:nvPr/>
        </p:nvSpPr>
        <p:spPr>
          <a:xfrm>
            <a:off x="9943039" y="5473044"/>
            <a:ext cx="7315200" cy="993648"/>
          </a:xfrm>
          <a:custGeom>
            <a:avLst/>
            <a:gdLst/>
            <a:ahLst/>
            <a:cxnLst/>
            <a:rect l="l" t="t" r="r" b="b"/>
            <a:pathLst>
              <a:path w="7315200" h="993648">
                <a:moveTo>
                  <a:pt x="0" y="0"/>
                </a:moveTo>
                <a:lnTo>
                  <a:pt x="7315200" y="0"/>
                </a:lnTo>
                <a:lnTo>
                  <a:pt x="7315200" y="993648"/>
                </a:lnTo>
                <a:lnTo>
                  <a:pt x="0" y="9936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Box 8"/>
          <p:cNvSpPr txBox="1"/>
          <p:nvPr/>
        </p:nvSpPr>
        <p:spPr>
          <a:xfrm>
            <a:off x="1028700" y="7327584"/>
            <a:ext cx="2219547" cy="46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5"/>
              </a:lnSpc>
              <a:spcBef>
                <a:spcPct val="0"/>
              </a:spcBef>
            </a:pPr>
            <a:r>
              <a:rPr lang="fr-FR" sz="2646" noProof="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Réalisé par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1989" y="7942853"/>
            <a:ext cx="3809359" cy="474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9"/>
              </a:lnSpc>
              <a:spcBef>
                <a:spcPct val="0"/>
              </a:spcBef>
            </a:pPr>
            <a:r>
              <a:rPr lang="fr-FR" sz="2771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ETTOUHAMI Zakaria</a:t>
            </a:r>
            <a:endParaRPr lang="fr-FR" sz="2771" b="1" noProof="0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028700" y="2954592"/>
            <a:ext cx="7315200" cy="993648"/>
          </a:xfrm>
          <a:custGeom>
            <a:avLst/>
            <a:gdLst/>
            <a:ahLst/>
            <a:cxnLst/>
            <a:rect l="l" t="t" r="r" b="b"/>
            <a:pathLst>
              <a:path w="7315200" h="993648">
                <a:moveTo>
                  <a:pt x="7315200" y="993648"/>
                </a:moveTo>
                <a:lnTo>
                  <a:pt x="0" y="993648"/>
                </a:lnTo>
                <a:lnTo>
                  <a:pt x="0" y="0"/>
                </a:lnTo>
                <a:lnTo>
                  <a:pt x="7315200" y="0"/>
                </a:lnTo>
                <a:lnTo>
                  <a:pt x="7315200" y="99364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Box 12"/>
          <p:cNvSpPr txBox="1"/>
          <p:nvPr/>
        </p:nvSpPr>
        <p:spPr>
          <a:xfrm>
            <a:off x="5950184" y="7327584"/>
            <a:ext cx="3335193" cy="46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5"/>
              </a:lnSpc>
              <a:spcBef>
                <a:spcPct val="0"/>
              </a:spcBef>
            </a:pPr>
            <a:r>
              <a:rPr lang="fr-FR" sz="2646" noProof="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Encadrants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33608" y="7942853"/>
            <a:ext cx="5374725" cy="468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879"/>
              </a:lnSpc>
              <a:spcBef>
                <a:spcPct val="0"/>
              </a:spcBef>
            </a:pPr>
            <a:r>
              <a:rPr lang="fr-FR" sz="2771" b="1" noProof="0" dirty="0">
                <a:solidFill>
                  <a:schemeClr val="tx2"/>
                </a:solidFill>
                <a:latin typeface="Quicksand Bold" panose="020B0604020202020204" charset="0"/>
                <a:ea typeface="Quicksand Bold"/>
                <a:cs typeface="Quicksand Bold"/>
                <a:sym typeface="Quicksand Bold"/>
              </a:rPr>
              <a:t>M</a:t>
            </a:r>
            <a:r>
              <a:rPr lang="fr-FR" sz="2771" b="1" noProof="0" dirty="0">
                <a:solidFill>
                  <a:srgbClr val="0F4662"/>
                </a:solidFill>
                <a:latin typeface="Quicksand Bold" panose="020B0604020202020204" charset="0"/>
                <a:ea typeface="Quicksand Bold"/>
                <a:cs typeface="Quicksand Bold"/>
                <a:sym typeface="Quicksand Bold"/>
              </a:rPr>
              <a:t>. </a:t>
            </a:r>
            <a:r>
              <a:rPr lang="fr-FR" sz="2800" dirty="0">
                <a:solidFill>
                  <a:schemeClr val="tx2"/>
                </a:solidFill>
                <a:latin typeface="Quicksand Bold" panose="020B0604020202020204" charset="0"/>
              </a:rPr>
              <a:t> Philippe </a:t>
            </a:r>
            <a:r>
              <a:rPr lang="fr-FR" sz="2800" dirty="0" err="1">
                <a:solidFill>
                  <a:schemeClr val="tx2"/>
                </a:solidFill>
                <a:latin typeface="Quicksand Bold" panose="020B0604020202020204" charset="0"/>
              </a:rPr>
              <a:t>Velasques</a:t>
            </a:r>
            <a:endParaRPr lang="fr-FR" sz="2771" b="1" noProof="0" dirty="0">
              <a:solidFill>
                <a:schemeClr val="tx2"/>
              </a:solidFill>
              <a:latin typeface="Quicksand Bold" panose="020B0604020202020204" charset="0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410457" y="7327584"/>
            <a:ext cx="3335193" cy="437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5"/>
              </a:lnSpc>
              <a:spcBef>
                <a:spcPct val="0"/>
              </a:spcBef>
            </a:pPr>
            <a:r>
              <a:rPr lang="fr-FR" sz="2646" noProof="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:</a:t>
            </a:r>
          </a:p>
        </p:txBody>
      </p:sp>
      <p:grpSp>
        <p:nvGrpSpPr>
          <p:cNvPr id="18" name="Group 21">
            <a:extLst>
              <a:ext uri="{FF2B5EF4-FFF2-40B4-BE49-F238E27FC236}">
                <a16:creationId xmlns:a16="http://schemas.microsoft.com/office/drawing/2014/main" id="{A514A018-6371-9D6A-973C-83728028B808}"/>
              </a:ext>
            </a:extLst>
          </p:cNvPr>
          <p:cNvGrpSpPr/>
          <p:nvPr/>
        </p:nvGrpSpPr>
        <p:grpSpPr>
          <a:xfrm>
            <a:off x="24258277" y="1688961"/>
            <a:ext cx="6936203" cy="1024350"/>
            <a:chOff x="0" y="0"/>
            <a:chExt cx="1826819" cy="269788"/>
          </a:xfrm>
        </p:grpSpPr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0D924A09-AE48-8CE8-119C-A8B960BC30CA}"/>
                </a:ext>
              </a:extLst>
            </p:cNvPr>
            <p:cNvSpPr/>
            <p:nvPr/>
          </p:nvSpPr>
          <p:spPr>
            <a:xfrm>
              <a:off x="0" y="0"/>
              <a:ext cx="1826819" cy="269788"/>
            </a:xfrm>
            <a:custGeom>
              <a:avLst/>
              <a:gdLst/>
              <a:ahLst/>
              <a:cxnLst/>
              <a:rect l="l" t="t" r="r" b="b"/>
              <a:pathLst>
                <a:path w="1826819" h="269788">
                  <a:moveTo>
                    <a:pt x="110500" y="0"/>
                  </a:moveTo>
                  <a:lnTo>
                    <a:pt x="1716319" y="0"/>
                  </a:lnTo>
                  <a:cubicBezTo>
                    <a:pt x="1777346" y="0"/>
                    <a:pt x="1826819" y="49473"/>
                    <a:pt x="1826819" y="110500"/>
                  </a:cubicBezTo>
                  <a:lnTo>
                    <a:pt x="1826819" y="159288"/>
                  </a:lnTo>
                  <a:cubicBezTo>
                    <a:pt x="1826819" y="220315"/>
                    <a:pt x="1777346" y="269788"/>
                    <a:pt x="1716319" y="269788"/>
                  </a:cubicBezTo>
                  <a:lnTo>
                    <a:pt x="110500" y="269788"/>
                  </a:lnTo>
                  <a:cubicBezTo>
                    <a:pt x="49473" y="269788"/>
                    <a:pt x="0" y="220315"/>
                    <a:pt x="0" y="159288"/>
                  </a:cubicBezTo>
                  <a:lnTo>
                    <a:pt x="0" y="110500"/>
                  </a:lnTo>
                  <a:cubicBezTo>
                    <a:pt x="0" y="49473"/>
                    <a:pt x="49473" y="0"/>
                    <a:pt x="110500" y="0"/>
                  </a:cubicBezTo>
                  <a:close/>
                </a:path>
              </a:pathLst>
            </a:custGeom>
            <a:solidFill>
              <a:srgbClr val="D9E4F5"/>
            </a:solidFill>
            <a:ln w="19050" cap="rnd">
              <a:solidFill>
                <a:srgbClr val="D9E4F5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3">
              <a:extLst>
                <a:ext uri="{FF2B5EF4-FFF2-40B4-BE49-F238E27FC236}">
                  <a16:creationId xmlns:a16="http://schemas.microsoft.com/office/drawing/2014/main" id="{28A1D01F-2221-42C7-329B-6E954818532F}"/>
                </a:ext>
              </a:extLst>
            </p:cNvPr>
            <p:cNvSpPr txBox="1"/>
            <p:nvPr/>
          </p:nvSpPr>
          <p:spPr>
            <a:xfrm>
              <a:off x="0" y="-38100"/>
              <a:ext cx="1826819" cy="3078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4">
            <a:extLst>
              <a:ext uri="{FF2B5EF4-FFF2-40B4-BE49-F238E27FC236}">
                <a16:creationId xmlns:a16="http://schemas.microsoft.com/office/drawing/2014/main" id="{1B247004-2BA7-ECDD-357F-5B3B37A11006}"/>
              </a:ext>
            </a:extLst>
          </p:cNvPr>
          <p:cNvGrpSpPr/>
          <p:nvPr/>
        </p:nvGrpSpPr>
        <p:grpSpPr>
          <a:xfrm>
            <a:off x="23388016" y="3167164"/>
            <a:ext cx="6936203" cy="1024350"/>
            <a:chOff x="0" y="0"/>
            <a:chExt cx="1826819" cy="269788"/>
          </a:xfrm>
        </p:grpSpPr>
        <p:sp>
          <p:nvSpPr>
            <p:cNvPr id="22" name="Freeform 25">
              <a:extLst>
                <a:ext uri="{FF2B5EF4-FFF2-40B4-BE49-F238E27FC236}">
                  <a16:creationId xmlns:a16="http://schemas.microsoft.com/office/drawing/2014/main" id="{B49FBCA5-301C-9888-9D79-4A1D1777701C}"/>
                </a:ext>
              </a:extLst>
            </p:cNvPr>
            <p:cNvSpPr/>
            <p:nvPr/>
          </p:nvSpPr>
          <p:spPr>
            <a:xfrm>
              <a:off x="0" y="0"/>
              <a:ext cx="1826819" cy="269788"/>
            </a:xfrm>
            <a:custGeom>
              <a:avLst/>
              <a:gdLst/>
              <a:ahLst/>
              <a:cxnLst/>
              <a:rect l="l" t="t" r="r" b="b"/>
              <a:pathLst>
                <a:path w="1826819" h="269788">
                  <a:moveTo>
                    <a:pt x="110500" y="0"/>
                  </a:moveTo>
                  <a:lnTo>
                    <a:pt x="1716319" y="0"/>
                  </a:lnTo>
                  <a:cubicBezTo>
                    <a:pt x="1777346" y="0"/>
                    <a:pt x="1826819" y="49473"/>
                    <a:pt x="1826819" y="110500"/>
                  </a:cubicBezTo>
                  <a:lnTo>
                    <a:pt x="1826819" y="159288"/>
                  </a:lnTo>
                  <a:cubicBezTo>
                    <a:pt x="1826819" y="220315"/>
                    <a:pt x="1777346" y="269788"/>
                    <a:pt x="1716319" y="269788"/>
                  </a:cubicBezTo>
                  <a:lnTo>
                    <a:pt x="110500" y="269788"/>
                  </a:lnTo>
                  <a:cubicBezTo>
                    <a:pt x="49473" y="269788"/>
                    <a:pt x="0" y="220315"/>
                    <a:pt x="0" y="159288"/>
                  </a:cubicBezTo>
                  <a:lnTo>
                    <a:pt x="0" y="110500"/>
                  </a:lnTo>
                  <a:cubicBezTo>
                    <a:pt x="0" y="49473"/>
                    <a:pt x="49473" y="0"/>
                    <a:pt x="110500" y="0"/>
                  </a:cubicBezTo>
                  <a:close/>
                </a:path>
              </a:pathLst>
            </a:custGeom>
            <a:solidFill>
              <a:srgbClr val="D9E4F5"/>
            </a:solidFill>
            <a:ln w="19050" cap="rnd">
              <a:solidFill>
                <a:srgbClr val="D9E4F5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6">
              <a:extLst>
                <a:ext uri="{FF2B5EF4-FFF2-40B4-BE49-F238E27FC236}">
                  <a16:creationId xmlns:a16="http://schemas.microsoft.com/office/drawing/2014/main" id="{AAF9B3D6-0BF2-4935-E18E-54D367D087ED}"/>
                </a:ext>
              </a:extLst>
            </p:cNvPr>
            <p:cNvSpPr txBox="1"/>
            <p:nvPr/>
          </p:nvSpPr>
          <p:spPr>
            <a:xfrm>
              <a:off x="0" y="-38100"/>
              <a:ext cx="1826819" cy="3078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7">
            <a:extLst>
              <a:ext uri="{FF2B5EF4-FFF2-40B4-BE49-F238E27FC236}">
                <a16:creationId xmlns:a16="http://schemas.microsoft.com/office/drawing/2014/main" id="{42F5D961-2374-6807-740C-58F8602AF664}"/>
              </a:ext>
            </a:extLst>
          </p:cNvPr>
          <p:cNvGrpSpPr/>
          <p:nvPr/>
        </p:nvGrpSpPr>
        <p:grpSpPr>
          <a:xfrm>
            <a:off x="21043703" y="4721131"/>
            <a:ext cx="6936203" cy="1024350"/>
            <a:chOff x="0" y="0"/>
            <a:chExt cx="1826819" cy="269788"/>
          </a:xfrm>
        </p:grpSpPr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CD95A3B2-EAC0-8D04-1ED4-31DE984FC2B9}"/>
                </a:ext>
              </a:extLst>
            </p:cNvPr>
            <p:cNvSpPr/>
            <p:nvPr/>
          </p:nvSpPr>
          <p:spPr>
            <a:xfrm>
              <a:off x="0" y="0"/>
              <a:ext cx="1826819" cy="269788"/>
            </a:xfrm>
            <a:custGeom>
              <a:avLst/>
              <a:gdLst/>
              <a:ahLst/>
              <a:cxnLst/>
              <a:rect l="l" t="t" r="r" b="b"/>
              <a:pathLst>
                <a:path w="1826819" h="269788">
                  <a:moveTo>
                    <a:pt x="110500" y="0"/>
                  </a:moveTo>
                  <a:lnTo>
                    <a:pt x="1716319" y="0"/>
                  </a:lnTo>
                  <a:cubicBezTo>
                    <a:pt x="1777346" y="0"/>
                    <a:pt x="1826819" y="49473"/>
                    <a:pt x="1826819" y="110500"/>
                  </a:cubicBezTo>
                  <a:lnTo>
                    <a:pt x="1826819" y="159288"/>
                  </a:lnTo>
                  <a:cubicBezTo>
                    <a:pt x="1826819" y="220315"/>
                    <a:pt x="1777346" y="269788"/>
                    <a:pt x="1716319" y="269788"/>
                  </a:cubicBezTo>
                  <a:lnTo>
                    <a:pt x="110500" y="269788"/>
                  </a:lnTo>
                  <a:cubicBezTo>
                    <a:pt x="49473" y="269788"/>
                    <a:pt x="0" y="220315"/>
                    <a:pt x="0" y="159288"/>
                  </a:cubicBezTo>
                  <a:lnTo>
                    <a:pt x="0" y="110500"/>
                  </a:lnTo>
                  <a:cubicBezTo>
                    <a:pt x="0" y="49473"/>
                    <a:pt x="49473" y="0"/>
                    <a:pt x="110500" y="0"/>
                  </a:cubicBezTo>
                  <a:close/>
                </a:path>
              </a:pathLst>
            </a:custGeom>
            <a:solidFill>
              <a:srgbClr val="D9E4F5"/>
            </a:solidFill>
            <a:ln w="19050" cap="rnd">
              <a:solidFill>
                <a:srgbClr val="D9E4F5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TextBox 29">
              <a:extLst>
                <a:ext uri="{FF2B5EF4-FFF2-40B4-BE49-F238E27FC236}">
                  <a16:creationId xmlns:a16="http://schemas.microsoft.com/office/drawing/2014/main" id="{497B87C0-C65B-4CFF-41B6-E71AF38D30FA}"/>
                </a:ext>
              </a:extLst>
            </p:cNvPr>
            <p:cNvSpPr txBox="1"/>
            <p:nvPr/>
          </p:nvSpPr>
          <p:spPr>
            <a:xfrm>
              <a:off x="0" y="-38100"/>
              <a:ext cx="1826819" cy="3078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30">
            <a:extLst>
              <a:ext uri="{FF2B5EF4-FFF2-40B4-BE49-F238E27FC236}">
                <a16:creationId xmlns:a16="http://schemas.microsoft.com/office/drawing/2014/main" id="{28A206C1-B57C-E936-B07F-25991F81F329}"/>
              </a:ext>
            </a:extLst>
          </p:cNvPr>
          <p:cNvGrpSpPr/>
          <p:nvPr/>
        </p:nvGrpSpPr>
        <p:grpSpPr>
          <a:xfrm>
            <a:off x="23388016" y="6245203"/>
            <a:ext cx="6936203" cy="1024350"/>
            <a:chOff x="0" y="0"/>
            <a:chExt cx="1826819" cy="269788"/>
          </a:xfrm>
        </p:grpSpPr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341FBFC8-B657-8BCF-C0DF-ED46C4755F53}"/>
                </a:ext>
              </a:extLst>
            </p:cNvPr>
            <p:cNvSpPr/>
            <p:nvPr/>
          </p:nvSpPr>
          <p:spPr>
            <a:xfrm>
              <a:off x="0" y="0"/>
              <a:ext cx="1826819" cy="269788"/>
            </a:xfrm>
            <a:custGeom>
              <a:avLst/>
              <a:gdLst/>
              <a:ahLst/>
              <a:cxnLst/>
              <a:rect l="l" t="t" r="r" b="b"/>
              <a:pathLst>
                <a:path w="1826819" h="269788">
                  <a:moveTo>
                    <a:pt x="110500" y="0"/>
                  </a:moveTo>
                  <a:lnTo>
                    <a:pt x="1716319" y="0"/>
                  </a:lnTo>
                  <a:cubicBezTo>
                    <a:pt x="1777346" y="0"/>
                    <a:pt x="1826819" y="49473"/>
                    <a:pt x="1826819" y="110500"/>
                  </a:cubicBezTo>
                  <a:lnTo>
                    <a:pt x="1826819" y="159288"/>
                  </a:lnTo>
                  <a:cubicBezTo>
                    <a:pt x="1826819" y="220315"/>
                    <a:pt x="1777346" y="269788"/>
                    <a:pt x="1716319" y="269788"/>
                  </a:cubicBezTo>
                  <a:lnTo>
                    <a:pt x="110500" y="269788"/>
                  </a:lnTo>
                  <a:cubicBezTo>
                    <a:pt x="49473" y="269788"/>
                    <a:pt x="0" y="220315"/>
                    <a:pt x="0" y="159288"/>
                  </a:cubicBezTo>
                  <a:lnTo>
                    <a:pt x="0" y="110500"/>
                  </a:lnTo>
                  <a:cubicBezTo>
                    <a:pt x="0" y="49473"/>
                    <a:pt x="49473" y="0"/>
                    <a:pt x="110500" y="0"/>
                  </a:cubicBezTo>
                  <a:close/>
                </a:path>
              </a:pathLst>
            </a:custGeom>
            <a:solidFill>
              <a:srgbClr val="D9E4F5"/>
            </a:solidFill>
            <a:ln w="19050" cap="rnd">
              <a:solidFill>
                <a:srgbClr val="D9E4F5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32">
              <a:extLst>
                <a:ext uri="{FF2B5EF4-FFF2-40B4-BE49-F238E27FC236}">
                  <a16:creationId xmlns:a16="http://schemas.microsoft.com/office/drawing/2014/main" id="{317991AA-74A2-2CDE-C1FF-F1461AB52761}"/>
                </a:ext>
              </a:extLst>
            </p:cNvPr>
            <p:cNvSpPr txBox="1"/>
            <p:nvPr/>
          </p:nvSpPr>
          <p:spPr>
            <a:xfrm>
              <a:off x="0" y="-38100"/>
              <a:ext cx="1826819" cy="3078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3">
            <a:extLst>
              <a:ext uri="{FF2B5EF4-FFF2-40B4-BE49-F238E27FC236}">
                <a16:creationId xmlns:a16="http://schemas.microsoft.com/office/drawing/2014/main" id="{08575E77-2302-AE1E-29DC-5A5895C81972}"/>
              </a:ext>
            </a:extLst>
          </p:cNvPr>
          <p:cNvGrpSpPr/>
          <p:nvPr/>
        </p:nvGrpSpPr>
        <p:grpSpPr>
          <a:xfrm>
            <a:off x="24090638" y="7986215"/>
            <a:ext cx="6936203" cy="1024350"/>
            <a:chOff x="0" y="0"/>
            <a:chExt cx="1826819" cy="269788"/>
          </a:xfrm>
        </p:grpSpPr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15A3F7BE-E80A-748B-E3CB-FDD28CAF0743}"/>
                </a:ext>
              </a:extLst>
            </p:cNvPr>
            <p:cNvSpPr/>
            <p:nvPr/>
          </p:nvSpPr>
          <p:spPr>
            <a:xfrm>
              <a:off x="0" y="0"/>
              <a:ext cx="1826819" cy="269788"/>
            </a:xfrm>
            <a:custGeom>
              <a:avLst/>
              <a:gdLst/>
              <a:ahLst/>
              <a:cxnLst/>
              <a:rect l="l" t="t" r="r" b="b"/>
              <a:pathLst>
                <a:path w="1826819" h="269788">
                  <a:moveTo>
                    <a:pt x="110500" y="0"/>
                  </a:moveTo>
                  <a:lnTo>
                    <a:pt x="1716319" y="0"/>
                  </a:lnTo>
                  <a:cubicBezTo>
                    <a:pt x="1777346" y="0"/>
                    <a:pt x="1826819" y="49473"/>
                    <a:pt x="1826819" y="110500"/>
                  </a:cubicBezTo>
                  <a:lnTo>
                    <a:pt x="1826819" y="159288"/>
                  </a:lnTo>
                  <a:cubicBezTo>
                    <a:pt x="1826819" y="220315"/>
                    <a:pt x="1777346" y="269788"/>
                    <a:pt x="1716319" y="269788"/>
                  </a:cubicBezTo>
                  <a:lnTo>
                    <a:pt x="110500" y="269788"/>
                  </a:lnTo>
                  <a:cubicBezTo>
                    <a:pt x="49473" y="269788"/>
                    <a:pt x="0" y="220315"/>
                    <a:pt x="0" y="159288"/>
                  </a:cubicBezTo>
                  <a:lnTo>
                    <a:pt x="0" y="110500"/>
                  </a:lnTo>
                  <a:cubicBezTo>
                    <a:pt x="0" y="49473"/>
                    <a:pt x="49473" y="0"/>
                    <a:pt x="110500" y="0"/>
                  </a:cubicBezTo>
                  <a:close/>
                </a:path>
              </a:pathLst>
            </a:custGeom>
            <a:solidFill>
              <a:srgbClr val="D9E4F5"/>
            </a:solidFill>
            <a:ln w="19050" cap="rnd">
              <a:solidFill>
                <a:srgbClr val="D9E4F5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35">
              <a:extLst>
                <a:ext uri="{FF2B5EF4-FFF2-40B4-BE49-F238E27FC236}">
                  <a16:creationId xmlns:a16="http://schemas.microsoft.com/office/drawing/2014/main" id="{F19A1423-A901-8202-0E27-81D82A967965}"/>
                </a:ext>
              </a:extLst>
            </p:cNvPr>
            <p:cNvSpPr txBox="1"/>
            <p:nvPr/>
          </p:nvSpPr>
          <p:spPr>
            <a:xfrm>
              <a:off x="0" y="-38100"/>
              <a:ext cx="1826819" cy="3078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Freeform 36">
            <a:extLst>
              <a:ext uri="{FF2B5EF4-FFF2-40B4-BE49-F238E27FC236}">
                <a16:creationId xmlns:a16="http://schemas.microsoft.com/office/drawing/2014/main" id="{565686FF-A433-9639-E032-BD24BDE23787}"/>
              </a:ext>
            </a:extLst>
          </p:cNvPr>
          <p:cNvSpPr/>
          <p:nvPr/>
        </p:nvSpPr>
        <p:spPr>
          <a:xfrm>
            <a:off x="30206602" y="1788610"/>
            <a:ext cx="826086" cy="825053"/>
          </a:xfrm>
          <a:custGeom>
            <a:avLst/>
            <a:gdLst/>
            <a:ahLst/>
            <a:cxnLst/>
            <a:rect l="l" t="t" r="r" b="b"/>
            <a:pathLst>
              <a:path w="826086" h="825053">
                <a:moveTo>
                  <a:pt x="0" y="0"/>
                </a:moveTo>
                <a:lnTo>
                  <a:pt x="826086" y="0"/>
                </a:lnTo>
                <a:lnTo>
                  <a:pt x="826086" y="825053"/>
                </a:lnTo>
                <a:lnTo>
                  <a:pt x="0" y="8250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4" name="Freeform 37">
            <a:extLst>
              <a:ext uri="{FF2B5EF4-FFF2-40B4-BE49-F238E27FC236}">
                <a16:creationId xmlns:a16="http://schemas.microsoft.com/office/drawing/2014/main" id="{861D1512-E4F2-F037-5727-54BD2A00594A}"/>
              </a:ext>
            </a:extLst>
          </p:cNvPr>
          <p:cNvSpPr/>
          <p:nvPr/>
        </p:nvSpPr>
        <p:spPr>
          <a:xfrm>
            <a:off x="29345287" y="3266812"/>
            <a:ext cx="826086" cy="825053"/>
          </a:xfrm>
          <a:custGeom>
            <a:avLst/>
            <a:gdLst/>
            <a:ahLst/>
            <a:cxnLst/>
            <a:rect l="l" t="t" r="r" b="b"/>
            <a:pathLst>
              <a:path w="826086" h="825053">
                <a:moveTo>
                  <a:pt x="0" y="0"/>
                </a:moveTo>
                <a:lnTo>
                  <a:pt x="826085" y="0"/>
                </a:lnTo>
                <a:lnTo>
                  <a:pt x="826085" y="825054"/>
                </a:lnTo>
                <a:lnTo>
                  <a:pt x="0" y="8250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5" name="Freeform 38">
            <a:extLst>
              <a:ext uri="{FF2B5EF4-FFF2-40B4-BE49-F238E27FC236}">
                <a16:creationId xmlns:a16="http://schemas.microsoft.com/office/drawing/2014/main" id="{A671487F-24E0-D0E6-0F35-0015609C45DC}"/>
              </a:ext>
            </a:extLst>
          </p:cNvPr>
          <p:cNvSpPr/>
          <p:nvPr/>
        </p:nvSpPr>
        <p:spPr>
          <a:xfrm>
            <a:off x="27012226" y="4820779"/>
            <a:ext cx="826086" cy="825053"/>
          </a:xfrm>
          <a:custGeom>
            <a:avLst/>
            <a:gdLst/>
            <a:ahLst/>
            <a:cxnLst/>
            <a:rect l="l" t="t" r="r" b="b"/>
            <a:pathLst>
              <a:path w="826086" h="825053">
                <a:moveTo>
                  <a:pt x="0" y="0"/>
                </a:moveTo>
                <a:lnTo>
                  <a:pt x="826086" y="0"/>
                </a:lnTo>
                <a:lnTo>
                  <a:pt x="826086" y="825053"/>
                </a:lnTo>
                <a:lnTo>
                  <a:pt x="0" y="8250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6" name="Freeform 39">
            <a:extLst>
              <a:ext uri="{FF2B5EF4-FFF2-40B4-BE49-F238E27FC236}">
                <a16:creationId xmlns:a16="http://schemas.microsoft.com/office/drawing/2014/main" id="{14869909-0EAF-02A7-F770-BF48BA7FF01F}"/>
              </a:ext>
            </a:extLst>
          </p:cNvPr>
          <p:cNvSpPr/>
          <p:nvPr/>
        </p:nvSpPr>
        <p:spPr>
          <a:xfrm>
            <a:off x="29366575" y="6344851"/>
            <a:ext cx="826086" cy="825053"/>
          </a:xfrm>
          <a:custGeom>
            <a:avLst/>
            <a:gdLst/>
            <a:ahLst/>
            <a:cxnLst/>
            <a:rect l="l" t="t" r="r" b="b"/>
            <a:pathLst>
              <a:path w="826086" h="825053">
                <a:moveTo>
                  <a:pt x="0" y="0"/>
                </a:moveTo>
                <a:lnTo>
                  <a:pt x="826086" y="0"/>
                </a:lnTo>
                <a:lnTo>
                  <a:pt x="826086" y="825053"/>
                </a:lnTo>
                <a:lnTo>
                  <a:pt x="0" y="8250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7" name="Freeform 40">
            <a:extLst>
              <a:ext uri="{FF2B5EF4-FFF2-40B4-BE49-F238E27FC236}">
                <a16:creationId xmlns:a16="http://schemas.microsoft.com/office/drawing/2014/main" id="{78397594-0400-790F-3501-8C32871FE717}"/>
              </a:ext>
            </a:extLst>
          </p:cNvPr>
          <p:cNvSpPr/>
          <p:nvPr/>
        </p:nvSpPr>
        <p:spPr>
          <a:xfrm>
            <a:off x="30067538" y="8085863"/>
            <a:ext cx="826086" cy="825053"/>
          </a:xfrm>
          <a:custGeom>
            <a:avLst/>
            <a:gdLst/>
            <a:ahLst/>
            <a:cxnLst/>
            <a:rect l="l" t="t" r="r" b="b"/>
            <a:pathLst>
              <a:path w="826086" h="825053">
                <a:moveTo>
                  <a:pt x="0" y="0"/>
                </a:moveTo>
                <a:lnTo>
                  <a:pt x="826086" y="0"/>
                </a:lnTo>
                <a:lnTo>
                  <a:pt x="826086" y="825053"/>
                </a:lnTo>
                <a:lnTo>
                  <a:pt x="0" y="8250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8" name="Freeform 41">
            <a:extLst>
              <a:ext uri="{FF2B5EF4-FFF2-40B4-BE49-F238E27FC236}">
                <a16:creationId xmlns:a16="http://schemas.microsoft.com/office/drawing/2014/main" id="{8714D004-DA8A-4B6B-03A7-45FC421DE5DD}"/>
              </a:ext>
            </a:extLst>
          </p:cNvPr>
          <p:cNvSpPr/>
          <p:nvPr/>
        </p:nvSpPr>
        <p:spPr>
          <a:xfrm>
            <a:off x="30324219" y="1931092"/>
            <a:ext cx="590852" cy="590852"/>
          </a:xfrm>
          <a:custGeom>
            <a:avLst/>
            <a:gdLst/>
            <a:ahLst/>
            <a:cxnLst/>
            <a:rect l="l" t="t" r="r" b="b"/>
            <a:pathLst>
              <a:path w="590852" h="590852">
                <a:moveTo>
                  <a:pt x="0" y="0"/>
                </a:moveTo>
                <a:lnTo>
                  <a:pt x="590852" y="0"/>
                </a:lnTo>
                <a:lnTo>
                  <a:pt x="590852" y="590852"/>
                </a:lnTo>
                <a:lnTo>
                  <a:pt x="0" y="5908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9" name="Freeform 42">
            <a:extLst>
              <a:ext uri="{FF2B5EF4-FFF2-40B4-BE49-F238E27FC236}">
                <a16:creationId xmlns:a16="http://schemas.microsoft.com/office/drawing/2014/main" id="{032D7FE2-64CE-7CB5-D1DD-9D6FAB93FA25}"/>
              </a:ext>
            </a:extLst>
          </p:cNvPr>
          <p:cNvSpPr/>
          <p:nvPr/>
        </p:nvSpPr>
        <p:spPr>
          <a:xfrm>
            <a:off x="30276309" y="8211703"/>
            <a:ext cx="471123" cy="546230"/>
          </a:xfrm>
          <a:custGeom>
            <a:avLst/>
            <a:gdLst/>
            <a:ahLst/>
            <a:cxnLst/>
            <a:rect l="l" t="t" r="r" b="b"/>
            <a:pathLst>
              <a:path w="471123" h="546230">
                <a:moveTo>
                  <a:pt x="0" y="0"/>
                </a:moveTo>
                <a:lnTo>
                  <a:pt x="471123" y="0"/>
                </a:lnTo>
                <a:lnTo>
                  <a:pt x="471123" y="546229"/>
                </a:lnTo>
                <a:lnTo>
                  <a:pt x="0" y="5462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0" name="Freeform 43">
            <a:extLst>
              <a:ext uri="{FF2B5EF4-FFF2-40B4-BE49-F238E27FC236}">
                <a16:creationId xmlns:a16="http://schemas.microsoft.com/office/drawing/2014/main" id="{C339B8F8-D05B-F84A-C16D-7AF688A095E2}"/>
              </a:ext>
            </a:extLst>
          </p:cNvPr>
          <p:cNvSpPr/>
          <p:nvPr/>
        </p:nvSpPr>
        <p:spPr>
          <a:xfrm>
            <a:off x="29442775" y="3367803"/>
            <a:ext cx="608279" cy="661173"/>
          </a:xfrm>
          <a:custGeom>
            <a:avLst/>
            <a:gdLst/>
            <a:ahLst/>
            <a:cxnLst/>
            <a:rect l="l" t="t" r="r" b="b"/>
            <a:pathLst>
              <a:path w="608279" h="661173">
                <a:moveTo>
                  <a:pt x="0" y="0"/>
                </a:moveTo>
                <a:lnTo>
                  <a:pt x="608279" y="0"/>
                </a:lnTo>
                <a:lnTo>
                  <a:pt x="608279" y="661172"/>
                </a:lnTo>
                <a:lnTo>
                  <a:pt x="0" y="6611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1" name="Freeform 44">
            <a:extLst>
              <a:ext uri="{FF2B5EF4-FFF2-40B4-BE49-F238E27FC236}">
                <a16:creationId xmlns:a16="http://schemas.microsoft.com/office/drawing/2014/main" id="{A5841158-2B79-53B2-A507-59FB1D0D260B}"/>
              </a:ext>
            </a:extLst>
          </p:cNvPr>
          <p:cNvSpPr/>
          <p:nvPr/>
        </p:nvSpPr>
        <p:spPr>
          <a:xfrm>
            <a:off x="29528500" y="6466692"/>
            <a:ext cx="522554" cy="522554"/>
          </a:xfrm>
          <a:custGeom>
            <a:avLst/>
            <a:gdLst/>
            <a:ahLst/>
            <a:cxnLst/>
            <a:rect l="l" t="t" r="r" b="b"/>
            <a:pathLst>
              <a:path w="522554" h="522554">
                <a:moveTo>
                  <a:pt x="0" y="0"/>
                </a:moveTo>
                <a:lnTo>
                  <a:pt x="522554" y="0"/>
                </a:lnTo>
                <a:lnTo>
                  <a:pt x="522554" y="522554"/>
                </a:lnTo>
                <a:lnTo>
                  <a:pt x="0" y="5225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2" name="Freeform 45">
            <a:extLst>
              <a:ext uri="{FF2B5EF4-FFF2-40B4-BE49-F238E27FC236}">
                <a16:creationId xmlns:a16="http://schemas.microsoft.com/office/drawing/2014/main" id="{1F9DD723-B702-4D27-6D36-CB95B5A73D52}"/>
              </a:ext>
            </a:extLst>
          </p:cNvPr>
          <p:cNvSpPr/>
          <p:nvPr/>
        </p:nvSpPr>
        <p:spPr>
          <a:xfrm>
            <a:off x="27124159" y="4957424"/>
            <a:ext cx="602220" cy="555548"/>
          </a:xfrm>
          <a:custGeom>
            <a:avLst/>
            <a:gdLst/>
            <a:ahLst/>
            <a:cxnLst/>
            <a:rect l="l" t="t" r="r" b="b"/>
            <a:pathLst>
              <a:path w="602220" h="555548">
                <a:moveTo>
                  <a:pt x="0" y="0"/>
                </a:moveTo>
                <a:lnTo>
                  <a:pt x="602220" y="0"/>
                </a:lnTo>
                <a:lnTo>
                  <a:pt x="602220" y="555548"/>
                </a:lnTo>
                <a:lnTo>
                  <a:pt x="0" y="55554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3" name="TextBox 47">
            <a:extLst>
              <a:ext uri="{FF2B5EF4-FFF2-40B4-BE49-F238E27FC236}">
                <a16:creationId xmlns:a16="http://schemas.microsoft.com/office/drawing/2014/main" id="{11D05443-151E-E9F6-666C-158DAAF9A340}"/>
              </a:ext>
            </a:extLst>
          </p:cNvPr>
          <p:cNvSpPr txBox="1"/>
          <p:nvPr/>
        </p:nvSpPr>
        <p:spPr>
          <a:xfrm>
            <a:off x="26147142" y="1935507"/>
            <a:ext cx="3809359" cy="47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879"/>
              </a:lnSpc>
              <a:spcBef>
                <a:spcPct val="0"/>
              </a:spcBef>
            </a:pPr>
            <a:r>
              <a:rPr lang="en-US" sz="2771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Introduction</a:t>
            </a:r>
          </a:p>
        </p:txBody>
      </p:sp>
      <p:sp>
        <p:nvSpPr>
          <p:cNvPr id="44" name="TextBox 48">
            <a:extLst>
              <a:ext uri="{FF2B5EF4-FFF2-40B4-BE49-F238E27FC236}">
                <a16:creationId xmlns:a16="http://schemas.microsoft.com/office/drawing/2014/main" id="{9C3BD098-37F3-8D3D-5D1D-6C08F1838DC1}"/>
              </a:ext>
            </a:extLst>
          </p:cNvPr>
          <p:cNvSpPr txBox="1"/>
          <p:nvPr/>
        </p:nvSpPr>
        <p:spPr>
          <a:xfrm>
            <a:off x="24090638" y="3365585"/>
            <a:ext cx="5047337" cy="47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879"/>
              </a:lnSpc>
              <a:spcBef>
                <a:spcPct val="0"/>
              </a:spcBef>
            </a:pPr>
            <a:r>
              <a:rPr lang="en-US" sz="2771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Contexte Général</a:t>
            </a:r>
          </a:p>
        </p:txBody>
      </p:sp>
      <p:sp>
        <p:nvSpPr>
          <p:cNvPr id="45" name="TextBox 49">
            <a:extLst>
              <a:ext uri="{FF2B5EF4-FFF2-40B4-BE49-F238E27FC236}">
                <a16:creationId xmlns:a16="http://schemas.microsoft.com/office/drawing/2014/main" id="{898E3C35-E383-BF1E-EB16-9EA1BE158E3D}"/>
              </a:ext>
            </a:extLst>
          </p:cNvPr>
          <p:cNvSpPr txBox="1"/>
          <p:nvPr/>
        </p:nvSpPr>
        <p:spPr>
          <a:xfrm>
            <a:off x="23052259" y="4960100"/>
            <a:ext cx="3809359" cy="47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879"/>
              </a:lnSpc>
              <a:spcBef>
                <a:spcPct val="0"/>
              </a:spcBef>
            </a:pPr>
            <a:r>
              <a:rPr lang="en-US" sz="2771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Analyse &amp; Conception</a:t>
            </a:r>
          </a:p>
        </p:txBody>
      </p:sp>
      <p:sp>
        <p:nvSpPr>
          <p:cNvPr id="46" name="TextBox 50">
            <a:extLst>
              <a:ext uri="{FF2B5EF4-FFF2-40B4-BE49-F238E27FC236}">
                <a16:creationId xmlns:a16="http://schemas.microsoft.com/office/drawing/2014/main" id="{D3B2B029-9FF6-5514-6D90-F217F80E0ACA}"/>
              </a:ext>
            </a:extLst>
          </p:cNvPr>
          <p:cNvSpPr txBox="1"/>
          <p:nvPr/>
        </p:nvSpPr>
        <p:spPr>
          <a:xfrm>
            <a:off x="24090638" y="6492533"/>
            <a:ext cx="5047337" cy="47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879"/>
              </a:lnSpc>
              <a:spcBef>
                <a:spcPct val="0"/>
              </a:spcBef>
            </a:pPr>
            <a:r>
              <a:rPr lang="en-US" sz="2771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Technologies &amp; Réalisation</a:t>
            </a:r>
          </a:p>
        </p:txBody>
      </p:sp>
      <p:sp>
        <p:nvSpPr>
          <p:cNvPr id="47" name="TextBox 51">
            <a:extLst>
              <a:ext uri="{FF2B5EF4-FFF2-40B4-BE49-F238E27FC236}">
                <a16:creationId xmlns:a16="http://schemas.microsoft.com/office/drawing/2014/main" id="{BFE8184D-CAA5-DF3C-E54E-020E926BA7BA}"/>
              </a:ext>
            </a:extLst>
          </p:cNvPr>
          <p:cNvSpPr txBox="1"/>
          <p:nvPr/>
        </p:nvSpPr>
        <p:spPr>
          <a:xfrm>
            <a:off x="26134354" y="8233545"/>
            <a:ext cx="3809359" cy="47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879"/>
              </a:lnSpc>
              <a:spcBef>
                <a:spcPct val="0"/>
              </a:spcBef>
            </a:pPr>
            <a:r>
              <a:rPr lang="en-US" sz="2771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Conclusion</a:t>
            </a:r>
          </a:p>
        </p:txBody>
      </p:sp>
      <p:sp>
        <p:nvSpPr>
          <p:cNvPr id="48" name="Freeform 2">
            <a:extLst>
              <a:ext uri="{FF2B5EF4-FFF2-40B4-BE49-F238E27FC236}">
                <a16:creationId xmlns:a16="http://schemas.microsoft.com/office/drawing/2014/main" id="{E57F82DA-5D6C-D781-900C-5516294CBEFE}"/>
              </a:ext>
            </a:extLst>
          </p:cNvPr>
          <p:cNvSpPr/>
          <p:nvPr/>
        </p:nvSpPr>
        <p:spPr>
          <a:xfrm>
            <a:off x="-9455909" y="2074210"/>
            <a:ext cx="6913955" cy="7365065"/>
          </a:xfrm>
          <a:custGeom>
            <a:avLst/>
            <a:gdLst/>
            <a:ahLst/>
            <a:cxnLst/>
            <a:rect l="l" t="t" r="r" b="b"/>
            <a:pathLst>
              <a:path w="6913955" h="7365065">
                <a:moveTo>
                  <a:pt x="0" y="0"/>
                </a:moveTo>
                <a:lnTo>
                  <a:pt x="6913955" y="0"/>
                </a:lnTo>
                <a:lnTo>
                  <a:pt x="6913955" y="7365065"/>
                </a:lnTo>
                <a:lnTo>
                  <a:pt x="0" y="736506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9" name="Group 3">
            <a:extLst>
              <a:ext uri="{FF2B5EF4-FFF2-40B4-BE49-F238E27FC236}">
                <a16:creationId xmlns:a16="http://schemas.microsoft.com/office/drawing/2014/main" id="{21B11984-68A3-6A10-2A3A-EE61CB998621}"/>
              </a:ext>
            </a:extLst>
          </p:cNvPr>
          <p:cNvGrpSpPr/>
          <p:nvPr/>
        </p:nvGrpSpPr>
        <p:grpSpPr>
          <a:xfrm>
            <a:off x="-9982200" y="1602628"/>
            <a:ext cx="8308229" cy="8308229"/>
            <a:chOff x="0" y="0"/>
            <a:chExt cx="812800" cy="812800"/>
          </a:xfrm>
        </p:grpSpPr>
        <p:sp>
          <p:nvSpPr>
            <p:cNvPr id="50" name="Freeform 4">
              <a:extLst>
                <a:ext uri="{FF2B5EF4-FFF2-40B4-BE49-F238E27FC236}">
                  <a16:creationId xmlns:a16="http://schemas.microsoft.com/office/drawing/2014/main" id="{C9045635-0458-E52E-3B66-40ACC19EEEA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4662"/>
              </a:solidFill>
              <a:prstDash val="solid"/>
              <a:miter/>
            </a:ln>
          </p:spPr>
          <p:txBody>
            <a:bodyPr/>
            <a:lstStyle/>
            <a:p>
              <a:endParaRPr lang="fr-FR">
                <a:solidFill>
                  <a:schemeClr val="tx2"/>
                </a:solidFill>
              </a:endParaRPr>
            </a:p>
          </p:txBody>
        </p:sp>
        <p:sp>
          <p:nvSpPr>
            <p:cNvPr id="51" name="TextBox 5">
              <a:extLst>
                <a:ext uri="{FF2B5EF4-FFF2-40B4-BE49-F238E27FC236}">
                  <a16:creationId xmlns:a16="http://schemas.microsoft.com/office/drawing/2014/main" id="{B6B7497F-3342-54AA-7647-AB9ABD6D26ED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52" name="Group 6">
            <a:extLst>
              <a:ext uri="{FF2B5EF4-FFF2-40B4-BE49-F238E27FC236}">
                <a16:creationId xmlns:a16="http://schemas.microsoft.com/office/drawing/2014/main" id="{BE49BBFC-0C9F-B5C9-93A9-28D4AFC87F0B}"/>
              </a:ext>
            </a:extLst>
          </p:cNvPr>
          <p:cNvGrpSpPr/>
          <p:nvPr/>
        </p:nvGrpSpPr>
        <p:grpSpPr>
          <a:xfrm>
            <a:off x="-3513398" y="2266335"/>
            <a:ext cx="475036" cy="475036"/>
            <a:chOff x="0" y="0"/>
            <a:chExt cx="812800" cy="812800"/>
          </a:xfrm>
        </p:grpSpPr>
        <p:sp>
          <p:nvSpPr>
            <p:cNvPr id="53" name="Freeform 7">
              <a:extLst>
                <a:ext uri="{FF2B5EF4-FFF2-40B4-BE49-F238E27FC236}">
                  <a16:creationId xmlns:a16="http://schemas.microsoft.com/office/drawing/2014/main" id="{63166953-BC7F-7F5F-A7E3-B7EBDFC876E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249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TextBox 8">
              <a:extLst>
                <a:ext uri="{FF2B5EF4-FFF2-40B4-BE49-F238E27FC236}">
                  <a16:creationId xmlns:a16="http://schemas.microsoft.com/office/drawing/2014/main" id="{D895BAC2-C029-2611-4A40-AD53234BE7BA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55" name="Group 9">
            <a:extLst>
              <a:ext uri="{FF2B5EF4-FFF2-40B4-BE49-F238E27FC236}">
                <a16:creationId xmlns:a16="http://schemas.microsoft.com/office/drawing/2014/main" id="{1D86E8EB-E3CA-1FF5-3A2F-8E40CDA0AA3A}"/>
              </a:ext>
            </a:extLst>
          </p:cNvPr>
          <p:cNvGrpSpPr/>
          <p:nvPr/>
        </p:nvGrpSpPr>
        <p:grpSpPr>
          <a:xfrm>
            <a:off x="-2344847" y="3795421"/>
            <a:ext cx="475036" cy="475036"/>
            <a:chOff x="0" y="0"/>
            <a:chExt cx="812800" cy="812800"/>
          </a:xfrm>
        </p:grpSpPr>
        <p:sp>
          <p:nvSpPr>
            <p:cNvPr id="56" name="Freeform 10">
              <a:extLst>
                <a:ext uri="{FF2B5EF4-FFF2-40B4-BE49-F238E27FC236}">
                  <a16:creationId xmlns:a16="http://schemas.microsoft.com/office/drawing/2014/main" id="{3914A040-0404-C334-2128-E865111C00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249F"/>
            </a:solidFill>
          </p:spPr>
          <p:txBody>
            <a:bodyPr/>
            <a:lstStyle/>
            <a:p>
              <a:endParaRPr lang="fr-FR">
                <a:solidFill>
                  <a:schemeClr val="tx2"/>
                </a:solidFill>
              </a:endParaRPr>
            </a:p>
          </p:txBody>
        </p:sp>
        <p:sp>
          <p:nvSpPr>
            <p:cNvPr id="57" name="TextBox 11">
              <a:extLst>
                <a:ext uri="{FF2B5EF4-FFF2-40B4-BE49-F238E27FC236}">
                  <a16:creationId xmlns:a16="http://schemas.microsoft.com/office/drawing/2014/main" id="{81301EEB-9B4A-0979-3448-9D7D428D05F0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58" name="Group 12">
            <a:extLst>
              <a:ext uri="{FF2B5EF4-FFF2-40B4-BE49-F238E27FC236}">
                <a16:creationId xmlns:a16="http://schemas.microsoft.com/office/drawing/2014/main" id="{D4C04950-2058-D414-B597-691F80364D5A}"/>
              </a:ext>
            </a:extLst>
          </p:cNvPr>
          <p:cNvGrpSpPr/>
          <p:nvPr/>
        </p:nvGrpSpPr>
        <p:grpSpPr>
          <a:xfrm>
            <a:off x="-1930539" y="5344810"/>
            <a:ext cx="475036" cy="475036"/>
            <a:chOff x="0" y="0"/>
            <a:chExt cx="812800" cy="812800"/>
          </a:xfrm>
        </p:grpSpPr>
        <p:sp>
          <p:nvSpPr>
            <p:cNvPr id="59" name="Freeform 13">
              <a:extLst>
                <a:ext uri="{FF2B5EF4-FFF2-40B4-BE49-F238E27FC236}">
                  <a16:creationId xmlns:a16="http://schemas.microsoft.com/office/drawing/2014/main" id="{226598A6-B75C-86BA-35F4-AE694353809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249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TextBox 14">
              <a:extLst>
                <a:ext uri="{FF2B5EF4-FFF2-40B4-BE49-F238E27FC236}">
                  <a16:creationId xmlns:a16="http://schemas.microsoft.com/office/drawing/2014/main" id="{2806BF20-4ACF-0E09-38A8-BCE6733D7009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61" name="Group 15">
            <a:extLst>
              <a:ext uri="{FF2B5EF4-FFF2-40B4-BE49-F238E27FC236}">
                <a16:creationId xmlns:a16="http://schemas.microsoft.com/office/drawing/2014/main" id="{334D6AD0-85DA-8D33-8DD6-79BDCE250BEF}"/>
              </a:ext>
            </a:extLst>
          </p:cNvPr>
          <p:cNvGrpSpPr/>
          <p:nvPr/>
        </p:nvGrpSpPr>
        <p:grpSpPr>
          <a:xfrm>
            <a:off x="-2149007" y="6924321"/>
            <a:ext cx="475036" cy="475036"/>
            <a:chOff x="0" y="0"/>
            <a:chExt cx="812800" cy="812800"/>
          </a:xfrm>
        </p:grpSpPr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F12EA626-1431-8894-518B-DEEC529064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249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TextBox 17">
              <a:extLst>
                <a:ext uri="{FF2B5EF4-FFF2-40B4-BE49-F238E27FC236}">
                  <a16:creationId xmlns:a16="http://schemas.microsoft.com/office/drawing/2014/main" id="{8E22649F-4F1F-E7D4-260B-3763A40F9907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64" name="Group 18">
            <a:extLst>
              <a:ext uri="{FF2B5EF4-FFF2-40B4-BE49-F238E27FC236}">
                <a16:creationId xmlns:a16="http://schemas.microsoft.com/office/drawing/2014/main" id="{15D722EA-BC1D-969A-2E65-431775FA2BD9}"/>
              </a:ext>
            </a:extLst>
          </p:cNvPr>
          <p:cNvGrpSpPr/>
          <p:nvPr/>
        </p:nvGrpSpPr>
        <p:grpSpPr>
          <a:xfrm>
            <a:off x="-3237780" y="8496311"/>
            <a:ext cx="475036" cy="475036"/>
            <a:chOff x="0" y="0"/>
            <a:chExt cx="812800" cy="812800"/>
          </a:xfrm>
        </p:grpSpPr>
        <p:sp>
          <p:nvSpPr>
            <p:cNvPr id="65" name="Freeform 19">
              <a:extLst>
                <a:ext uri="{FF2B5EF4-FFF2-40B4-BE49-F238E27FC236}">
                  <a16:creationId xmlns:a16="http://schemas.microsoft.com/office/drawing/2014/main" id="{F39F7B25-41C7-23A8-B8C8-707A641EB25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249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6" name="TextBox 20">
              <a:extLst>
                <a:ext uri="{FF2B5EF4-FFF2-40B4-BE49-F238E27FC236}">
                  <a16:creationId xmlns:a16="http://schemas.microsoft.com/office/drawing/2014/main" id="{566ECA92-E1E8-EDE1-2A04-0B214ACD8492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pic>
        <p:nvPicPr>
          <p:cNvPr id="1026" name="Picture 2" descr="CY Tech — Wikipédia">
            <a:extLst>
              <a:ext uri="{FF2B5EF4-FFF2-40B4-BE49-F238E27FC236}">
                <a16:creationId xmlns:a16="http://schemas.microsoft.com/office/drawing/2014/main" id="{386A782E-F5FD-46F1-B7A1-8023D3C0F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04" y="177459"/>
            <a:ext cx="295275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39187" y="2074210"/>
            <a:ext cx="6913955" cy="7365065"/>
          </a:xfrm>
          <a:custGeom>
            <a:avLst/>
            <a:gdLst/>
            <a:ahLst/>
            <a:cxnLst/>
            <a:rect l="l" t="t" r="r" b="b"/>
            <a:pathLst>
              <a:path w="6913955" h="7365065">
                <a:moveTo>
                  <a:pt x="0" y="0"/>
                </a:moveTo>
                <a:lnTo>
                  <a:pt x="6913955" y="0"/>
                </a:lnTo>
                <a:lnTo>
                  <a:pt x="6913955" y="7365065"/>
                </a:lnTo>
                <a:lnTo>
                  <a:pt x="0" y="73650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-4365478" y="1602628"/>
            <a:ext cx="8308229" cy="830822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4662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03324" y="2266335"/>
            <a:ext cx="475036" cy="47503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249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271875" y="3795421"/>
            <a:ext cx="475036" cy="47503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249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686183" y="5344810"/>
            <a:ext cx="475036" cy="47503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249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467715" y="6924321"/>
            <a:ext cx="475036" cy="47503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249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378942" y="8496311"/>
            <a:ext cx="475036" cy="47503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249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252825" y="1924914"/>
            <a:ext cx="6936203" cy="1024350"/>
            <a:chOff x="0" y="0"/>
            <a:chExt cx="1826819" cy="2697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826819" cy="269788"/>
            </a:xfrm>
            <a:custGeom>
              <a:avLst/>
              <a:gdLst/>
              <a:ahLst/>
              <a:cxnLst/>
              <a:rect l="l" t="t" r="r" b="b"/>
              <a:pathLst>
                <a:path w="1826819" h="269788">
                  <a:moveTo>
                    <a:pt x="110500" y="0"/>
                  </a:moveTo>
                  <a:lnTo>
                    <a:pt x="1716319" y="0"/>
                  </a:lnTo>
                  <a:cubicBezTo>
                    <a:pt x="1777346" y="0"/>
                    <a:pt x="1826819" y="49473"/>
                    <a:pt x="1826819" y="110500"/>
                  </a:cubicBezTo>
                  <a:lnTo>
                    <a:pt x="1826819" y="159288"/>
                  </a:lnTo>
                  <a:cubicBezTo>
                    <a:pt x="1826819" y="220315"/>
                    <a:pt x="1777346" y="269788"/>
                    <a:pt x="1716319" y="269788"/>
                  </a:cubicBezTo>
                  <a:lnTo>
                    <a:pt x="110500" y="269788"/>
                  </a:lnTo>
                  <a:cubicBezTo>
                    <a:pt x="49473" y="269788"/>
                    <a:pt x="0" y="220315"/>
                    <a:pt x="0" y="159288"/>
                  </a:cubicBezTo>
                  <a:lnTo>
                    <a:pt x="0" y="110500"/>
                  </a:lnTo>
                  <a:cubicBezTo>
                    <a:pt x="0" y="49473"/>
                    <a:pt x="49473" y="0"/>
                    <a:pt x="110500" y="0"/>
                  </a:cubicBezTo>
                  <a:close/>
                </a:path>
              </a:pathLst>
            </a:custGeom>
            <a:solidFill>
              <a:srgbClr val="D9E4F5"/>
            </a:solidFill>
            <a:ln w="19050" cap="rnd">
              <a:solidFill>
                <a:srgbClr val="D9E4F5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826819" cy="3078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39068" y="3501714"/>
            <a:ext cx="6936203" cy="1024350"/>
            <a:chOff x="0" y="0"/>
            <a:chExt cx="1826819" cy="2697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26819" cy="269788"/>
            </a:xfrm>
            <a:custGeom>
              <a:avLst/>
              <a:gdLst/>
              <a:ahLst/>
              <a:cxnLst/>
              <a:rect l="l" t="t" r="r" b="b"/>
              <a:pathLst>
                <a:path w="1826819" h="269788">
                  <a:moveTo>
                    <a:pt x="110500" y="0"/>
                  </a:moveTo>
                  <a:lnTo>
                    <a:pt x="1716319" y="0"/>
                  </a:lnTo>
                  <a:cubicBezTo>
                    <a:pt x="1777346" y="0"/>
                    <a:pt x="1826819" y="49473"/>
                    <a:pt x="1826819" y="110500"/>
                  </a:cubicBezTo>
                  <a:lnTo>
                    <a:pt x="1826819" y="159288"/>
                  </a:lnTo>
                  <a:cubicBezTo>
                    <a:pt x="1826819" y="220315"/>
                    <a:pt x="1777346" y="269788"/>
                    <a:pt x="1716319" y="269788"/>
                  </a:cubicBezTo>
                  <a:lnTo>
                    <a:pt x="110500" y="269788"/>
                  </a:lnTo>
                  <a:cubicBezTo>
                    <a:pt x="49473" y="269788"/>
                    <a:pt x="0" y="220315"/>
                    <a:pt x="0" y="159288"/>
                  </a:cubicBezTo>
                  <a:lnTo>
                    <a:pt x="0" y="110500"/>
                  </a:lnTo>
                  <a:cubicBezTo>
                    <a:pt x="0" y="49473"/>
                    <a:pt x="49473" y="0"/>
                    <a:pt x="110500" y="0"/>
                  </a:cubicBezTo>
                  <a:close/>
                </a:path>
              </a:pathLst>
            </a:custGeom>
            <a:solidFill>
              <a:srgbClr val="D9E4F5"/>
            </a:solidFill>
            <a:ln w="19050" cap="rnd">
              <a:solidFill>
                <a:srgbClr val="D9E4F5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826819" cy="3078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425798" y="5078514"/>
            <a:ext cx="6936203" cy="1024350"/>
            <a:chOff x="0" y="0"/>
            <a:chExt cx="1826819" cy="2697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26819" cy="269788"/>
            </a:xfrm>
            <a:custGeom>
              <a:avLst/>
              <a:gdLst/>
              <a:ahLst/>
              <a:cxnLst/>
              <a:rect l="l" t="t" r="r" b="b"/>
              <a:pathLst>
                <a:path w="1826819" h="269788">
                  <a:moveTo>
                    <a:pt x="110500" y="0"/>
                  </a:moveTo>
                  <a:lnTo>
                    <a:pt x="1716319" y="0"/>
                  </a:lnTo>
                  <a:cubicBezTo>
                    <a:pt x="1777346" y="0"/>
                    <a:pt x="1826819" y="49473"/>
                    <a:pt x="1826819" y="110500"/>
                  </a:cubicBezTo>
                  <a:lnTo>
                    <a:pt x="1826819" y="159288"/>
                  </a:lnTo>
                  <a:cubicBezTo>
                    <a:pt x="1826819" y="220315"/>
                    <a:pt x="1777346" y="269788"/>
                    <a:pt x="1716319" y="269788"/>
                  </a:cubicBezTo>
                  <a:lnTo>
                    <a:pt x="110500" y="269788"/>
                  </a:lnTo>
                  <a:cubicBezTo>
                    <a:pt x="49473" y="269788"/>
                    <a:pt x="0" y="220315"/>
                    <a:pt x="0" y="159288"/>
                  </a:cubicBezTo>
                  <a:lnTo>
                    <a:pt x="0" y="110500"/>
                  </a:lnTo>
                  <a:cubicBezTo>
                    <a:pt x="0" y="49473"/>
                    <a:pt x="49473" y="0"/>
                    <a:pt x="110500" y="0"/>
                  </a:cubicBezTo>
                  <a:close/>
                </a:path>
              </a:pathLst>
            </a:custGeom>
            <a:solidFill>
              <a:srgbClr val="D9E4F5"/>
            </a:solidFill>
            <a:ln w="19050" cap="rnd">
              <a:solidFill>
                <a:srgbClr val="D9E4F5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826819" cy="3078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39068" y="6655314"/>
            <a:ext cx="6936203" cy="1024350"/>
            <a:chOff x="0" y="0"/>
            <a:chExt cx="1826819" cy="26978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826819" cy="269788"/>
            </a:xfrm>
            <a:custGeom>
              <a:avLst/>
              <a:gdLst/>
              <a:ahLst/>
              <a:cxnLst/>
              <a:rect l="l" t="t" r="r" b="b"/>
              <a:pathLst>
                <a:path w="1826819" h="269788">
                  <a:moveTo>
                    <a:pt x="110500" y="0"/>
                  </a:moveTo>
                  <a:lnTo>
                    <a:pt x="1716319" y="0"/>
                  </a:lnTo>
                  <a:cubicBezTo>
                    <a:pt x="1777346" y="0"/>
                    <a:pt x="1826819" y="49473"/>
                    <a:pt x="1826819" y="110500"/>
                  </a:cubicBezTo>
                  <a:lnTo>
                    <a:pt x="1826819" y="159288"/>
                  </a:lnTo>
                  <a:cubicBezTo>
                    <a:pt x="1826819" y="220315"/>
                    <a:pt x="1777346" y="269788"/>
                    <a:pt x="1716319" y="269788"/>
                  </a:cubicBezTo>
                  <a:lnTo>
                    <a:pt x="110500" y="269788"/>
                  </a:lnTo>
                  <a:cubicBezTo>
                    <a:pt x="49473" y="269788"/>
                    <a:pt x="0" y="220315"/>
                    <a:pt x="0" y="159288"/>
                  </a:cubicBezTo>
                  <a:lnTo>
                    <a:pt x="0" y="110500"/>
                  </a:lnTo>
                  <a:cubicBezTo>
                    <a:pt x="0" y="49473"/>
                    <a:pt x="49473" y="0"/>
                    <a:pt x="110500" y="0"/>
                  </a:cubicBezTo>
                  <a:close/>
                </a:path>
              </a:pathLst>
            </a:custGeom>
            <a:solidFill>
              <a:srgbClr val="D9E4F5"/>
            </a:solidFill>
            <a:ln w="19050" cap="rnd">
              <a:solidFill>
                <a:srgbClr val="D9E4F5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826819" cy="3078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252825" y="8235226"/>
            <a:ext cx="6936203" cy="1024350"/>
            <a:chOff x="0" y="0"/>
            <a:chExt cx="1826819" cy="26978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826819" cy="269788"/>
            </a:xfrm>
            <a:custGeom>
              <a:avLst/>
              <a:gdLst/>
              <a:ahLst/>
              <a:cxnLst/>
              <a:rect l="l" t="t" r="r" b="b"/>
              <a:pathLst>
                <a:path w="1826819" h="269788">
                  <a:moveTo>
                    <a:pt x="110500" y="0"/>
                  </a:moveTo>
                  <a:lnTo>
                    <a:pt x="1716319" y="0"/>
                  </a:lnTo>
                  <a:cubicBezTo>
                    <a:pt x="1777346" y="0"/>
                    <a:pt x="1826819" y="49473"/>
                    <a:pt x="1826819" y="110500"/>
                  </a:cubicBezTo>
                  <a:lnTo>
                    <a:pt x="1826819" y="159288"/>
                  </a:lnTo>
                  <a:cubicBezTo>
                    <a:pt x="1826819" y="220315"/>
                    <a:pt x="1777346" y="269788"/>
                    <a:pt x="1716319" y="269788"/>
                  </a:cubicBezTo>
                  <a:lnTo>
                    <a:pt x="110500" y="269788"/>
                  </a:lnTo>
                  <a:cubicBezTo>
                    <a:pt x="49473" y="269788"/>
                    <a:pt x="0" y="220315"/>
                    <a:pt x="0" y="159288"/>
                  </a:cubicBezTo>
                  <a:lnTo>
                    <a:pt x="0" y="110500"/>
                  </a:lnTo>
                  <a:cubicBezTo>
                    <a:pt x="0" y="49473"/>
                    <a:pt x="49473" y="0"/>
                    <a:pt x="110500" y="0"/>
                  </a:cubicBezTo>
                  <a:close/>
                </a:path>
              </a:pathLst>
            </a:custGeom>
            <a:solidFill>
              <a:srgbClr val="D9E4F5"/>
            </a:solidFill>
            <a:ln w="19050" cap="rnd">
              <a:solidFill>
                <a:srgbClr val="D9E4F5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826819" cy="3078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9201150" y="2024563"/>
            <a:ext cx="826086" cy="825053"/>
          </a:xfrm>
          <a:custGeom>
            <a:avLst/>
            <a:gdLst/>
            <a:ahLst/>
            <a:cxnLst/>
            <a:rect l="l" t="t" r="r" b="b"/>
            <a:pathLst>
              <a:path w="826086" h="825053">
                <a:moveTo>
                  <a:pt x="0" y="0"/>
                </a:moveTo>
                <a:lnTo>
                  <a:pt x="826086" y="0"/>
                </a:lnTo>
                <a:lnTo>
                  <a:pt x="826086" y="825053"/>
                </a:lnTo>
                <a:lnTo>
                  <a:pt x="0" y="8250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7" name="Freeform 37"/>
          <p:cNvSpPr/>
          <p:nvPr/>
        </p:nvSpPr>
        <p:spPr>
          <a:xfrm>
            <a:off x="10396339" y="3601362"/>
            <a:ext cx="826086" cy="825053"/>
          </a:xfrm>
          <a:custGeom>
            <a:avLst/>
            <a:gdLst/>
            <a:ahLst/>
            <a:cxnLst/>
            <a:rect l="l" t="t" r="r" b="b"/>
            <a:pathLst>
              <a:path w="826086" h="825053">
                <a:moveTo>
                  <a:pt x="0" y="0"/>
                </a:moveTo>
                <a:lnTo>
                  <a:pt x="826085" y="0"/>
                </a:lnTo>
                <a:lnTo>
                  <a:pt x="826085" y="825054"/>
                </a:lnTo>
                <a:lnTo>
                  <a:pt x="0" y="8250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8" name="Freeform 38"/>
          <p:cNvSpPr/>
          <p:nvPr/>
        </p:nvSpPr>
        <p:spPr>
          <a:xfrm>
            <a:off x="11394321" y="5178162"/>
            <a:ext cx="826086" cy="825053"/>
          </a:xfrm>
          <a:custGeom>
            <a:avLst/>
            <a:gdLst/>
            <a:ahLst/>
            <a:cxnLst/>
            <a:rect l="l" t="t" r="r" b="b"/>
            <a:pathLst>
              <a:path w="826086" h="825053">
                <a:moveTo>
                  <a:pt x="0" y="0"/>
                </a:moveTo>
                <a:lnTo>
                  <a:pt x="826086" y="0"/>
                </a:lnTo>
                <a:lnTo>
                  <a:pt x="826086" y="825053"/>
                </a:lnTo>
                <a:lnTo>
                  <a:pt x="0" y="8250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9" name="Freeform 39"/>
          <p:cNvSpPr/>
          <p:nvPr/>
        </p:nvSpPr>
        <p:spPr>
          <a:xfrm>
            <a:off x="10417627" y="6754962"/>
            <a:ext cx="826086" cy="825053"/>
          </a:xfrm>
          <a:custGeom>
            <a:avLst/>
            <a:gdLst/>
            <a:ahLst/>
            <a:cxnLst/>
            <a:rect l="l" t="t" r="r" b="b"/>
            <a:pathLst>
              <a:path w="826086" h="825053">
                <a:moveTo>
                  <a:pt x="0" y="0"/>
                </a:moveTo>
                <a:lnTo>
                  <a:pt x="826086" y="0"/>
                </a:lnTo>
                <a:lnTo>
                  <a:pt x="826086" y="825053"/>
                </a:lnTo>
                <a:lnTo>
                  <a:pt x="0" y="8250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0" name="Freeform 40"/>
          <p:cNvSpPr/>
          <p:nvPr/>
        </p:nvSpPr>
        <p:spPr>
          <a:xfrm>
            <a:off x="9229725" y="8334874"/>
            <a:ext cx="826086" cy="825053"/>
          </a:xfrm>
          <a:custGeom>
            <a:avLst/>
            <a:gdLst/>
            <a:ahLst/>
            <a:cxnLst/>
            <a:rect l="l" t="t" r="r" b="b"/>
            <a:pathLst>
              <a:path w="826086" h="825053">
                <a:moveTo>
                  <a:pt x="0" y="0"/>
                </a:moveTo>
                <a:lnTo>
                  <a:pt x="826086" y="0"/>
                </a:lnTo>
                <a:lnTo>
                  <a:pt x="826086" y="825053"/>
                </a:lnTo>
                <a:lnTo>
                  <a:pt x="0" y="8250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1" name="Freeform 41"/>
          <p:cNvSpPr/>
          <p:nvPr/>
        </p:nvSpPr>
        <p:spPr>
          <a:xfrm>
            <a:off x="9318767" y="2167045"/>
            <a:ext cx="590852" cy="590852"/>
          </a:xfrm>
          <a:custGeom>
            <a:avLst/>
            <a:gdLst/>
            <a:ahLst/>
            <a:cxnLst/>
            <a:rect l="l" t="t" r="r" b="b"/>
            <a:pathLst>
              <a:path w="590852" h="590852">
                <a:moveTo>
                  <a:pt x="0" y="0"/>
                </a:moveTo>
                <a:lnTo>
                  <a:pt x="590852" y="0"/>
                </a:lnTo>
                <a:lnTo>
                  <a:pt x="590852" y="590852"/>
                </a:lnTo>
                <a:lnTo>
                  <a:pt x="0" y="5908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2" name="Freeform 42"/>
          <p:cNvSpPr/>
          <p:nvPr/>
        </p:nvSpPr>
        <p:spPr>
          <a:xfrm>
            <a:off x="9438496" y="8460714"/>
            <a:ext cx="471123" cy="546230"/>
          </a:xfrm>
          <a:custGeom>
            <a:avLst/>
            <a:gdLst/>
            <a:ahLst/>
            <a:cxnLst/>
            <a:rect l="l" t="t" r="r" b="b"/>
            <a:pathLst>
              <a:path w="471123" h="546230">
                <a:moveTo>
                  <a:pt x="0" y="0"/>
                </a:moveTo>
                <a:lnTo>
                  <a:pt x="471123" y="0"/>
                </a:lnTo>
                <a:lnTo>
                  <a:pt x="471123" y="546229"/>
                </a:lnTo>
                <a:lnTo>
                  <a:pt x="0" y="546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3" name="Freeform 43"/>
          <p:cNvSpPr/>
          <p:nvPr/>
        </p:nvSpPr>
        <p:spPr>
          <a:xfrm>
            <a:off x="10493827" y="3702353"/>
            <a:ext cx="608279" cy="661173"/>
          </a:xfrm>
          <a:custGeom>
            <a:avLst/>
            <a:gdLst/>
            <a:ahLst/>
            <a:cxnLst/>
            <a:rect l="l" t="t" r="r" b="b"/>
            <a:pathLst>
              <a:path w="608279" h="661173">
                <a:moveTo>
                  <a:pt x="0" y="0"/>
                </a:moveTo>
                <a:lnTo>
                  <a:pt x="608279" y="0"/>
                </a:lnTo>
                <a:lnTo>
                  <a:pt x="608279" y="661172"/>
                </a:lnTo>
                <a:lnTo>
                  <a:pt x="0" y="6611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4" name="Freeform 44"/>
          <p:cNvSpPr/>
          <p:nvPr/>
        </p:nvSpPr>
        <p:spPr>
          <a:xfrm>
            <a:off x="10579552" y="6876803"/>
            <a:ext cx="522554" cy="522554"/>
          </a:xfrm>
          <a:custGeom>
            <a:avLst/>
            <a:gdLst/>
            <a:ahLst/>
            <a:cxnLst/>
            <a:rect l="l" t="t" r="r" b="b"/>
            <a:pathLst>
              <a:path w="522554" h="522554">
                <a:moveTo>
                  <a:pt x="0" y="0"/>
                </a:moveTo>
                <a:lnTo>
                  <a:pt x="522554" y="0"/>
                </a:lnTo>
                <a:lnTo>
                  <a:pt x="522554" y="522554"/>
                </a:lnTo>
                <a:lnTo>
                  <a:pt x="0" y="5225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5" name="Freeform 45"/>
          <p:cNvSpPr/>
          <p:nvPr/>
        </p:nvSpPr>
        <p:spPr>
          <a:xfrm>
            <a:off x="11506254" y="5314807"/>
            <a:ext cx="602220" cy="555548"/>
          </a:xfrm>
          <a:custGeom>
            <a:avLst/>
            <a:gdLst/>
            <a:ahLst/>
            <a:cxnLst/>
            <a:rect l="l" t="t" r="r" b="b"/>
            <a:pathLst>
              <a:path w="602220" h="555548">
                <a:moveTo>
                  <a:pt x="0" y="0"/>
                </a:moveTo>
                <a:lnTo>
                  <a:pt x="602220" y="0"/>
                </a:lnTo>
                <a:lnTo>
                  <a:pt x="602220" y="555548"/>
                </a:lnTo>
                <a:lnTo>
                  <a:pt x="0" y="5555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6" name="TextBox 46"/>
          <p:cNvSpPr txBox="1"/>
          <p:nvPr/>
        </p:nvSpPr>
        <p:spPr>
          <a:xfrm>
            <a:off x="1028700" y="580659"/>
            <a:ext cx="243901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Plan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141690" y="2171460"/>
            <a:ext cx="3809359" cy="47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879"/>
              </a:lnSpc>
              <a:spcBef>
                <a:spcPct val="0"/>
              </a:spcBef>
            </a:pPr>
            <a:r>
              <a:rPr lang="en-US" sz="2771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Introduction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141690" y="3700135"/>
            <a:ext cx="5047337" cy="47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879"/>
              </a:lnSpc>
              <a:spcBef>
                <a:spcPct val="0"/>
              </a:spcBef>
            </a:pPr>
            <a:r>
              <a:rPr lang="en-US" sz="2771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Contexte Général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434354" y="5317483"/>
            <a:ext cx="3809359" cy="47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879"/>
              </a:lnSpc>
              <a:spcBef>
                <a:spcPct val="0"/>
              </a:spcBef>
            </a:pPr>
            <a:r>
              <a:rPr lang="en-US" sz="2771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Analyse &amp; Conception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41690" y="6902644"/>
            <a:ext cx="5047337" cy="47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879"/>
              </a:lnSpc>
              <a:spcBef>
                <a:spcPct val="0"/>
              </a:spcBef>
            </a:pPr>
            <a:r>
              <a:rPr lang="en-US" sz="2771" b="1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Déploiement</a:t>
            </a:r>
            <a:r>
              <a:rPr lang="en-US" sz="2771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&amp; Evaluation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296541" y="8482556"/>
            <a:ext cx="3809359" cy="47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879"/>
              </a:lnSpc>
              <a:spcBef>
                <a:spcPct val="0"/>
              </a:spcBef>
            </a:pPr>
            <a:r>
              <a:rPr lang="en-US" sz="2771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Conclusion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7516322" y="8623810"/>
            <a:ext cx="536595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28700" y="1816293"/>
            <a:ext cx="726902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1.1. Dialogue </a:t>
            </a:r>
            <a:r>
              <a:rPr lang="en-US" sz="3999" b="1" i="1" dirty="0" err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Socratique</a:t>
            </a:r>
            <a:endParaRPr lang="en-US" sz="3999" b="1" i="1" dirty="0">
              <a:solidFill>
                <a:srgbClr val="2B2D42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Analyse &amp; Conception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57873" y="527899"/>
            <a:ext cx="3320336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Technologies &amp; Réalisation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b="1">
                <a:solidFill>
                  <a:srgbClr val="5F249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7518485" y="8623810"/>
            <a:ext cx="532269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3</a:t>
            </a:r>
          </a:p>
        </p:txBody>
      </p:sp>
      <p:sp>
        <p:nvSpPr>
          <p:cNvPr id="53" name="Freeform 9">
            <a:extLst>
              <a:ext uri="{FF2B5EF4-FFF2-40B4-BE49-F238E27FC236}">
                <a16:creationId xmlns:a16="http://schemas.microsoft.com/office/drawing/2014/main" id="{C96E6678-AF05-AFDB-D2DE-C711EF7160E3}"/>
              </a:ext>
            </a:extLst>
          </p:cNvPr>
          <p:cNvSpPr/>
          <p:nvPr/>
        </p:nvSpPr>
        <p:spPr>
          <a:xfrm>
            <a:off x="1997742" y="-6164469"/>
            <a:ext cx="1889563" cy="2361954"/>
          </a:xfrm>
          <a:custGeom>
            <a:avLst/>
            <a:gdLst/>
            <a:ahLst/>
            <a:cxnLst/>
            <a:rect l="l" t="t" r="r" b="b"/>
            <a:pathLst>
              <a:path w="1889563" h="2361954">
                <a:moveTo>
                  <a:pt x="0" y="0"/>
                </a:moveTo>
                <a:lnTo>
                  <a:pt x="1889562" y="0"/>
                </a:lnTo>
                <a:lnTo>
                  <a:pt x="1889562" y="2361953"/>
                </a:lnTo>
                <a:lnTo>
                  <a:pt x="0" y="2361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4" name="Freeform 10">
            <a:extLst>
              <a:ext uri="{FF2B5EF4-FFF2-40B4-BE49-F238E27FC236}">
                <a16:creationId xmlns:a16="http://schemas.microsoft.com/office/drawing/2014/main" id="{3144C74F-D10B-DFB1-A6DE-FCB4F6F6553A}"/>
              </a:ext>
            </a:extLst>
          </p:cNvPr>
          <p:cNvSpPr/>
          <p:nvPr/>
        </p:nvSpPr>
        <p:spPr>
          <a:xfrm>
            <a:off x="14470535" y="-6164469"/>
            <a:ext cx="1889563" cy="2361954"/>
          </a:xfrm>
          <a:custGeom>
            <a:avLst/>
            <a:gdLst/>
            <a:ahLst/>
            <a:cxnLst/>
            <a:rect l="l" t="t" r="r" b="b"/>
            <a:pathLst>
              <a:path w="1889563" h="2361954">
                <a:moveTo>
                  <a:pt x="0" y="0"/>
                </a:moveTo>
                <a:lnTo>
                  <a:pt x="1889563" y="0"/>
                </a:lnTo>
                <a:lnTo>
                  <a:pt x="1889563" y="2361953"/>
                </a:lnTo>
                <a:lnTo>
                  <a:pt x="0" y="2361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5" name="Freeform 11">
            <a:extLst>
              <a:ext uri="{FF2B5EF4-FFF2-40B4-BE49-F238E27FC236}">
                <a16:creationId xmlns:a16="http://schemas.microsoft.com/office/drawing/2014/main" id="{3EE32BEB-6893-0EEF-D339-46D1ED791C61}"/>
              </a:ext>
            </a:extLst>
          </p:cNvPr>
          <p:cNvSpPr/>
          <p:nvPr/>
        </p:nvSpPr>
        <p:spPr>
          <a:xfrm>
            <a:off x="8234138" y="-6164469"/>
            <a:ext cx="1889563" cy="2361954"/>
          </a:xfrm>
          <a:custGeom>
            <a:avLst/>
            <a:gdLst/>
            <a:ahLst/>
            <a:cxnLst/>
            <a:rect l="l" t="t" r="r" b="b"/>
            <a:pathLst>
              <a:path w="1889563" h="2361954">
                <a:moveTo>
                  <a:pt x="0" y="0"/>
                </a:moveTo>
                <a:lnTo>
                  <a:pt x="1889563" y="0"/>
                </a:lnTo>
                <a:lnTo>
                  <a:pt x="1889563" y="2361953"/>
                </a:lnTo>
                <a:lnTo>
                  <a:pt x="0" y="2361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6" name="Freeform 12">
            <a:extLst>
              <a:ext uri="{FF2B5EF4-FFF2-40B4-BE49-F238E27FC236}">
                <a16:creationId xmlns:a16="http://schemas.microsoft.com/office/drawing/2014/main" id="{CD0232FB-AC2B-1F05-3407-533EC2E94F62}"/>
              </a:ext>
            </a:extLst>
          </p:cNvPr>
          <p:cNvSpPr/>
          <p:nvPr/>
        </p:nvSpPr>
        <p:spPr>
          <a:xfrm>
            <a:off x="5115940" y="12552283"/>
            <a:ext cx="1889563" cy="2361954"/>
          </a:xfrm>
          <a:custGeom>
            <a:avLst/>
            <a:gdLst/>
            <a:ahLst/>
            <a:cxnLst/>
            <a:rect l="l" t="t" r="r" b="b"/>
            <a:pathLst>
              <a:path w="1889563" h="2361954">
                <a:moveTo>
                  <a:pt x="0" y="0"/>
                </a:moveTo>
                <a:lnTo>
                  <a:pt x="1889563" y="0"/>
                </a:lnTo>
                <a:lnTo>
                  <a:pt x="1889563" y="2361953"/>
                </a:lnTo>
                <a:lnTo>
                  <a:pt x="0" y="2361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7" name="Freeform 13">
            <a:extLst>
              <a:ext uri="{FF2B5EF4-FFF2-40B4-BE49-F238E27FC236}">
                <a16:creationId xmlns:a16="http://schemas.microsoft.com/office/drawing/2014/main" id="{CA77FB42-7478-B59F-F55B-5CDC7CC1FFCB}"/>
              </a:ext>
            </a:extLst>
          </p:cNvPr>
          <p:cNvSpPr/>
          <p:nvPr/>
        </p:nvSpPr>
        <p:spPr>
          <a:xfrm>
            <a:off x="11352336" y="12552283"/>
            <a:ext cx="1889563" cy="2361954"/>
          </a:xfrm>
          <a:custGeom>
            <a:avLst/>
            <a:gdLst/>
            <a:ahLst/>
            <a:cxnLst/>
            <a:rect l="l" t="t" r="r" b="b"/>
            <a:pathLst>
              <a:path w="1889563" h="2361954">
                <a:moveTo>
                  <a:pt x="0" y="0"/>
                </a:moveTo>
                <a:lnTo>
                  <a:pt x="1889563" y="0"/>
                </a:lnTo>
                <a:lnTo>
                  <a:pt x="1889563" y="2361953"/>
                </a:lnTo>
                <a:lnTo>
                  <a:pt x="0" y="2361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8" name="Group 14">
            <a:extLst>
              <a:ext uri="{FF2B5EF4-FFF2-40B4-BE49-F238E27FC236}">
                <a16:creationId xmlns:a16="http://schemas.microsoft.com/office/drawing/2014/main" id="{5E0F6E0E-C957-E194-E02B-A76B9F6949E1}"/>
              </a:ext>
            </a:extLst>
          </p:cNvPr>
          <p:cNvGrpSpPr/>
          <p:nvPr/>
        </p:nvGrpSpPr>
        <p:grpSpPr>
          <a:xfrm>
            <a:off x="2761486" y="-3455926"/>
            <a:ext cx="362073" cy="362073"/>
            <a:chOff x="0" y="0"/>
            <a:chExt cx="812800" cy="812800"/>
          </a:xfrm>
        </p:grpSpPr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54D4094B-6619-E32F-3753-531648E8567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TextBox 16">
              <a:extLst>
                <a:ext uri="{FF2B5EF4-FFF2-40B4-BE49-F238E27FC236}">
                  <a16:creationId xmlns:a16="http://schemas.microsoft.com/office/drawing/2014/main" id="{538FB64E-D2B0-FFAC-15B8-A612E62D63E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61" name="Group 17">
            <a:extLst>
              <a:ext uri="{FF2B5EF4-FFF2-40B4-BE49-F238E27FC236}">
                <a16:creationId xmlns:a16="http://schemas.microsoft.com/office/drawing/2014/main" id="{45707C61-6E69-053E-0940-4DE742747EB9}"/>
              </a:ext>
            </a:extLst>
          </p:cNvPr>
          <p:cNvGrpSpPr/>
          <p:nvPr/>
        </p:nvGrpSpPr>
        <p:grpSpPr>
          <a:xfrm>
            <a:off x="15234280" y="-3455926"/>
            <a:ext cx="362073" cy="362073"/>
            <a:chOff x="0" y="0"/>
            <a:chExt cx="812800" cy="812800"/>
          </a:xfrm>
        </p:grpSpPr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5C4246EF-A59C-2333-DE6D-2C41B457621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TextBox 19">
              <a:extLst>
                <a:ext uri="{FF2B5EF4-FFF2-40B4-BE49-F238E27FC236}">
                  <a16:creationId xmlns:a16="http://schemas.microsoft.com/office/drawing/2014/main" id="{4E27DDF6-39AA-AF95-1819-301FCA13E11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64" name="Group 20">
            <a:extLst>
              <a:ext uri="{FF2B5EF4-FFF2-40B4-BE49-F238E27FC236}">
                <a16:creationId xmlns:a16="http://schemas.microsoft.com/office/drawing/2014/main" id="{5B7F0B9D-382F-7F1D-44F1-4DA5C35F7211}"/>
              </a:ext>
            </a:extLst>
          </p:cNvPr>
          <p:cNvGrpSpPr/>
          <p:nvPr/>
        </p:nvGrpSpPr>
        <p:grpSpPr>
          <a:xfrm>
            <a:off x="8997883" y="-3455926"/>
            <a:ext cx="362073" cy="362073"/>
            <a:chOff x="0" y="0"/>
            <a:chExt cx="812800" cy="812800"/>
          </a:xfrm>
        </p:grpSpPr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7764EECE-91E0-849C-DC43-2243DF1A82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6" name="TextBox 22">
              <a:extLst>
                <a:ext uri="{FF2B5EF4-FFF2-40B4-BE49-F238E27FC236}">
                  <a16:creationId xmlns:a16="http://schemas.microsoft.com/office/drawing/2014/main" id="{699F123C-D5EF-E2B1-054D-5E755E358DF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67" name="Group 23">
            <a:extLst>
              <a:ext uri="{FF2B5EF4-FFF2-40B4-BE49-F238E27FC236}">
                <a16:creationId xmlns:a16="http://schemas.microsoft.com/office/drawing/2014/main" id="{993D6B9B-B383-587A-DC71-78793E939831}"/>
              </a:ext>
            </a:extLst>
          </p:cNvPr>
          <p:cNvGrpSpPr/>
          <p:nvPr/>
        </p:nvGrpSpPr>
        <p:grpSpPr>
          <a:xfrm>
            <a:off x="5879685" y="11752266"/>
            <a:ext cx="362073" cy="362073"/>
            <a:chOff x="0" y="0"/>
            <a:chExt cx="812800" cy="812800"/>
          </a:xfrm>
        </p:grpSpPr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CFB50E3E-65D8-1D58-E7E5-B015D8E738E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TextBox 25">
              <a:extLst>
                <a:ext uri="{FF2B5EF4-FFF2-40B4-BE49-F238E27FC236}">
                  <a16:creationId xmlns:a16="http://schemas.microsoft.com/office/drawing/2014/main" id="{D6CC4112-8D3A-2C00-F27C-B58065A27C6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70" name="Group 26">
            <a:extLst>
              <a:ext uri="{FF2B5EF4-FFF2-40B4-BE49-F238E27FC236}">
                <a16:creationId xmlns:a16="http://schemas.microsoft.com/office/drawing/2014/main" id="{BA6C78F1-151B-CBC8-877B-C485F50C643C}"/>
              </a:ext>
            </a:extLst>
          </p:cNvPr>
          <p:cNvGrpSpPr/>
          <p:nvPr/>
        </p:nvGrpSpPr>
        <p:grpSpPr>
          <a:xfrm>
            <a:off x="12116081" y="11752266"/>
            <a:ext cx="362073" cy="362073"/>
            <a:chOff x="0" y="0"/>
            <a:chExt cx="812800" cy="812800"/>
          </a:xfrm>
        </p:grpSpPr>
        <p:sp>
          <p:nvSpPr>
            <p:cNvPr id="71" name="Freeform 27">
              <a:extLst>
                <a:ext uri="{FF2B5EF4-FFF2-40B4-BE49-F238E27FC236}">
                  <a16:creationId xmlns:a16="http://schemas.microsoft.com/office/drawing/2014/main" id="{7701B55E-0DD2-186C-EB77-EE569C117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TextBox 28">
              <a:extLst>
                <a:ext uri="{FF2B5EF4-FFF2-40B4-BE49-F238E27FC236}">
                  <a16:creationId xmlns:a16="http://schemas.microsoft.com/office/drawing/2014/main" id="{8E13C149-D1E5-3EAE-CE70-3840D85914F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73" name="AutoShape 29">
            <a:extLst>
              <a:ext uri="{FF2B5EF4-FFF2-40B4-BE49-F238E27FC236}">
                <a16:creationId xmlns:a16="http://schemas.microsoft.com/office/drawing/2014/main" id="{DEC1CA82-EBB6-42A8-0B73-6208940F3B3D}"/>
              </a:ext>
            </a:extLst>
          </p:cNvPr>
          <p:cNvSpPr/>
          <p:nvPr/>
        </p:nvSpPr>
        <p:spPr>
          <a:xfrm flipV="1">
            <a:off x="3123560" y="11933303"/>
            <a:ext cx="2756125" cy="3508560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4" name="AutoShape 30">
            <a:extLst>
              <a:ext uri="{FF2B5EF4-FFF2-40B4-BE49-F238E27FC236}">
                <a16:creationId xmlns:a16="http://schemas.microsoft.com/office/drawing/2014/main" id="{736541C6-23D1-CC93-01A1-94B33E00BF54}"/>
              </a:ext>
            </a:extLst>
          </p:cNvPr>
          <p:cNvSpPr/>
          <p:nvPr/>
        </p:nvSpPr>
        <p:spPr>
          <a:xfrm flipH="1" flipV="1">
            <a:off x="12478154" y="11933303"/>
            <a:ext cx="2756125" cy="3508560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5" name="AutoShape 31">
            <a:extLst>
              <a:ext uri="{FF2B5EF4-FFF2-40B4-BE49-F238E27FC236}">
                <a16:creationId xmlns:a16="http://schemas.microsoft.com/office/drawing/2014/main" id="{967A468B-D780-89B0-0851-AB47B21E7AD2}"/>
              </a:ext>
            </a:extLst>
          </p:cNvPr>
          <p:cNvSpPr/>
          <p:nvPr/>
        </p:nvSpPr>
        <p:spPr>
          <a:xfrm flipV="1">
            <a:off x="9359956" y="11933303"/>
            <a:ext cx="2756125" cy="3508560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6" name="AutoShape 32">
            <a:extLst>
              <a:ext uri="{FF2B5EF4-FFF2-40B4-BE49-F238E27FC236}">
                <a16:creationId xmlns:a16="http://schemas.microsoft.com/office/drawing/2014/main" id="{2075B037-B380-81EC-57D2-A581BE79D990}"/>
              </a:ext>
            </a:extLst>
          </p:cNvPr>
          <p:cNvSpPr/>
          <p:nvPr/>
        </p:nvSpPr>
        <p:spPr>
          <a:xfrm>
            <a:off x="6241758" y="11933303"/>
            <a:ext cx="2756125" cy="3508560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7" name="TextBox 33">
            <a:extLst>
              <a:ext uri="{FF2B5EF4-FFF2-40B4-BE49-F238E27FC236}">
                <a16:creationId xmlns:a16="http://schemas.microsoft.com/office/drawing/2014/main" id="{65F74848-77BF-7966-9F8D-2EC8DDC9471B}"/>
              </a:ext>
            </a:extLst>
          </p:cNvPr>
          <p:cNvSpPr txBox="1"/>
          <p:nvPr/>
        </p:nvSpPr>
        <p:spPr>
          <a:xfrm>
            <a:off x="-7498093" y="1813755"/>
            <a:ext cx="762550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 b="1" i="1" dirty="0">
              <a:solidFill>
                <a:srgbClr val="2B2D42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78" name="TextBox 39">
            <a:extLst>
              <a:ext uri="{FF2B5EF4-FFF2-40B4-BE49-F238E27FC236}">
                <a16:creationId xmlns:a16="http://schemas.microsoft.com/office/drawing/2014/main" id="{0D64395D-C664-E1CE-971B-6054EE583A1B}"/>
              </a:ext>
            </a:extLst>
          </p:cNvPr>
          <p:cNvSpPr txBox="1"/>
          <p:nvPr/>
        </p:nvSpPr>
        <p:spPr>
          <a:xfrm>
            <a:off x="1927902" y="-2528187"/>
            <a:ext cx="1959402" cy="1342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Création de CSC par Roy Nutt et Fletcher Jones</a:t>
            </a:r>
          </a:p>
        </p:txBody>
      </p:sp>
      <p:sp>
        <p:nvSpPr>
          <p:cNvPr id="79" name="TextBox 40">
            <a:extLst>
              <a:ext uri="{FF2B5EF4-FFF2-40B4-BE49-F238E27FC236}">
                <a16:creationId xmlns:a16="http://schemas.microsoft.com/office/drawing/2014/main" id="{82DB12D5-07AC-1B82-FEB7-5A473F117F2A}"/>
              </a:ext>
            </a:extLst>
          </p:cNvPr>
          <p:cNvSpPr txBox="1"/>
          <p:nvPr/>
        </p:nvSpPr>
        <p:spPr>
          <a:xfrm>
            <a:off x="4736109" y="16188565"/>
            <a:ext cx="2649224" cy="167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Fusion de CSC avec la division Enterprise Services de HPE pour former DXC Technology</a:t>
            </a:r>
          </a:p>
        </p:txBody>
      </p:sp>
      <p:sp>
        <p:nvSpPr>
          <p:cNvPr id="80" name="TextBox 41">
            <a:extLst>
              <a:ext uri="{FF2B5EF4-FFF2-40B4-BE49-F238E27FC236}">
                <a16:creationId xmlns:a16="http://schemas.microsoft.com/office/drawing/2014/main" id="{1978E06D-EFA7-CCAC-880D-2BBB045854FC}"/>
              </a:ext>
            </a:extLst>
          </p:cNvPr>
          <p:cNvSpPr txBox="1"/>
          <p:nvPr/>
        </p:nvSpPr>
        <p:spPr>
          <a:xfrm>
            <a:off x="8009644" y="-2528187"/>
            <a:ext cx="2338551" cy="167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Scission de la filiale dédiée au secteur public américain, qui devient Perspecta</a:t>
            </a:r>
          </a:p>
        </p:txBody>
      </p:sp>
      <p:sp>
        <p:nvSpPr>
          <p:cNvPr id="81" name="TextBox 42">
            <a:extLst>
              <a:ext uri="{FF2B5EF4-FFF2-40B4-BE49-F238E27FC236}">
                <a16:creationId xmlns:a16="http://schemas.microsoft.com/office/drawing/2014/main" id="{AE07D9A0-C6AD-C1C6-AEF1-B5C8F183D7A0}"/>
              </a:ext>
            </a:extLst>
          </p:cNvPr>
          <p:cNvSpPr txBox="1"/>
          <p:nvPr/>
        </p:nvSpPr>
        <p:spPr>
          <a:xfrm>
            <a:off x="11134381" y="16188565"/>
            <a:ext cx="2687547" cy="167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Acquisition de Luxoft, entreprise suisse spécialisée dans le développement logiciel</a:t>
            </a:r>
          </a:p>
        </p:txBody>
      </p:sp>
      <p:sp>
        <p:nvSpPr>
          <p:cNvPr id="82" name="TextBox 43">
            <a:extLst>
              <a:ext uri="{FF2B5EF4-FFF2-40B4-BE49-F238E27FC236}">
                <a16:creationId xmlns:a16="http://schemas.microsoft.com/office/drawing/2014/main" id="{AF661678-B3E4-566F-042A-6778E386F12E}"/>
              </a:ext>
            </a:extLst>
          </p:cNvPr>
          <p:cNvSpPr txBox="1"/>
          <p:nvPr/>
        </p:nvSpPr>
        <p:spPr>
          <a:xfrm>
            <a:off x="14302453" y="-2528187"/>
            <a:ext cx="2225726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Nomination de Raul Fernandez en tant que PDG</a:t>
            </a:r>
          </a:p>
        </p:txBody>
      </p:sp>
      <p:sp>
        <p:nvSpPr>
          <p:cNvPr id="83" name="TextBox 44">
            <a:extLst>
              <a:ext uri="{FF2B5EF4-FFF2-40B4-BE49-F238E27FC236}">
                <a16:creationId xmlns:a16="http://schemas.microsoft.com/office/drawing/2014/main" id="{5573C7A0-95A1-FB3D-99EA-B7384F3A0508}"/>
              </a:ext>
            </a:extLst>
          </p:cNvPr>
          <p:cNvSpPr txBox="1"/>
          <p:nvPr/>
        </p:nvSpPr>
        <p:spPr>
          <a:xfrm>
            <a:off x="2138310" y="-6819900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1959</a:t>
            </a:r>
          </a:p>
        </p:txBody>
      </p:sp>
      <p:sp>
        <p:nvSpPr>
          <p:cNvPr id="84" name="TextBox 45">
            <a:extLst>
              <a:ext uri="{FF2B5EF4-FFF2-40B4-BE49-F238E27FC236}">
                <a16:creationId xmlns:a16="http://schemas.microsoft.com/office/drawing/2014/main" id="{49C16CAA-8D0F-2371-E34E-E2736F901358}"/>
              </a:ext>
            </a:extLst>
          </p:cNvPr>
          <p:cNvSpPr txBox="1"/>
          <p:nvPr/>
        </p:nvSpPr>
        <p:spPr>
          <a:xfrm>
            <a:off x="8442033" y="-6819900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2018</a:t>
            </a:r>
          </a:p>
        </p:txBody>
      </p:sp>
      <p:sp>
        <p:nvSpPr>
          <p:cNvPr id="85" name="TextBox 46">
            <a:extLst>
              <a:ext uri="{FF2B5EF4-FFF2-40B4-BE49-F238E27FC236}">
                <a16:creationId xmlns:a16="http://schemas.microsoft.com/office/drawing/2014/main" id="{66CCD2E0-8593-17BF-2B07-7F04806C8699}"/>
              </a:ext>
            </a:extLst>
          </p:cNvPr>
          <p:cNvSpPr txBox="1"/>
          <p:nvPr/>
        </p:nvSpPr>
        <p:spPr>
          <a:xfrm>
            <a:off x="5291428" y="15076161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2017</a:t>
            </a:r>
          </a:p>
        </p:txBody>
      </p:sp>
      <p:sp>
        <p:nvSpPr>
          <p:cNvPr id="86" name="TextBox 47">
            <a:extLst>
              <a:ext uri="{FF2B5EF4-FFF2-40B4-BE49-F238E27FC236}">
                <a16:creationId xmlns:a16="http://schemas.microsoft.com/office/drawing/2014/main" id="{8943DFC0-C0F9-2CE8-2B9E-A8D211C01042}"/>
              </a:ext>
            </a:extLst>
          </p:cNvPr>
          <p:cNvSpPr txBox="1"/>
          <p:nvPr/>
        </p:nvSpPr>
        <p:spPr>
          <a:xfrm>
            <a:off x="11531656" y="15076161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2019</a:t>
            </a:r>
          </a:p>
        </p:txBody>
      </p:sp>
      <p:sp>
        <p:nvSpPr>
          <p:cNvPr id="87" name="TextBox 48">
            <a:extLst>
              <a:ext uri="{FF2B5EF4-FFF2-40B4-BE49-F238E27FC236}">
                <a16:creationId xmlns:a16="http://schemas.microsoft.com/office/drawing/2014/main" id="{15615AEA-630C-03CA-C478-D334F3509213}"/>
              </a:ext>
            </a:extLst>
          </p:cNvPr>
          <p:cNvSpPr txBox="1"/>
          <p:nvPr/>
        </p:nvSpPr>
        <p:spPr>
          <a:xfrm>
            <a:off x="14745756" y="-6819900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2024</a:t>
            </a:r>
          </a:p>
        </p:txBody>
      </p:sp>
      <p:pic>
        <p:nvPicPr>
          <p:cNvPr id="1026" name="Picture 2" descr="Socrate — Wikipédia">
            <a:extLst>
              <a:ext uri="{FF2B5EF4-FFF2-40B4-BE49-F238E27FC236}">
                <a16:creationId xmlns:a16="http://schemas.microsoft.com/office/drawing/2014/main" id="{A72A6289-7BC1-4A7C-9AE5-ACE3A7560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804" y="2850048"/>
            <a:ext cx="4795995" cy="611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794DBD70-F553-4F95-86B8-4B2CC998267E}"/>
              </a:ext>
            </a:extLst>
          </p:cNvPr>
          <p:cNvSpPr/>
          <p:nvPr/>
        </p:nvSpPr>
        <p:spPr>
          <a:xfrm>
            <a:off x="7005503" y="4155567"/>
            <a:ext cx="10257936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5400" i="1" dirty="0">
                <a:latin typeface="Poppins Bold" panose="020B0604020202020204" charset="0"/>
                <a:cs typeface="Poppins Bold" panose="020B0604020202020204" charset="0"/>
              </a:rPr>
              <a:t>« Je sais que je ne sais rien. »</a:t>
            </a:r>
          </a:p>
          <a:p>
            <a:r>
              <a:rPr lang="fr-FR" sz="5400" i="1" dirty="0">
                <a:latin typeface="Poppins Bold" panose="020B0604020202020204" charset="0"/>
                <a:cs typeface="Poppins Bold" panose="020B0604020202020204" charset="0"/>
              </a:rPr>
              <a:t> – Socrate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997742" y="4043476"/>
            <a:ext cx="1889563" cy="2361954"/>
          </a:xfrm>
          <a:custGeom>
            <a:avLst/>
            <a:gdLst/>
            <a:ahLst/>
            <a:cxnLst/>
            <a:rect l="l" t="t" r="r" b="b"/>
            <a:pathLst>
              <a:path w="1889563" h="2361954">
                <a:moveTo>
                  <a:pt x="0" y="0"/>
                </a:moveTo>
                <a:lnTo>
                  <a:pt x="1889562" y="0"/>
                </a:lnTo>
                <a:lnTo>
                  <a:pt x="1889562" y="2361953"/>
                </a:lnTo>
                <a:lnTo>
                  <a:pt x="0" y="2361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solidFill>
                <a:schemeClr val="accent1"/>
              </a:solidFill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4470535" y="4043476"/>
            <a:ext cx="1889563" cy="2361954"/>
          </a:xfrm>
          <a:custGeom>
            <a:avLst/>
            <a:gdLst/>
            <a:ahLst/>
            <a:cxnLst/>
            <a:rect l="l" t="t" r="r" b="b"/>
            <a:pathLst>
              <a:path w="1889563" h="2361954">
                <a:moveTo>
                  <a:pt x="0" y="0"/>
                </a:moveTo>
                <a:lnTo>
                  <a:pt x="1889563" y="0"/>
                </a:lnTo>
                <a:lnTo>
                  <a:pt x="1889563" y="2361953"/>
                </a:lnTo>
                <a:lnTo>
                  <a:pt x="0" y="2361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8234138" y="4043476"/>
            <a:ext cx="1889563" cy="2361954"/>
          </a:xfrm>
          <a:custGeom>
            <a:avLst/>
            <a:gdLst/>
            <a:ahLst/>
            <a:cxnLst/>
            <a:rect l="l" t="t" r="r" b="b"/>
            <a:pathLst>
              <a:path w="1889563" h="2361954">
                <a:moveTo>
                  <a:pt x="0" y="0"/>
                </a:moveTo>
                <a:lnTo>
                  <a:pt x="1889563" y="0"/>
                </a:lnTo>
                <a:lnTo>
                  <a:pt x="1889563" y="2361953"/>
                </a:lnTo>
                <a:lnTo>
                  <a:pt x="0" y="2361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5115940" y="4043476"/>
            <a:ext cx="1889563" cy="2361954"/>
          </a:xfrm>
          <a:custGeom>
            <a:avLst/>
            <a:gdLst/>
            <a:ahLst/>
            <a:cxnLst/>
            <a:rect l="l" t="t" r="r" b="b"/>
            <a:pathLst>
              <a:path w="1889563" h="2361954">
                <a:moveTo>
                  <a:pt x="0" y="0"/>
                </a:moveTo>
                <a:lnTo>
                  <a:pt x="1889563" y="0"/>
                </a:lnTo>
                <a:lnTo>
                  <a:pt x="1889563" y="2361953"/>
                </a:lnTo>
                <a:lnTo>
                  <a:pt x="0" y="23619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>
            <a:off x="11352336" y="4043476"/>
            <a:ext cx="1889563" cy="2361954"/>
          </a:xfrm>
          <a:custGeom>
            <a:avLst/>
            <a:gdLst/>
            <a:ahLst/>
            <a:cxnLst/>
            <a:rect l="l" t="t" r="r" b="b"/>
            <a:pathLst>
              <a:path w="1889563" h="2361954">
                <a:moveTo>
                  <a:pt x="0" y="0"/>
                </a:moveTo>
                <a:lnTo>
                  <a:pt x="1889563" y="0"/>
                </a:lnTo>
                <a:lnTo>
                  <a:pt x="1889563" y="2361953"/>
                </a:lnTo>
                <a:lnTo>
                  <a:pt x="0" y="23619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4" name="Group 14"/>
          <p:cNvGrpSpPr/>
          <p:nvPr/>
        </p:nvGrpSpPr>
        <p:grpSpPr>
          <a:xfrm>
            <a:off x="2761486" y="6752019"/>
            <a:ext cx="362073" cy="362073"/>
            <a:chOff x="0" y="0"/>
            <a:chExt cx="812800" cy="812800"/>
          </a:xfrm>
          <a:solidFill>
            <a:schemeClr val="accent1"/>
          </a:solid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234280" y="6752019"/>
            <a:ext cx="362073" cy="362073"/>
            <a:chOff x="0" y="0"/>
            <a:chExt cx="812800" cy="812800"/>
          </a:xfrm>
          <a:solidFill>
            <a:schemeClr val="accent1"/>
          </a:solidFill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997883" y="6752019"/>
            <a:ext cx="362073" cy="362073"/>
            <a:chOff x="0" y="0"/>
            <a:chExt cx="812800" cy="812800"/>
          </a:xfrm>
          <a:solidFill>
            <a:schemeClr val="accent1"/>
          </a:solidFill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879685" y="3243459"/>
            <a:ext cx="362073" cy="362073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16081" y="3243459"/>
            <a:ext cx="362073" cy="362073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29" name="AutoShape 29"/>
          <p:cNvSpPr/>
          <p:nvPr/>
        </p:nvSpPr>
        <p:spPr>
          <a:xfrm flipV="1">
            <a:off x="3123560" y="3424496"/>
            <a:ext cx="2756125" cy="3508560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0" name="AutoShape 30"/>
          <p:cNvSpPr/>
          <p:nvPr/>
        </p:nvSpPr>
        <p:spPr>
          <a:xfrm flipH="1" flipV="1">
            <a:off x="12478154" y="3424496"/>
            <a:ext cx="2756125" cy="3508560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1" name="AutoShape 31"/>
          <p:cNvSpPr/>
          <p:nvPr/>
        </p:nvSpPr>
        <p:spPr>
          <a:xfrm flipV="1">
            <a:off x="9359956" y="3424496"/>
            <a:ext cx="2756125" cy="3508560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" name="AutoShape 32"/>
          <p:cNvSpPr/>
          <p:nvPr/>
        </p:nvSpPr>
        <p:spPr>
          <a:xfrm>
            <a:off x="6241758" y="3424496"/>
            <a:ext cx="2756125" cy="3508560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Box 33"/>
          <p:cNvSpPr txBox="1"/>
          <p:nvPr/>
        </p:nvSpPr>
        <p:spPr>
          <a:xfrm>
            <a:off x="1028700" y="1816293"/>
            <a:ext cx="762550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1.2. </a:t>
            </a:r>
            <a:r>
              <a:rPr lang="en-US" sz="3999" b="1" i="1" dirty="0" err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Historique</a:t>
            </a: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de </a:t>
            </a:r>
            <a:r>
              <a:rPr lang="en-US" sz="3999" b="1" i="1" dirty="0" err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l’IA</a:t>
            </a: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     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Analyse</a:t>
            </a:r>
            <a:r>
              <a:rPr lang="en-US" sz="1965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&amp; Conception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652262" y="414590"/>
            <a:ext cx="4198469" cy="446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970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sz="2000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b="1">
                <a:solidFill>
                  <a:srgbClr val="5F249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15655" y="7679758"/>
            <a:ext cx="2183896" cy="1716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2000" dirty="0">
                <a:latin typeface="Poppins" panose="020B0604020202020204" charset="0"/>
                <a:cs typeface="Poppins" panose="020B0604020202020204" charset="0"/>
              </a:rPr>
              <a:t>IBM Deep Blue bat Kasparov:</a:t>
            </a:r>
          </a:p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2B2D42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rPr>
              <a:t>démonstration</a:t>
            </a:r>
            <a:r>
              <a:rPr lang="en-US" sz="2000" dirty="0">
                <a:solidFill>
                  <a:srgbClr val="2B2D42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rPr>
              <a:t> de la </a:t>
            </a:r>
            <a:r>
              <a:rPr lang="en-US" sz="2000" dirty="0" err="1">
                <a:solidFill>
                  <a:srgbClr val="2B2D42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rPr>
              <a:t>supériorité</a:t>
            </a:r>
            <a:r>
              <a:rPr lang="en-US" sz="2000" dirty="0">
                <a:solidFill>
                  <a:srgbClr val="2B2D42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rPr>
              <a:t> IA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736109" y="7679758"/>
            <a:ext cx="2649224" cy="1716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Paper </a:t>
            </a:r>
            <a:r>
              <a:rPr lang="fr-FR" sz="2000" i="1" dirty="0">
                <a:latin typeface="Poppins" panose="020B0604020202020204" charset="0"/>
                <a:cs typeface="Poppins" panose="020B0604020202020204" charset="0"/>
              </a:rPr>
              <a:t>"Attention </a:t>
            </a:r>
            <a:r>
              <a:rPr lang="fr-FR" sz="2000" i="1" dirty="0" err="1">
                <a:latin typeface="Poppins" panose="020B0604020202020204" charset="0"/>
                <a:cs typeface="Poppins" panose="020B0604020202020204" charset="0"/>
              </a:rPr>
              <a:t>is</a:t>
            </a:r>
            <a:r>
              <a:rPr lang="fr-FR" sz="2000" i="1" dirty="0">
                <a:latin typeface="Poppins" panose="020B0604020202020204" charset="0"/>
                <a:cs typeface="Poppins" panose="020B0604020202020204" charset="0"/>
              </a:rPr>
              <a:t> All You Need"</a:t>
            </a: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 → naissance des Transformers et des LLM modernes</a:t>
            </a:r>
            <a:endParaRPr lang="en-US" sz="2000" dirty="0">
              <a:solidFill>
                <a:srgbClr val="2B2D42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7941417" y="7763343"/>
            <a:ext cx="2756125" cy="1716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GPT-3 → les étudiants commencent à l'utiliser pour leurs devoirs</a:t>
            </a:r>
            <a:endParaRPr lang="en-US" sz="1900" dirty="0">
              <a:solidFill>
                <a:srgbClr val="2B2D42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134381" y="7679758"/>
            <a:ext cx="2756125" cy="206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fr-FR" sz="2000" dirty="0" err="1">
                <a:latin typeface="Poppins" panose="020B0604020202020204" charset="0"/>
                <a:cs typeface="Poppins" panose="020B0604020202020204" charset="0"/>
              </a:rPr>
              <a:t>ChatGPT</a:t>
            </a: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 → adoption massive en éducation, débat mondial sur la tricherie vs l'apprentissage</a:t>
            </a:r>
            <a:endParaRPr lang="en-US" sz="1900" dirty="0">
              <a:solidFill>
                <a:srgbClr val="2B2D42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4302453" y="7679758"/>
            <a:ext cx="2645870" cy="1716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fr-FR" sz="2000" dirty="0" err="1">
                <a:latin typeface="Poppins" panose="020B0604020202020204" charset="0"/>
                <a:cs typeface="Poppins" panose="020B0604020202020204" charset="0"/>
              </a:rPr>
              <a:t>Khanmigo</a:t>
            </a: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 (Khan </a:t>
            </a:r>
            <a:r>
              <a:rPr lang="fr-FR" sz="2000" dirty="0" err="1">
                <a:latin typeface="Poppins" panose="020B0604020202020204" charset="0"/>
                <a:cs typeface="Poppins" panose="020B0604020202020204" charset="0"/>
              </a:rPr>
              <a:t>Academy</a:t>
            </a: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) → premier tuteur officiel IA grand public,</a:t>
            </a:r>
            <a:endParaRPr lang="en-US" sz="1900" dirty="0">
              <a:solidFill>
                <a:srgbClr val="2B2D42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2138310" y="3388045"/>
            <a:ext cx="153858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1997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442033" y="3388045"/>
            <a:ext cx="153858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2020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91428" y="6567354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2017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531656" y="6567354"/>
            <a:ext cx="153858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2022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745756" y="3388045"/>
            <a:ext cx="153858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2023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7513599" y="8623810"/>
            <a:ext cx="542041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4</a:t>
            </a:r>
          </a:p>
        </p:txBody>
      </p:sp>
      <p:sp>
        <p:nvSpPr>
          <p:cNvPr id="50" name="TextBox 9">
            <a:extLst>
              <a:ext uri="{FF2B5EF4-FFF2-40B4-BE49-F238E27FC236}">
                <a16:creationId xmlns:a16="http://schemas.microsoft.com/office/drawing/2014/main" id="{18022E61-1708-2A4E-96B1-E5CF94060DF1}"/>
              </a:ext>
            </a:extLst>
          </p:cNvPr>
          <p:cNvSpPr txBox="1"/>
          <p:nvPr/>
        </p:nvSpPr>
        <p:spPr>
          <a:xfrm>
            <a:off x="-17449800" y="1816293"/>
            <a:ext cx="762550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1.3. </a:t>
            </a:r>
            <a:r>
              <a:rPr lang="en-US" sz="3999" b="1" i="1" dirty="0" err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Domaines</a:t>
            </a: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  <a:r>
              <a:rPr lang="en-US" sz="3999" b="1" i="1" dirty="0" err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d’activités</a:t>
            </a: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    </a:t>
            </a:r>
          </a:p>
        </p:txBody>
      </p:sp>
      <p:sp>
        <p:nvSpPr>
          <p:cNvPr id="51" name="Freeform 15">
            <a:extLst>
              <a:ext uri="{FF2B5EF4-FFF2-40B4-BE49-F238E27FC236}">
                <a16:creationId xmlns:a16="http://schemas.microsoft.com/office/drawing/2014/main" id="{09C13DFE-E9A6-EF97-B1E0-3D02A50A4AF7}"/>
              </a:ext>
            </a:extLst>
          </p:cNvPr>
          <p:cNvSpPr/>
          <p:nvPr/>
        </p:nvSpPr>
        <p:spPr>
          <a:xfrm rot="-5400000">
            <a:off x="-17210221" y="3335851"/>
            <a:ext cx="2949294" cy="2562199"/>
          </a:xfrm>
          <a:custGeom>
            <a:avLst/>
            <a:gdLst/>
            <a:ahLst/>
            <a:cxnLst/>
            <a:rect l="l" t="t" r="r" b="b"/>
            <a:pathLst>
              <a:path w="2949294" h="2562199">
                <a:moveTo>
                  <a:pt x="0" y="0"/>
                </a:moveTo>
                <a:lnTo>
                  <a:pt x="2949294" y="0"/>
                </a:lnTo>
                <a:lnTo>
                  <a:pt x="2949294" y="2562199"/>
                </a:lnTo>
                <a:lnTo>
                  <a:pt x="0" y="2562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2" name="Freeform 16">
            <a:extLst>
              <a:ext uri="{FF2B5EF4-FFF2-40B4-BE49-F238E27FC236}">
                <a16:creationId xmlns:a16="http://schemas.microsoft.com/office/drawing/2014/main" id="{1B31D7A3-2654-DC17-100C-6C86B26E6312}"/>
              </a:ext>
            </a:extLst>
          </p:cNvPr>
          <p:cNvSpPr/>
          <p:nvPr/>
        </p:nvSpPr>
        <p:spPr>
          <a:xfrm rot="-5400000" flipH="1">
            <a:off x="-17210221" y="6502554"/>
            <a:ext cx="2949294" cy="2562199"/>
          </a:xfrm>
          <a:custGeom>
            <a:avLst/>
            <a:gdLst/>
            <a:ahLst/>
            <a:cxnLst/>
            <a:rect l="l" t="t" r="r" b="b"/>
            <a:pathLst>
              <a:path w="2949294" h="2562199">
                <a:moveTo>
                  <a:pt x="2949294" y="0"/>
                </a:moveTo>
                <a:lnTo>
                  <a:pt x="0" y="0"/>
                </a:lnTo>
                <a:lnTo>
                  <a:pt x="0" y="2562199"/>
                </a:lnTo>
                <a:lnTo>
                  <a:pt x="2949294" y="2562199"/>
                </a:lnTo>
                <a:lnTo>
                  <a:pt x="294929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53" name="AutoShape 17">
            <a:extLst>
              <a:ext uri="{FF2B5EF4-FFF2-40B4-BE49-F238E27FC236}">
                <a16:creationId xmlns:a16="http://schemas.microsoft.com/office/drawing/2014/main" id="{A5085727-2ACB-0EAF-7DB6-B53513C00DFC}"/>
              </a:ext>
            </a:extLst>
          </p:cNvPr>
          <p:cNvSpPr/>
          <p:nvPr/>
        </p:nvSpPr>
        <p:spPr>
          <a:xfrm flipV="1">
            <a:off x="22158667" y="2579195"/>
            <a:ext cx="6040157" cy="59229"/>
          </a:xfrm>
          <a:prstGeom prst="line">
            <a:avLst/>
          </a:prstGeom>
          <a:ln w="19050" cap="flat">
            <a:solidFill>
              <a:srgbClr val="D9E4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4" name="AutoShape 18">
            <a:extLst>
              <a:ext uri="{FF2B5EF4-FFF2-40B4-BE49-F238E27FC236}">
                <a16:creationId xmlns:a16="http://schemas.microsoft.com/office/drawing/2014/main" id="{8164BC86-28CE-AA2B-7D8C-93BF38E2712D}"/>
              </a:ext>
            </a:extLst>
          </p:cNvPr>
          <p:cNvSpPr/>
          <p:nvPr/>
        </p:nvSpPr>
        <p:spPr>
          <a:xfrm flipV="1">
            <a:off x="22158667" y="7763343"/>
            <a:ext cx="6070336" cy="141656"/>
          </a:xfrm>
          <a:prstGeom prst="line">
            <a:avLst/>
          </a:prstGeom>
          <a:ln w="19050" cap="flat">
            <a:solidFill>
              <a:srgbClr val="6732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5" name="AutoShape 19">
            <a:extLst>
              <a:ext uri="{FF2B5EF4-FFF2-40B4-BE49-F238E27FC236}">
                <a16:creationId xmlns:a16="http://schemas.microsoft.com/office/drawing/2014/main" id="{87ADB0F9-F3C6-8C5A-1FB5-76C77EB96654}"/>
              </a:ext>
            </a:extLst>
          </p:cNvPr>
          <p:cNvSpPr/>
          <p:nvPr/>
        </p:nvSpPr>
        <p:spPr>
          <a:xfrm flipV="1">
            <a:off x="23036596" y="3634826"/>
            <a:ext cx="5639246" cy="43842"/>
          </a:xfrm>
          <a:prstGeom prst="line">
            <a:avLst/>
          </a:prstGeom>
          <a:ln w="19050" cap="flat">
            <a:solidFill>
              <a:srgbClr val="6732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6" name="AutoShape 20">
            <a:extLst>
              <a:ext uri="{FF2B5EF4-FFF2-40B4-BE49-F238E27FC236}">
                <a16:creationId xmlns:a16="http://schemas.microsoft.com/office/drawing/2014/main" id="{4D582B56-F7C4-7E75-8139-058A6A14B549}"/>
              </a:ext>
            </a:extLst>
          </p:cNvPr>
          <p:cNvSpPr/>
          <p:nvPr/>
        </p:nvSpPr>
        <p:spPr>
          <a:xfrm flipV="1">
            <a:off x="23454875" y="4698460"/>
            <a:ext cx="5481553" cy="28454"/>
          </a:xfrm>
          <a:prstGeom prst="line">
            <a:avLst/>
          </a:prstGeom>
          <a:ln w="19050" cap="flat">
            <a:solidFill>
              <a:srgbClr val="D9E4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7" name="AutoShape 21">
            <a:extLst>
              <a:ext uri="{FF2B5EF4-FFF2-40B4-BE49-F238E27FC236}">
                <a16:creationId xmlns:a16="http://schemas.microsoft.com/office/drawing/2014/main" id="{E78F2C64-F31E-5AC2-72BF-3FE3026EC62E}"/>
              </a:ext>
            </a:extLst>
          </p:cNvPr>
          <p:cNvSpPr/>
          <p:nvPr/>
        </p:nvSpPr>
        <p:spPr>
          <a:xfrm flipV="1">
            <a:off x="23036596" y="6760275"/>
            <a:ext cx="5585090" cy="327022"/>
          </a:xfrm>
          <a:prstGeom prst="line">
            <a:avLst/>
          </a:prstGeom>
          <a:ln w="19050" cap="flat">
            <a:solidFill>
              <a:srgbClr val="D9E4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8" name="AutoShape 22">
            <a:extLst>
              <a:ext uri="{FF2B5EF4-FFF2-40B4-BE49-F238E27FC236}">
                <a16:creationId xmlns:a16="http://schemas.microsoft.com/office/drawing/2014/main" id="{BDCB4C86-3F2C-2EB1-A7F0-9C341E87FC4D}"/>
              </a:ext>
            </a:extLst>
          </p:cNvPr>
          <p:cNvSpPr/>
          <p:nvPr/>
        </p:nvSpPr>
        <p:spPr>
          <a:xfrm flipV="1">
            <a:off x="23480153" y="5691873"/>
            <a:ext cx="5492647" cy="117082"/>
          </a:xfrm>
          <a:prstGeom prst="line">
            <a:avLst/>
          </a:prstGeom>
          <a:ln w="19050" cap="flat">
            <a:solidFill>
              <a:srgbClr val="6732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9" name="Freeform 23">
            <a:extLst>
              <a:ext uri="{FF2B5EF4-FFF2-40B4-BE49-F238E27FC236}">
                <a16:creationId xmlns:a16="http://schemas.microsoft.com/office/drawing/2014/main" id="{E10D0845-558C-1E81-BE95-D754A5E0D497}"/>
              </a:ext>
            </a:extLst>
          </p:cNvPr>
          <p:cNvSpPr/>
          <p:nvPr/>
        </p:nvSpPr>
        <p:spPr>
          <a:xfrm>
            <a:off x="28005391" y="2073323"/>
            <a:ext cx="1163106" cy="1163106"/>
          </a:xfrm>
          <a:custGeom>
            <a:avLst/>
            <a:gdLst/>
            <a:ahLst/>
            <a:cxnLst/>
            <a:rect l="l" t="t" r="r" b="b"/>
            <a:pathLst>
              <a:path w="1163106" h="1163106">
                <a:moveTo>
                  <a:pt x="0" y="0"/>
                </a:moveTo>
                <a:lnTo>
                  <a:pt x="1163106" y="0"/>
                </a:lnTo>
                <a:lnTo>
                  <a:pt x="1163106" y="1163106"/>
                </a:lnTo>
                <a:lnTo>
                  <a:pt x="0" y="1163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0" name="Freeform 24">
            <a:extLst>
              <a:ext uri="{FF2B5EF4-FFF2-40B4-BE49-F238E27FC236}">
                <a16:creationId xmlns:a16="http://schemas.microsoft.com/office/drawing/2014/main" id="{38919BD9-4475-CECD-5CBC-4A56B1ED713C}"/>
              </a:ext>
            </a:extLst>
          </p:cNvPr>
          <p:cNvSpPr/>
          <p:nvPr/>
        </p:nvSpPr>
        <p:spPr>
          <a:xfrm>
            <a:off x="28489692" y="3097115"/>
            <a:ext cx="1163106" cy="1163106"/>
          </a:xfrm>
          <a:custGeom>
            <a:avLst/>
            <a:gdLst/>
            <a:ahLst/>
            <a:cxnLst/>
            <a:rect l="l" t="t" r="r" b="b"/>
            <a:pathLst>
              <a:path w="1163106" h="1163106">
                <a:moveTo>
                  <a:pt x="0" y="0"/>
                </a:moveTo>
                <a:lnTo>
                  <a:pt x="1163106" y="0"/>
                </a:lnTo>
                <a:lnTo>
                  <a:pt x="1163106" y="1163106"/>
                </a:lnTo>
                <a:lnTo>
                  <a:pt x="0" y="11631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1" name="Freeform 25">
            <a:extLst>
              <a:ext uri="{FF2B5EF4-FFF2-40B4-BE49-F238E27FC236}">
                <a16:creationId xmlns:a16="http://schemas.microsoft.com/office/drawing/2014/main" id="{926CD502-4832-99C7-8F45-AC52EB4333D7}"/>
              </a:ext>
            </a:extLst>
          </p:cNvPr>
          <p:cNvSpPr/>
          <p:nvPr/>
        </p:nvSpPr>
        <p:spPr>
          <a:xfrm>
            <a:off x="28765737" y="4145361"/>
            <a:ext cx="1163106" cy="1163106"/>
          </a:xfrm>
          <a:custGeom>
            <a:avLst/>
            <a:gdLst/>
            <a:ahLst/>
            <a:cxnLst/>
            <a:rect l="l" t="t" r="r" b="b"/>
            <a:pathLst>
              <a:path w="1163106" h="1163106">
                <a:moveTo>
                  <a:pt x="0" y="0"/>
                </a:moveTo>
                <a:lnTo>
                  <a:pt x="1163106" y="0"/>
                </a:lnTo>
                <a:lnTo>
                  <a:pt x="1163106" y="1163106"/>
                </a:lnTo>
                <a:lnTo>
                  <a:pt x="0" y="1163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2" name="Freeform 26">
            <a:extLst>
              <a:ext uri="{FF2B5EF4-FFF2-40B4-BE49-F238E27FC236}">
                <a16:creationId xmlns:a16="http://schemas.microsoft.com/office/drawing/2014/main" id="{A2EDFF4F-CB91-418A-F5AF-347F7C250982}"/>
              </a:ext>
            </a:extLst>
          </p:cNvPr>
          <p:cNvSpPr/>
          <p:nvPr/>
        </p:nvSpPr>
        <p:spPr>
          <a:xfrm>
            <a:off x="28765737" y="5194109"/>
            <a:ext cx="1163106" cy="1163106"/>
          </a:xfrm>
          <a:custGeom>
            <a:avLst/>
            <a:gdLst/>
            <a:ahLst/>
            <a:cxnLst/>
            <a:rect l="l" t="t" r="r" b="b"/>
            <a:pathLst>
              <a:path w="1163106" h="1163106">
                <a:moveTo>
                  <a:pt x="0" y="0"/>
                </a:moveTo>
                <a:lnTo>
                  <a:pt x="1163106" y="0"/>
                </a:lnTo>
                <a:lnTo>
                  <a:pt x="1163106" y="1163106"/>
                </a:lnTo>
                <a:lnTo>
                  <a:pt x="0" y="11631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3" name="Freeform 27">
            <a:extLst>
              <a:ext uri="{FF2B5EF4-FFF2-40B4-BE49-F238E27FC236}">
                <a16:creationId xmlns:a16="http://schemas.microsoft.com/office/drawing/2014/main" id="{1CB56B1C-2B8B-A9B9-CDEE-C68F331B59EC}"/>
              </a:ext>
            </a:extLst>
          </p:cNvPr>
          <p:cNvSpPr/>
          <p:nvPr/>
        </p:nvSpPr>
        <p:spPr>
          <a:xfrm>
            <a:off x="28489692" y="6198927"/>
            <a:ext cx="1163106" cy="1163106"/>
          </a:xfrm>
          <a:custGeom>
            <a:avLst/>
            <a:gdLst/>
            <a:ahLst/>
            <a:cxnLst/>
            <a:rect l="l" t="t" r="r" b="b"/>
            <a:pathLst>
              <a:path w="1163106" h="1163106">
                <a:moveTo>
                  <a:pt x="0" y="0"/>
                </a:moveTo>
                <a:lnTo>
                  <a:pt x="1163106" y="0"/>
                </a:lnTo>
                <a:lnTo>
                  <a:pt x="1163106" y="1163106"/>
                </a:lnTo>
                <a:lnTo>
                  <a:pt x="0" y="1163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4" name="Freeform 28">
            <a:extLst>
              <a:ext uri="{FF2B5EF4-FFF2-40B4-BE49-F238E27FC236}">
                <a16:creationId xmlns:a16="http://schemas.microsoft.com/office/drawing/2014/main" id="{DBF43AC7-D0CC-E7AD-C2AD-6A34D0FEBD84}"/>
              </a:ext>
            </a:extLst>
          </p:cNvPr>
          <p:cNvSpPr/>
          <p:nvPr/>
        </p:nvSpPr>
        <p:spPr>
          <a:xfrm>
            <a:off x="27976816" y="7293646"/>
            <a:ext cx="1163106" cy="1163106"/>
          </a:xfrm>
          <a:custGeom>
            <a:avLst/>
            <a:gdLst/>
            <a:ahLst/>
            <a:cxnLst/>
            <a:rect l="l" t="t" r="r" b="b"/>
            <a:pathLst>
              <a:path w="1163106" h="1163106">
                <a:moveTo>
                  <a:pt x="0" y="0"/>
                </a:moveTo>
                <a:lnTo>
                  <a:pt x="1163106" y="0"/>
                </a:lnTo>
                <a:lnTo>
                  <a:pt x="1163106" y="1163106"/>
                </a:lnTo>
                <a:lnTo>
                  <a:pt x="0" y="11631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65" name="Group 29">
            <a:extLst>
              <a:ext uri="{FF2B5EF4-FFF2-40B4-BE49-F238E27FC236}">
                <a16:creationId xmlns:a16="http://schemas.microsoft.com/office/drawing/2014/main" id="{720FBBF5-DE11-15EB-D024-673C39F733CF}"/>
              </a:ext>
            </a:extLst>
          </p:cNvPr>
          <p:cNvGrpSpPr/>
          <p:nvPr/>
        </p:nvGrpSpPr>
        <p:grpSpPr>
          <a:xfrm>
            <a:off x="28128116" y="2129290"/>
            <a:ext cx="860507" cy="860507"/>
            <a:chOff x="0" y="0"/>
            <a:chExt cx="812800" cy="812800"/>
          </a:xfrm>
        </p:grpSpPr>
        <p:sp>
          <p:nvSpPr>
            <p:cNvPr id="66" name="Freeform 30">
              <a:extLst>
                <a:ext uri="{FF2B5EF4-FFF2-40B4-BE49-F238E27FC236}">
                  <a16:creationId xmlns:a16="http://schemas.microsoft.com/office/drawing/2014/main" id="{CB6C454F-1AF8-1BBC-6661-B2CA2D1589A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TextBox 31">
              <a:extLst>
                <a:ext uri="{FF2B5EF4-FFF2-40B4-BE49-F238E27FC236}">
                  <a16:creationId xmlns:a16="http://schemas.microsoft.com/office/drawing/2014/main" id="{98C0E9B6-6594-587C-56D0-2992DEEA37D9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8" name="Group 32">
            <a:extLst>
              <a:ext uri="{FF2B5EF4-FFF2-40B4-BE49-F238E27FC236}">
                <a16:creationId xmlns:a16="http://schemas.microsoft.com/office/drawing/2014/main" id="{9AAC863D-A901-91AE-002B-94ACDDDEED63}"/>
              </a:ext>
            </a:extLst>
          </p:cNvPr>
          <p:cNvGrpSpPr/>
          <p:nvPr/>
        </p:nvGrpSpPr>
        <p:grpSpPr>
          <a:xfrm>
            <a:off x="28604366" y="3179059"/>
            <a:ext cx="860507" cy="860507"/>
            <a:chOff x="0" y="0"/>
            <a:chExt cx="812800" cy="812800"/>
          </a:xfrm>
        </p:grpSpPr>
        <p:sp>
          <p:nvSpPr>
            <p:cNvPr id="69" name="Freeform 33">
              <a:extLst>
                <a:ext uri="{FF2B5EF4-FFF2-40B4-BE49-F238E27FC236}">
                  <a16:creationId xmlns:a16="http://schemas.microsoft.com/office/drawing/2014/main" id="{3241EFEA-29AD-10F3-DD73-623FC10AAFB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TextBox 34">
              <a:extLst>
                <a:ext uri="{FF2B5EF4-FFF2-40B4-BE49-F238E27FC236}">
                  <a16:creationId xmlns:a16="http://schemas.microsoft.com/office/drawing/2014/main" id="{85304689-AEF4-A742-5752-B00C5C53EACA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1" name="Group 35">
            <a:extLst>
              <a:ext uri="{FF2B5EF4-FFF2-40B4-BE49-F238E27FC236}">
                <a16:creationId xmlns:a16="http://schemas.microsoft.com/office/drawing/2014/main" id="{B5849D9B-D2D7-D138-8FC3-BF99F0188CCF}"/>
              </a:ext>
            </a:extLst>
          </p:cNvPr>
          <p:cNvGrpSpPr/>
          <p:nvPr/>
        </p:nvGrpSpPr>
        <p:grpSpPr>
          <a:xfrm>
            <a:off x="28890116" y="4228827"/>
            <a:ext cx="860507" cy="860507"/>
            <a:chOff x="0" y="0"/>
            <a:chExt cx="812800" cy="812800"/>
          </a:xfrm>
        </p:grpSpPr>
        <p:sp>
          <p:nvSpPr>
            <p:cNvPr id="72" name="Freeform 36">
              <a:extLst>
                <a:ext uri="{FF2B5EF4-FFF2-40B4-BE49-F238E27FC236}">
                  <a16:creationId xmlns:a16="http://schemas.microsoft.com/office/drawing/2014/main" id="{6E1DB989-6D32-46F6-7679-78006AFED2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3" name="TextBox 37">
              <a:extLst>
                <a:ext uri="{FF2B5EF4-FFF2-40B4-BE49-F238E27FC236}">
                  <a16:creationId xmlns:a16="http://schemas.microsoft.com/office/drawing/2014/main" id="{86845E1B-33BE-0613-AE36-50C6577D9CEF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4" name="Group 38">
            <a:extLst>
              <a:ext uri="{FF2B5EF4-FFF2-40B4-BE49-F238E27FC236}">
                <a16:creationId xmlns:a16="http://schemas.microsoft.com/office/drawing/2014/main" id="{43B44D4E-6323-4546-A56C-A08255CCB8AF}"/>
              </a:ext>
            </a:extLst>
          </p:cNvPr>
          <p:cNvGrpSpPr/>
          <p:nvPr/>
        </p:nvGrpSpPr>
        <p:grpSpPr>
          <a:xfrm>
            <a:off x="28890116" y="5278596"/>
            <a:ext cx="860507" cy="860507"/>
            <a:chOff x="0" y="0"/>
            <a:chExt cx="812800" cy="812800"/>
          </a:xfrm>
        </p:grpSpPr>
        <p:sp>
          <p:nvSpPr>
            <p:cNvPr id="75" name="Freeform 39">
              <a:extLst>
                <a:ext uri="{FF2B5EF4-FFF2-40B4-BE49-F238E27FC236}">
                  <a16:creationId xmlns:a16="http://schemas.microsoft.com/office/drawing/2014/main" id="{0E5D61C3-78B4-A45A-75AD-9CAE6393D85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TextBox 40">
              <a:extLst>
                <a:ext uri="{FF2B5EF4-FFF2-40B4-BE49-F238E27FC236}">
                  <a16:creationId xmlns:a16="http://schemas.microsoft.com/office/drawing/2014/main" id="{A1D7625D-A483-9574-2900-CEDF56094391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7" name="Group 41">
            <a:extLst>
              <a:ext uri="{FF2B5EF4-FFF2-40B4-BE49-F238E27FC236}">
                <a16:creationId xmlns:a16="http://schemas.microsoft.com/office/drawing/2014/main" id="{A588B22C-0E7D-BA0F-B7C2-85E793B191E3}"/>
              </a:ext>
            </a:extLst>
          </p:cNvPr>
          <p:cNvGrpSpPr/>
          <p:nvPr/>
        </p:nvGrpSpPr>
        <p:grpSpPr>
          <a:xfrm>
            <a:off x="28604366" y="6328364"/>
            <a:ext cx="860507" cy="860507"/>
            <a:chOff x="0" y="0"/>
            <a:chExt cx="812800" cy="812800"/>
          </a:xfrm>
        </p:grpSpPr>
        <p:sp>
          <p:nvSpPr>
            <p:cNvPr id="78" name="Freeform 42">
              <a:extLst>
                <a:ext uri="{FF2B5EF4-FFF2-40B4-BE49-F238E27FC236}">
                  <a16:creationId xmlns:a16="http://schemas.microsoft.com/office/drawing/2014/main" id="{09275F97-5190-2CE7-7C2D-B1592B56C0F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TextBox 43">
              <a:extLst>
                <a:ext uri="{FF2B5EF4-FFF2-40B4-BE49-F238E27FC236}">
                  <a16:creationId xmlns:a16="http://schemas.microsoft.com/office/drawing/2014/main" id="{085EC771-403B-766A-0EDD-825448CD06A5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0" name="Group 44">
            <a:extLst>
              <a:ext uri="{FF2B5EF4-FFF2-40B4-BE49-F238E27FC236}">
                <a16:creationId xmlns:a16="http://schemas.microsoft.com/office/drawing/2014/main" id="{E2419A1D-B02E-73A7-82E8-124A4013E503}"/>
              </a:ext>
            </a:extLst>
          </p:cNvPr>
          <p:cNvGrpSpPr/>
          <p:nvPr/>
        </p:nvGrpSpPr>
        <p:grpSpPr>
          <a:xfrm>
            <a:off x="28128116" y="7378133"/>
            <a:ext cx="860507" cy="860507"/>
            <a:chOff x="0" y="0"/>
            <a:chExt cx="812800" cy="812800"/>
          </a:xfrm>
        </p:grpSpPr>
        <p:sp>
          <p:nvSpPr>
            <p:cNvPr id="81" name="Freeform 45">
              <a:extLst>
                <a:ext uri="{FF2B5EF4-FFF2-40B4-BE49-F238E27FC236}">
                  <a16:creationId xmlns:a16="http://schemas.microsoft.com/office/drawing/2014/main" id="{7EDB7442-1488-4B3D-23CE-FCE06E2172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TextBox 46">
              <a:extLst>
                <a:ext uri="{FF2B5EF4-FFF2-40B4-BE49-F238E27FC236}">
                  <a16:creationId xmlns:a16="http://schemas.microsoft.com/office/drawing/2014/main" id="{3109C132-753B-EB61-19F2-03121D470243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3" name="Freeform 47">
            <a:extLst>
              <a:ext uri="{FF2B5EF4-FFF2-40B4-BE49-F238E27FC236}">
                <a16:creationId xmlns:a16="http://schemas.microsoft.com/office/drawing/2014/main" id="{1A2C9231-3546-4CAA-D812-9A4BDE528903}"/>
              </a:ext>
            </a:extLst>
          </p:cNvPr>
          <p:cNvSpPr/>
          <p:nvPr/>
        </p:nvSpPr>
        <p:spPr>
          <a:xfrm>
            <a:off x="28282909" y="2316106"/>
            <a:ext cx="550921" cy="486876"/>
          </a:xfrm>
          <a:custGeom>
            <a:avLst/>
            <a:gdLst/>
            <a:ahLst/>
            <a:cxnLst/>
            <a:rect l="l" t="t" r="r" b="b"/>
            <a:pathLst>
              <a:path w="550921" h="486876">
                <a:moveTo>
                  <a:pt x="0" y="0"/>
                </a:moveTo>
                <a:lnTo>
                  <a:pt x="550920" y="0"/>
                </a:lnTo>
                <a:lnTo>
                  <a:pt x="550920" y="486876"/>
                </a:lnTo>
                <a:lnTo>
                  <a:pt x="0" y="4868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84" name="Freeform 48">
            <a:extLst>
              <a:ext uri="{FF2B5EF4-FFF2-40B4-BE49-F238E27FC236}">
                <a16:creationId xmlns:a16="http://schemas.microsoft.com/office/drawing/2014/main" id="{C3052406-8D62-534A-5545-DDEB5C5AF73F}"/>
              </a:ext>
            </a:extLst>
          </p:cNvPr>
          <p:cNvSpPr/>
          <p:nvPr/>
        </p:nvSpPr>
        <p:spPr>
          <a:xfrm>
            <a:off x="28287495" y="7558505"/>
            <a:ext cx="541749" cy="499764"/>
          </a:xfrm>
          <a:custGeom>
            <a:avLst/>
            <a:gdLst/>
            <a:ahLst/>
            <a:cxnLst/>
            <a:rect l="l" t="t" r="r" b="b"/>
            <a:pathLst>
              <a:path w="541749" h="499764">
                <a:moveTo>
                  <a:pt x="0" y="0"/>
                </a:moveTo>
                <a:lnTo>
                  <a:pt x="541749" y="0"/>
                </a:lnTo>
                <a:lnTo>
                  <a:pt x="541749" y="499763"/>
                </a:lnTo>
                <a:lnTo>
                  <a:pt x="0" y="4997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85" name="Freeform 49">
            <a:extLst>
              <a:ext uri="{FF2B5EF4-FFF2-40B4-BE49-F238E27FC236}">
                <a16:creationId xmlns:a16="http://schemas.microsoft.com/office/drawing/2014/main" id="{56F7226E-C175-C156-BCA0-C40E4F523DC7}"/>
              </a:ext>
            </a:extLst>
          </p:cNvPr>
          <p:cNvSpPr/>
          <p:nvPr/>
        </p:nvSpPr>
        <p:spPr>
          <a:xfrm>
            <a:off x="28765737" y="3388829"/>
            <a:ext cx="537764" cy="440966"/>
          </a:xfrm>
          <a:custGeom>
            <a:avLst/>
            <a:gdLst/>
            <a:ahLst/>
            <a:cxnLst/>
            <a:rect l="l" t="t" r="r" b="b"/>
            <a:pathLst>
              <a:path w="537764" h="440966">
                <a:moveTo>
                  <a:pt x="0" y="0"/>
                </a:moveTo>
                <a:lnTo>
                  <a:pt x="537764" y="0"/>
                </a:lnTo>
                <a:lnTo>
                  <a:pt x="537764" y="440967"/>
                </a:lnTo>
                <a:lnTo>
                  <a:pt x="0" y="44096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86" name="Freeform 50">
            <a:extLst>
              <a:ext uri="{FF2B5EF4-FFF2-40B4-BE49-F238E27FC236}">
                <a16:creationId xmlns:a16="http://schemas.microsoft.com/office/drawing/2014/main" id="{C2853DE0-3C1A-10CF-5E40-3101B74F1731}"/>
              </a:ext>
            </a:extLst>
          </p:cNvPr>
          <p:cNvSpPr/>
          <p:nvPr/>
        </p:nvSpPr>
        <p:spPr>
          <a:xfrm>
            <a:off x="29085417" y="4422651"/>
            <a:ext cx="469904" cy="472859"/>
          </a:xfrm>
          <a:custGeom>
            <a:avLst/>
            <a:gdLst/>
            <a:ahLst/>
            <a:cxnLst/>
            <a:rect l="l" t="t" r="r" b="b"/>
            <a:pathLst>
              <a:path w="469904" h="472859">
                <a:moveTo>
                  <a:pt x="0" y="0"/>
                </a:moveTo>
                <a:lnTo>
                  <a:pt x="469904" y="0"/>
                </a:lnTo>
                <a:lnTo>
                  <a:pt x="469904" y="472859"/>
                </a:lnTo>
                <a:lnTo>
                  <a:pt x="0" y="47285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87" name="Freeform 51">
            <a:extLst>
              <a:ext uri="{FF2B5EF4-FFF2-40B4-BE49-F238E27FC236}">
                <a16:creationId xmlns:a16="http://schemas.microsoft.com/office/drawing/2014/main" id="{A37AB7F9-F086-C44C-DA16-8356304024E3}"/>
              </a:ext>
            </a:extLst>
          </p:cNvPr>
          <p:cNvSpPr/>
          <p:nvPr/>
        </p:nvSpPr>
        <p:spPr>
          <a:xfrm>
            <a:off x="29071245" y="5459726"/>
            <a:ext cx="498248" cy="498248"/>
          </a:xfrm>
          <a:custGeom>
            <a:avLst/>
            <a:gdLst/>
            <a:ahLst/>
            <a:cxnLst/>
            <a:rect l="l" t="t" r="r" b="b"/>
            <a:pathLst>
              <a:path w="498248" h="498248">
                <a:moveTo>
                  <a:pt x="0" y="0"/>
                </a:moveTo>
                <a:lnTo>
                  <a:pt x="498248" y="0"/>
                </a:lnTo>
                <a:lnTo>
                  <a:pt x="498248" y="498247"/>
                </a:lnTo>
                <a:lnTo>
                  <a:pt x="0" y="49824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88" name="Freeform 52">
            <a:extLst>
              <a:ext uri="{FF2B5EF4-FFF2-40B4-BE49-F238E27FC236}">
                <a16:creationId xmlns:a16="http://schemas.microsoft.com/office/drawing/2014/main" id="{380CD233-7D1D-A192-3814-BCE377DF61D8}"/>
              </a:ext>
            </a:extLst>
          </p:cNvPr>
          <p:cNvSpPr/>
          <p:nvPr/>
        </p:nvSpPr>
        <p:spPr>
          <a:xfrm>
            <a:off x="28816971" y="6565183"/>
            <a:ext cx="435296" cy="386870"/>
          </a:xfrm>
          <a:custGeom>
            <a:avLst/>
            <a:gdLst/>
            <a:ahLst/>
            <a:cxnLst/>
            <a:rect l="l" t="t" r="r" b="b"/>
            <a:pathLst>
              <a:path w="435296" h="386870">
                <a:moveTo>
                  <a:pt x="0" y="0"/>
                </a:moveTo>
                <a:lnTo>
                  <a:pt x="435296" y="0"/>
                </a:lnTo>
                <a:lnTo>
                  <a:pt x="435296" y="386870"/>
                </a:lnTo>
                <a:lnTo>
                  <a:pt x="0" y="38687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89" name="TextBox 53">
            <a:extLst>
              <a:ext uri="{FF2B5EF4-FFF2-40B4-BE49-F238E27FC236}">
                <a16:creationId xmlns:a16="http://schemas.microsoft.com/office/drawing/2014/main" id="{E079A22A-DEB7-9B31-023F-CB26D558CABD}"/>
              </a:ext>
            </a:extLst>
          </p:cNvPr>
          <p:cNvSpPr txBox="1"/>
          <p:nvPr/>
        </p:nvSpPr>
        <p:spPr>
          <a:xfrm>
            <a:off x="29687297" y="2062615"/>
            <a:ext cx="4583666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Cloud &amp; Infrastructure </a:t>
            </a:r>
          </a:p>
        </p:txBody>
      </p:sp>
      <p:sp>
        <p:nvSpPr>
          <p:cNvPr id="90" name="TextBox 54">
            <a:extLst>
              <a:ext uri="{FF2B5EF4-FFF2-40B4-BE49-F238E27FC236}">
                <a16:creationId xmlns:a16="http://schemas.microsoft.com/office/drawing/2014/main" id="{BDA4B980-3B6B-595B-8EF4-3B3D4F642FB9}"/>
              </a:ext>
            </a:extLst>
          </p:cNvPr>
          <p:cNvSpPr txBox="1"/>
          <p:nvPr/>
        </p:nvSpPr>
        <p:spPr>
          <a:xfrm>
            <a:off x="29709613" y="2581275"/>
            <a:ext cx="749688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Migration vers le cloud, gestion des infrastructures hybrides.</a:t>
            </a:r>
          </a:p>
        </p:txBody>
      </p:sp>
      <p:sp>
        <p:nvSpPr>
          <p:cNvPr id="91" name="TextBox 55">
            <a:extLst>
              <a:ext uri="{FF2B5EF4-FFF2-40B4-BE49-F238E27FC236}">
                <a16:creationId xmlns:a16="http://schemas.microsoft.com/office/drawing/2014/main" id="{C23C3363-2F11-F4E8-72CA-CE6B1ECBA114}"/>
              </a:ext>
            </a:extLst>
          </p:cNvPr>
          <p:cNvSpPr txBox="1"/>
          <p:nvPr/>
        </p:nvSpPr>
        <p:spPr>
          <a:xfrm>
            <a:off x="30163547" y="3112384"/>
            <a:ext cx="4788171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Consulting &amp; Engineering Services </a:t>
            </a:r>
          </a:p>
        </p:txBody>
      </p:sp>
      <p:sp>
        <p:nvSpPr>
          <p:cNvPr id="92" name="TextBox 56">
            <a:extLst>
              <a:ext uri="{FF2B5EF4-FFF2-40B4-BE49-F238E27FC236}">
                <a16:creationId xmlns:a16="http://schemas.microsoft.com/office/drawing/2014/main" id="{F3C8DB00-1BFA-DD6A-7568-739CE8E89639}"/>
              </a:ext>
            </a:extLst>
          </p:cNvPr>
          <p:cNvSpPr txBox="1"/>
          <p:nvPr/>
        </p:nvSpPr>
        <p:spPr>
          <a:xfrm>
            <a:off x="30181448" y="3631043"/>
            <a:ext cx="6872637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Conseil en transformation numérique, ingénierie logicielle.</a:t>
            </a:r>
          </a:p>
        </p:txBody>
      </p:sp>
      <p:sp>
        <p:nvSpPr>
          <p:cNvPr id="93" name="TextBox 57">
            <a:extLst>
              <a:ext uri="{FF2B5EF4-FFF2-40B4-BE49-F238E27FC236}">
                <a16:creationId xmlns:a16="http://schemas.microsoft.com/office/drawing/2014/main" id="{EC1E4F26-901C-A096-66B6-59F5BD7653CC}"/>
              </a:ext>
            </a:extLst>
          </p:cNvPr>
          <p:cNvSpPr txBox="1"/>
          <p:nvPr/>
        </p:nvSpPr>
        <p:spPr>
          <a:xfrm>
            <a:off x="30449297" y="4162152"/>
            <a:ext cx="4981806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Applications d'entreprise </a:t>
            </a:r>
          </a:p>
        </p:txBody>
      </p:sp>
      <p:sp>
        <p:nvSpPr>
          <p:cNvPr id="94" name="TextBox 58">
            <a:extLst>
              <a:ext uri="{FF2B5EF4-FFF2-40B4-BE49-F238E27FC236}">
                <a16:creationId xmlns:a16="http://schemas.microsoft.com/office/drawing/2014/main" id="{C31CF7B5-43F2-6573-B74B-D48B6B37B839}"/>
              </a:ext>
            </a:extLst>
          </p:cNvPr>
          <p:cNvSpPr txBox="1"/>
          <p:nvPr/>
        </p:nvSpPr>
        <p:spPr>
          <a:xfrm>
            <a:off x="30473551" y="4680812"/>
            <a:ext cx="6732947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Intégration de solutions SAP, Oracle, Microsoft, ServiceNow.</a:t>
            </a:r>
          </a:p>
        </p:txBody>
      </p:sp>
      <p:sp>
        <p:nvSpPr>
          <p:cNvPr id="95" name="TextBox 59">
            <a:extLst>
              <a:ext uri="{FF2B5EF4-FFF2-40B4-BE49-F238E27FC236}">
                <a16:creationId xmlns:a16="http://schemas.microsoft.com/office/drawing/2014/main" id="{502CCC59-6A44-161B-9227-CE327C7412F3}"/>
              </a:ext>
            </a:extLst>
          </p:cNvPr>
          <p:cNvSpPr txBox="1"/>
          <p:nvPr/>
        </p:nvSpPr>
        <p:spPr>
          <a:xfrm>
            <a:off x="30449297" y="5211921"/>
            <a:ext cx="3676792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Sécurité </a:t>
            </a:r>
          </a:p>
        </p:txBody>
      </p:sp>
      <p:sp>
        <p:nvSpPr>
          <p:cNvPr id="96" name="TextBox 60">
            <a:extLst>
              <a:ext uri="{FF2B5EF4-FFF2-40B4-BE49-F238E27FC236}">
                <a16:creationId xmlns:a16="http://schemas.microsoft.com/office/drawing/2014/main" id="{4EC0E9D6-5FEC-0020-4CA1-017557CF28A3}"/>
              </a:ext>
            </a:extLst>
          </p:cNvPr>
          <p:cNvSpPr txBox="1"/>
          <p:nvPr/>
        </p:nvSpPr>
        <p:spPr>
          <a:xfrm>
            <a:off x="30467198" y="5730580"/>
            <a:ext cx="6586887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Cybersécurité, gestion des identités numériques.</a:t>
            </a:r>
          </a:p>
        </p:txBody>
      </p:sp>
      <p:sp>
        <p:nvSpPr>
          <p:cNvPr id="97" name="TextBox 61">
            <a:extLst>
              <a:ext uri="{FF2B5EF4-FFF2-40B4-BE49-F238E27FC236}">
                <a16:creationId xmlns:a16="http://schemas.microsoft.com/office/drawing/2014/main" id="{6ECF34B0-13AF-D8B8-E805-79EB1D03A443}"/>
              </a:ext>
            </a:extLst>
          </p:cNvPr>
          <p:cNvSpPr txBox="1"/>
          <p:nvPr/>
        </p:nvSpPr>
        <p:spPr>
          <a:xfrm>
            <a:off x="30163547" y="6261689"/>
            <a:ext cx="511711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Modern Workplace </a:t>
            </a:r>
          </a:p>
        </p:txBody>
      </p:sp>
      <p:sp>
        <p:nvSpPr>
          <p:cNvPr id="98" name="TextBox 62">
            <a:extLst>
              <a:ext uri="{FF2B5EF4-FFF2-40B4-BE49-F238E27FC236}">
                <a16:creationId xmlns:a16="http://schemas.microsoft.com/office/drawing/2014/main" id="{1937D736-992C-130D-67A3-90D68C6518C3}"/>
              </a:ext>
            </a:extLst>
          </p:cNvPr>
          <p:cNvSpPr txBox="1"/>
          <p:nvPr/>
        </p:nvSpPr>
        <p:spPr>
          <a:xfrm>
            <a:off x="30181448" y="6780349"/>
            <a:ext cx="764772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·Solutions pour le travail collaboratif et la gestion des appareils.</a:t>
            </a:r>
          </a:p>
        </p:txBody>
      </p:sp>
      <p:sp>
        <p:nvSpPr>
          <p:cNvPr id="99" name="TextBox 63">
            <a:extLst>
              <a:ext uri="{FF2B5EF4-FFF2-40B4-BE49-F238E27FC236}">
                <a16:creationId xmlns:a16="http://schemas.microsoft.com/office/drawing/2014/main" id="{F16A3154-C05D-CC1D-0EA0-12C6C320F401}"/>
              </a:ext>
            </a:extLst>
          </p:cNvPr>
          <p:cNvSpPr txBox="1"/>
          <p:nvPr/>
        </p:nvSpPr>
        <p:spPr>
          <a:xfrm>
            <a:off x="29687297" y="7311458"/>
            <a:ext cx="3676792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Insurance Software &amp; BPS </a:t>
            </a:r>
          </a:p>
        </p:txBody>
      </p:sp>
      <p:sp>
        <p:nvSpPr>
          <p:cNvPr id="100" name="TextBox 64">
            <a:extLst>
              <a:ext uri="{FF2B5EF4-FFF2-40B4-BE49-F238E27FC236}">
                <a16:creationId xmlns:a16="http://schemas.microsoft.com/office/drawing/2014/main" id="{56622DC0-1F2C-1B52-0E86-D1A10146AFDE}"/>
              </a:ext>
            </a:extLst>
          </p:cNvPr>
          <p:cNvSpPr txBox="1"/>
          <p:nvPr/>
        </p:nvSpPr>
        <p:spPr>
          <a:xfrm>
            <a:off x="29705198" y="7830117"/>
            <a:ext cx="7831440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Solutions pour le secteur de l'assurance, externalisation des processus métier.</a:t>
            </a:r>
          </a:p>
        </p:txBody>
      </p:sp>
      <p:sp>
        <p:nvSpPr>
          <p:cNvPr id="101" name="TextBox 65">
            <a:extLst>
              <a:ext uri="{FF2B5EF4-FFF2-40B4-BE49-F238E27FC236}">
                <a16:creationId xmlns:a16="http://schemas.microsoft.com/office/drawing/2014/main" id="{E884A2E2-E074-65F7-657A-2524B8E8574B}"/>
              </a:ext>
            </a:extLst>
          </p:cNvPr>
          <p:cNvSpPr txBox="1"/>
          <p:nvPr/>
        </p:nvSpPr>
        <p:spPr>
          <a:xfrm>
            <a:off x="-16933469" y="3658402"/>
            <a:ext cx="844662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  <p:sp>
        <p:nvSpPr>
          <p:cNvPr id="102" name="TextBox 66">
            <a:extLst>
              <a:ext uri="{FF2B5EF4-FFF2-40B4-BE49-F238E27FC236}">
                <a16:creationId xmlns:a16="http://schemas.microsoft.com/office/drawing/2014/main" id="{78B7D4CC-B249-F182-3058-A20BBF4BD3CC}"/>
              </a:ext>
            </a:extLst>
          </p:cNvPr>
          <p:cNvSpPr txBox="1"/>
          <p:nvPr/>
        </p:nvSpPr>
        <p:spPr>
          <a:xfrm>
            <a:off x="-15912304" y="4290542"/>
            <a:ext cx="844662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sp>
        <p:nvSpPr>
          <p:cNvPr id="103" name="TextBox 67">
            <a:extLst>
              <a:ext uri="{FF2B5EF4-FFF2-40B4-BE49-F238E27FC236}">
                <a16:creationId xmlns:a16="http://schemas.microsoft.com/office/drawing/2014/main" id="{CCB5B7D2-B7A7-D2A4-1F34-2FC2A7280FBF}"/>
              </a:ext>
            </a:extLst>
          </p:cNvPr>
          <p:cNvSpPr txBox="1"/>
          <p:nvPr/>
        </p:nvSpPr>
        <p:spPr>
          <a:xfrm>
            <a:off x="-15389873" y="5418419"/>
            <a:ext cx="844662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</a:t>
            </a:r>
          </a:p>
        </p:txBody>
      </p:sp>
      <p:sp>
        <p:nvSpPr>
          <p:cNvPr id="104" name="TextBox 68">
            <a:extLst>
              <a:ext uri="{FF2B5EF4-FFF2-40B4-BE49-F238E27FC236}">
                <a16:creationId xmlns:a16="http://schemas.microsoft.com/office/drawing/2014/main" id="{52D18E4A-4625-5CB0-63CE-CBB1A54752E7}"/>
              </a:ext>
            </a:extLst>
          </p:cNvPr>
          <p:cNvSpPr txBox="1"/>
          <p:nvPr/>
        </p:nvSpPr>
        <p:spPr>
          <a:xfrm>
            <a:off x="-15415150" y="6481196"/>
            <a:ext cx="844662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04</a:t>
            </a:r>
          </a:p>
        </p:txBody>
      </p:sp>
      <p:sp>
        <p:nvSpPr>
          <p:cNvPr id="105" name="TextBox 69">
            <a:extLst>
              <a:ext uri="{FF2B5EF4-FFF2-40B4-BE49-F238E27FC236}">
                <a16:creationId xmlns:a16="http://schemas.microsoft.com/office/drawing/2014/main" id="{0BD3395D-F974-F798-496C-2E3624E9BB4B}"/>
              </a:ext>
            </a:extLst>
          </p:cNvPr>
          <p:cNvSpPr txBox="1"/>
          <p:nvPr/>
        </p:nvSpPr>
        <p:spPr>
          <a:xfrm>
            <a:off x="-15812203" y="7685223"/>
            <a:ext cx="844662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05</a:t>
            </a:r>
          </a:p>
        </p:txBody>
      </p:sp>
      <p:sp>
        <p:nvSpPr>
          <p:cNvPr id="106" name="TextBox 70">
            <a:extLst>
              <a:ext uri="{FF2B5EF4-FFF2-40B4-BE49-F238E27FC236}">
                <a16:creationId xmlns:a16="http://schemas.microsoft.com/office/drawing/2014/main" id="{ACDA38B1-DD70-0C5C-EB9F-EF177C0A6089}"/>
              </a:ext>
            </a:extLst>
          </p:cNvPr>
          <p:cNvSpPr txBox="1"/>
          <p:nvPr/>
        </p:nvSpPr>
        <p:spPr>
          <a:xfrm>
            <a:off x="-16933469" y="8347828"/>
            <a:ext cx="844662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816293"/>
            <a:ext cx="762550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1.3. Type </a:t>
            </a:r>
            <a:r>
              <a:rPr lang="en-US" sz="3999" b="1" i="1" dirty="0" err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d’enseignement</a:t>
            </a: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  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Analyse &amp; Conception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77606" y="562552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b="1" dirty="0">
                <a:solidFill>
                  <a:srgbClr val="5F249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15" name="Freeform 15"/>
          <p:cNvSpPr/>
          <p:nvPr/>
        </p:nvSpPr>
        <p:spPr>
          <a:xfrm rot="-5400000">
            <a:off x="1268280" y="3335851"/>
            <a:ext cx="2949294" cy="2562199"/>
          </a:xfrm>
          <a:custGeom>
            <a:avLst/>
            <a:gdLst/>
            <a:ahLst/>
            <a:cxnLst/>
            <a:rect l="l" t="t" r="r" b="b"/>
            <a:pathLst>
              <a:path w="2949294" h="2562199">
                <a:moveTo>
                  <a:pt x="0" y="0"/>
                </a:moveTo>
                <a:lnTo>
                  <a:pt x="2949294" y="0"/>
                </a:lnTo>
                <a:lnTo>
                  <a:pt x="2949294" y="2562199"/>
                </a:lnTo>
                <a:lnTo>
                  <a:pt x="0" y="2562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16"/>
          <p:cNvSpPr/>
          <p:nvPr/>
        </p:nvSpPr>
        <p:spPr>
          <a:xfrm rot="-5400000" flipH="1">
            <a:off x="1384228" y="6538016"/>
            <a:ext cx="2949294" cy="2562199"/>
          </a:xfrm>
          <a:custGeom>
            <a:avLst/>
            <a:gdLst/>
            <a:ahLst/>
            <a:cxnLst/>
            <a:rect l="l" t="t" r="r" b="b"/>
            <a:pathLst>
              <a:path w="2949294" h="2562199">
                <a:moveTo>
                  <a:pt x="2949294" y="0"/>
                </a:moveTo>
                <a:lnTo>
                  <a:pt x="0" y="0"/>
                </a:lnTo>
                <a:lnTo>
                  <a:pt x="0" y="2562199"/>
                </a:lnTo>
                <a:lnTo>
                  <a:pt x="2949294" y="2562199"/>
                </a:lnTo>
                <a:lnTo>
                  <a:pt x="29492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7" name="AutoShape 17"/>
          <p:cNvSpPr/>
          <p:nvPr/>
        </p:nvSpPr>
        <p:spPr>
          <a:xfrm flipV="1">
            <a:off x="2189472" y="3552024"/>
            <a:ext cx="6040157" cy="59229"/>
          </a:xfrm>
          <a:prstGeom prst="line">
            <a:avLst/>
          </a:prstGeom>
          <a:ln w="19050" cap="flat">
            <a:solidFill>
              <a:srgbClr val="D9E4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" name="AutoShape 18"/>
          <p:cNvSpPr/>
          <p:nvPr/>
        </p:nvSpPr>
        <p:spPr>
          <a:xfrm flipV="1">
            <a:off x="2189472" y="8736172"/>
            <a:ext cx="6070336" cy="141656"/>
          </a:xfrm>
          <a:prstGeom prst="line">
            <a:avLst/>
          </a:prstGeom>
          <a:ln w="19050" cap="flat">
            <a:solidFill>
              <a:srgbClr val="6732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 flipV="1">
            <a:off x="3067401" y="4607655"/>
            <a:ext cx="5639246" cy="43842"/>
          </a:xfrm>
          <a:prstGeom prst="line">
            <a:avLst/>
          </a:prstGeom>
          <a:ln w="19050" cap="flat">
            <a:solidFill>
              <a:srgbClr val="6732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 flipV="1">
            <a:off x="3485680" y="5671289"/>
            <a:ext cx="5481553" cy="28454"/>
          </a:xfrm>
          <a:prstGeom prst="line">
            <a:avLst/>
          </a:prstGeom>
          <a:ln w="19050" cap="flat">
            <a:solidFill>
              <a:srgbClr val="D9E4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067401" y="7733104"/>
            <a:ext cx="5585090" cy="327022"/>
          </a:xfrm>
          <a:prstGeom prst="line">
            <a:avLst/>
          </a:prstGeom>
          <a:ln w="19050" cap="flat">
            <a:solidFill>
              <a:srgbClr val="D9E4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 flipV="1">
            <a:off x="3510958" y="6664702"/>
            <a:ext cx="5492647" cy="117082"/>
          </a:xfrm>
          <a:prstGeom prst="line">
            <a:avLst/>
          </a:prstGeom>
          <a:ln w="19050" cap="flat">
            <a:solidFill>
              <a:srgbClr val="6732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8036196" y="3046152"/>
            <a:ext cx="1163106" cy="1163106"/>
          </a:xfrm>
          <a:custGeom>
            <a:avLst/>
            <a:gdLst/>
            <a:ahLst/>
            <a:cxnLst/>
            <a:rect l="l" t="t" r="r" b="b"/>
            <a:pathLst>
              <a:path w="1163106" h="1163106">
                <a:moveTo>
                  <a:pt x="0" y="0"/>
                </a:moveTo>
                <a:lnTo>
                  <a:pt x="1163106" y="0"/>
                </a:lnTo>
                <a:lnTo>
                  <a:pt x="1163106" y="1163106"/>
                </a:lnTo>
                <a:lnTo>
                  <a:pt x="0" y="11631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8520497" y="4069944"/>
            <a:ext cx="1163106" cy="1163106"/>
          </a:xfrm>
          <a:custGeom>
            <a:avLst/>
            <a:gdLst/>
            <a:ahLst/>
            <a:cxnLst/>
            <a:rect l="l" t="t" r="r" b="b"/>
            <a:pathLst>
              <a:path w="1163106" h="1163106">
                <a:moveTo>
                  <a:pt x="0" y="0"/>
                </a:moveTo>
                <a:lnTo>
                  <a:pt x="1163106" y="0"/>
                </a:lnTo>
                <a:lnTo>
                  <a:pt x="1163106" y="1163106"/>
                </a:lnTo>
                <a:lnTo>
                  <a:pt x="0" y="11631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8796542" y="5118190"/>
            <a:ext cx="1163106" cy="1163106"/>
          </a:xfrm>
          <a:custGeom>
            <a:avLst/>
            <a:gdLst/>
            <a:ahLst/>
            <a:cxnLst/>
            <a:rect l="l" t="t" r="r" b="b"/>
            <a:pathLst>
              <a:path w="1163106" h="1163106">
                <a:moveTo>
                  <a:pt x="0" y="0"/>
                </a:moveTo>
                <a:lnTo>
                  <a:pt x="1163106" y="0"/>
                </a:lnTo>
                <a:lnTo>
                  <a:pt x="1163106" y="1163106"/>
                </a:lnTo>
                <a:lnTo>
                  <a:pt x="0" y="11631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8796542" y="6166938"/>
            <a:ext cx="1163106" cy="1163106"/>
          </a:xfrm>
          <a:custGeom>
            <a:avLst/>
            <a:gdLst/>
            <a:ahLst/>
            <a:cxnLst/>
            <a:rect l="l" t="t" r="r" b="b"/>
            <a:pathLst>
              <a:path w="1163106" h="1163106">
                <a:moveTo>
                  <a:pt x="0" y="0"/>
                </a:moveTo>
                <a:lnTo>
                  <a:pt x="1163106" y="0"/>
                </a:lnTo>
                <a:lnTo>
                  <a:pt x="1163106" y="1163106"/>
                </a:lnTo>
                <a:lnTo>
                  <a:pt x="0" y="11631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8520497" y="7171756"/>
            <a:ext cx="1163106" cy="1163106"/>
          </a:xfrm>
          <a:custGeom>
            <a:avLst/>
            <a:gdLst/>
            <a:ahLst/>
            <a:cxnLst/>
            <a:rect l="l" t="t" r="r" b="b"/>
            <a:pathLst>
              <a:path w="1163106" h="1163106">
                <a:moveTo>
                  <a:pt x="0" y="0"/>
                </a:moveTo>
                <a:lnTo>
                  <a:pt x="1163106" y="0"/>
                </a:lnTo>
                <a:lnTo>
                  <a:pt x="1163106" y="1163106"/>
                </a:lnTo>
                <a:lnTo>
                  <a:pt x="0" y="11631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8007621" y="8266475"/>
            <a:ext cx="1163106" cy="1163106"/>
          </a:xfrm>
          <a:custGeom>
            <a:avLst/>
            <a:gdLst/>
            <a:ahLst/>
            <a:cxnLst/>
            <a:rect l="l" t="t" r="r" b="b"/>
            <a:pathLst>
              <a:path w="1163106" h="1163106">
                <a:moveTo>
                  <a:pt x="0" y="0"/>
                </a:moveTo>
                <a:lnTo>
                  <a:pt x="1163106" y="0"/>
                </a:lnTo>
                <a:lnTo>
                  <a:pt x="1163106" y="1163106"/>
                </a:lnTo>
                <a:lnTo>
                  <a:pt x="0" y="11631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29" name="Group 29"/>
          <p:cNvGrpSpPr/>
          <p:nvPr/>
        </p:nvGrpSpPr>
        <p:grpSpPr>
          <a:xfrm>
            <a:off x="8158921" y="3102119"/>
            <a:ext cx="860507" cy="860507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635171" y="4151888"/>
            <a:ext cx="860507" cy="860507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920921" y="5201656"/>
            <a:ext cx="860507" cy="860507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920921" y="6251425"/>
            <a:ext cx="860507" cy="860507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635171" y="7301193"/>
            <a:ext cx="860507" cy="860507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58921" y="8350962"/>
            <a:ext cx="860507" cy="860507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9" name="Freeform 49"/>
          <p:cNvSpPr/>
          <p:nvPr/>
        </p:nvSpPr>
        <p:spPr>
          <a:xfrm>
            <a:off x="8796542" y="4361658"/>
            <a:ext cx="537764" cy="440966"/>
          </a:xfrm>
          <a:custGeom>
            <a:avLst/>
            <a:gdLst/>
            <a:ahLst/>
            <a:cxnLst/>
            <a:rect l="l" t="t" r="r" b="b"/>
            <a:pathLst>
              <a:path w="537764" h="440966">
                <a:moveTo>
                  <a:pt x="0" y="0"/>
                </a:moveTo>
                <a:lnTo>
                  <a:pt x="537764" y="0"/>
                </a:lnTo>
                <a:lnTo>
                  <a:pt x="537764" y="440967"/>
                </a:lnTo>
                <a:lnTo>
                  <a:pt x="0" y="4409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Box 53"/>
          <p:cNvSpPr txBox="1"/>
          <p:nvPr/>
        </p:nvSpPr>
        <p:spPr>
          <a:xfrm>
            <a:off x="9718102" y="3035444"/>
            <a:ext cx="4583666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 err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Socratique</a:t>
            </a:r>
            <a:r>
              <a:rPr lang="en-US" sz="2000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718102" y="3522042"/>
            <a:ext cx="8308138" cy="305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Basée</a:t>
            </a:r>
            <a:r>
              <a:rPr lang="en-US" sz="1800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sur le </a:t>
            </a:r>
            <a:r>
              <a:rPr lang="en-US" sz="1800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questionnement</a:t>
            </a:r>
            <a:r>
              <a:rPr lang="en-US" sz="1800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guidée</a:t>
            </a:r>
            <a:r>
              <a:rPr lang="en-US" sz="1800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-&gt; </a:t>
            </a:r>
            <a:r>
              <a:rPr lang="en-US" sz="1800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construire</a:t>
            </a:r>
            <a:r>
              <a:rPr lang="en-US" sz="1800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les </a:t>
            </a:r>
            <a:r>
              <a:rPr lang="en-US" sz="1800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connaissances</a:t>
            </a:r>
            <a:r>
              <a:rPr lang="en-US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1800" dirty="0">
              <a:solidFill>
                <a:srgbClr val="2B2D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0194352" y="4085213"/>
            <a:ext cx="4788171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Transmissive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212253" y="4535776"/>
            <a:ext cx="7554769" cy="305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L’enseignant</a:t>
            </a:r>
            <a:r>
              <a:rPr lang="en-US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transmet</a:t>
            </a:r>
            <a:r>
              <a:rPr lang="en-US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directement</a:t>
            </a:r>
            <a:r>
              <a:rPr lang="en-US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le savoir (</a:t>
            </a:r>
            <a:r>
              <a:rPr lang="en-US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Cours</a:t>
            </a:r>
            <a:r>
              <a:rPr lang="en-US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Magistral)</a:t>
            </a:r>
            <a:r>
              <a:rPr lang="en-US" sz="1800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480102" y="5134981"/>
            <a:ext cx="4981806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Par </a:t>
            </a:r>
            <a:r>
              <a:rPr lang="en-US" sz="2000" b="1" dirty="0" err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Problème</a:t>
            </a:r>
            <a:r>
              <a:rPr lang="en-US" sz="2000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504356" y="5653641"/>
            <a:ext cx="7783644" cy="305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fr-FR" dirty="0">
                <a:latin typeface="Poppins" panose="020B0604020202020204" charset="0"/>
                <a:cs typeface="Poppins" panose="020B0604020202020204" charset="0"/>
              </a:rPr>
              <a:t>Les apprenants résolvent des problèmes concrets pour apprendre</a:t>
            </a:r>
            <a:r>
              <a:rPr lang="en-US" sz="1800" dirty="0">
                <a:solidFill>
                  <a:srgbClr val="2B2D42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rPr>
              <a:t>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480102" y="6184750"/>
            <a:ext cx="3676792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 err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Socioconstructive</a:t>
            </a:r>
            <a:r>
              <a:rPr lang="en-US" sz="2000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498003" y="6703409"/>
            <a:ext cx="6586887" cy="30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fr-FR" dirty="0">
                <a:latin typeface="Poppins" panose="020B0604020202020204" charset="0"/>
                <a:cs typeface="Poppins" panose="020B0604020202020204" charset="0"/>
              </a:rPr>
              <a:t>l’apprentissage par interaction avec les autres</a:t>
            </a:r>
            <a:r>
              <a:rPr lang="en-US" sz="1800" dirty="0">
                <a:solidFill>
                  <a:srgbClr val="2B2D42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rPr>
              <a:t>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194352" y="7234518"/>
            <a:ext cx="511711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 err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Constructiviste</a:t>
            </a:r>
            <a:r>
              <a:rPr lang="en-US" sz="2000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212253" y="7753178"/>
            <a:ext cx="7647726" cy="30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fr-FR" dirty="0">
                <a:latin typeface="Poppins" panose="020B0604020202020204" charset="0"/>
                <a:cs typeface="Poppins" panose="020B0604020202020204" charset="0"/>
              </a:rPr>
              <a:t>L’apprenant construit ses connaissances par lui-même</a:t>
            </a:r>
            <a:r>
              <a:rPr lang="en-US" sz="1800" dirty="0">
                <a:solidFill>
                  <a:srgbClr val="2B2D42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rPr>
              <a:t>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718102" y="8284287"/>
            <a:ext cx="3676792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Par </a:t>
            </a:r>
            <a:r>
              <a:rPr lang="en-US" sz="2000" b="1" dirty="0" err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compètences</a:t>
            </a:r>
            <a:r>
              <a:rPr lang="en-US" sz="2000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736003" y="8802946"/>
            <a:ext cx="7831440" cy="30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fr-FR" dirty="0">
                <a:latin typeface="Poppins" panose="020B0604020202020204" charset="0"/>
                <a:cs typeface="Poppins" panose="020B0604020202020204" charset="0"/>
              </a:rPr>
              <a:t>le développement de compétences pratiques (savoir faire, TP)</a:t>
            </a:r>
            <a:endParaRPr lang="en-US" sz="1800" dirty="0">
              <a:solidFill>
                <a:srgbClr val="2B2D42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1545031" y="3658402"/>
            <a:ext cx="844662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566196" y="4290542"/>
            <a:ext cx="844662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088627" y="5418419"/>
            <a:ext cx="844662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063350" y="6481196"/>
            <a:ext cx="844662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04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666297" y="7685223"/>
            <a:ext cx="844662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05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545031" y="8347828"/>
            <a:ext cx="844662" cy="43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06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7519588" y="8623810"/>
            <a:ext cx="530062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5</a:t>
            </a:r>
          </a:p>
        </p:txBody>
      </p:sp>
      <p:sp>
        <p:nvSpPr>
          <p:cNvPr id="73" name="Freeform 10">
            <a:extLst>
              <a:ext uri="{FF2B5EF4-FFF2-40B4-BE49-F238E27FC236}">
                <a16:creationId xmlns:a16="http://schemas.microsoft.com/office/drawing/2014/main" id="{F1CF8773-F3F4-C51E-A55D-50485609EEA0}"/>
              </a:ext>
            </a:extLst>
          </p:cNvPr>
          <p:cNvSpPr/>
          <p:nvPr/>
        </p:nvSpPr>
        <p:spPr>
          <a:xfrm>
            <a:off x="32724137" y="3934771"/>
            <a:ext cx="1889563" cy="2361954"/>
          </a:xfrm>
          <a:custGeom>
            <a:avLst/>
            <a:gdLst/>
            <a:ahLst/>
            <a:cxnLst/>
            <a:rect l="l" t="t" r="r" b="b"/>
            <a:pathLst>
              <a:path w="1889563" h="2361954">
                <a:moveTo>
                  <a:pt x="0" y="0"/>
                </a:moveTo>
                <a:lnTo>
                  <a:pt x="1889563" y="0"/>
                </a:lnTo>
                <a:lnTo>
                  <a:pt x="1889563" y="2361953"/>
                </a:lnTo>
                <a:lnTo>
                  <a:pt x="0" y="236195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6" name="Freeform 13">
            <a:extLst>
              <a:ext uri="{FF2B5EF4-FFF2-40B4-BE49-F238E27FC236}">
                <a16:creationId xmlns:a16="http://schemas.microsoft.com/office/drawing/2014/main" id="{62A6CC54-0253-894C-1F58-3BB87B1231D2}"/>
              </a:ext>
            </a:extLst>
          </p:cNvPr>
          <p:cNvSpPr/>
          <p:nvPr/>
        </p:nvSpPr>
        <p:spPr>
          <a:xfrm>
            <a:off x="29605938" y="3934771"/>
            <a:ext cx="1889563" cy="2361954"/>
          </a:xfrm>
          <a:custGeom>
            <a:avLst/>
            <a:gdLst/>
            <a:ahLst/>
            <a:cxnLst/>
            <a:rect l="l" t="t" r="r" b="b"/>
            <a:pathLst>
              <a:path w="1889563" h="2361954">
                <a:moveTo>
                  <a:pt x="0" y="0"/>
                </a:moveTo>
                <a:lnTo>
                  <a:pt x="1889563" y="0"/>
                </a:lnTo>
                <a:lnTo>
                  <a:pt x="1889563" y="2361953"/>
                </a:lnTo>
                <a:lnTo>
                  <a:pt x="0" y="236195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77" name="Group 14">
            <a:extLst>
              <a:ext uri="{FF2B5EF4-FFF2-40B4-BE49-F238E27FC236}">
                <a16:creationId xmlns:a16="http://schemas.microsoft.com/office/drawing/2014/main" id="{867DDFC8-F6C2-8A0F-63C4-B9ACDE4399DF}"/>
              </a:ext>
            </a:extLst>
          </p:cNvPr>
          <p:cNvGrpSpPr/>
          <p:nvPr/>
        </p:nvGrpSpPr>
        <p:grpSpPr>
          <a:xfrm>
            <a:off x="21015088" y="6643314"/>
            <a:ext cx="362073" cy="362073"/>
            <a:chOff x="0" y="0"/>
            <a:chExt cx="812800" cy="812800"/>
          </a:xfrm>
        </p:grpSpPr>
        <p:sp>
          <p:nvSpPr>
            <p:cNvPr id="78" name="Freeform 15">
              <a:extLst>
                <a:ext uri="{FF2B5EF4-FFF2-40B4-BE49-F238E27FC236}">
                  <a16:creationId xmlns:a16="http://schemas.microsoft.com/office/drawing/2014/main" id="{24057739-149C-A0D3-6B9D-73D43B12794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TextBox 16">
              <a:extLst>
                <a:ext uri="{FF2B5EF4-FFF2-40B4-BE49-F238E27FC236}">
                  <a16:creationId xmlns:a16="http://schemas.microsoft.com/office/drawing/2014/main" id="{50AC98F4-3A20-8C67-BAE3-F21783FFFC1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80" name="Group 17">
            <a:extLst>
              <a:ext uri="{FF2B5EF4-FFF2-40B4-BE49-F238E27FC236}">
                <a16:creationId xmlns:a16="http://schemas.microsoft.com/office/drawing/2014/main" id="{C6AE2D10-CBAD-4CE4-C976-DF1A8F39A428}"/>
              </a:ext>
            </a:extLst>
          </p:cNvPr>
          <p:cNvGrpSpPr/>
          <p:nvPr/>
        </p:nvGrpSpPr>
        <p:grpSpPr>
          <a:xfrm>
            <a:off x="33487882" y="6643314"/>
            <a:ext cx="362073" cy="362073"/>
            <a:chOff x="0" y="0"/>
            <a:chExt cx="812800" cy="812800"/>
          </a:xfrm>
        </p:grpSpPr>
        <p:sp>
          <p:nvSpPr>
            <p:cNvPr id="81" name="Freeform 18">
              <a:extLst>
                <a:ext uri="{FF2B5EF4-FFF2-40B4-BE49-F238E27FC236}">
                  <a16:creationId xmlns:a16="http://schemas.microsoft.com/office/drawing/2014/main" id="{64569013-4ED0-D0F9-95E9-3DE8E7C4D6C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TextBox 19">
              <a:extLst>
                <a:ext uri="{FF2B5EF4-FFF2-40B4-BE49-F238E27FC236}">
                  <a16:creationId xmlns:a16="http://schemas.microsoft.com/office/drawing/2014/main" id="{27407CA5-1261-C060-2946-D41CBADBD7B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83" name="Group 20">
            <a:extLst>
              <a:ext uri="{FF2B5EF4-FFF2-40B4-BE49-F238E27FC236}">
                <a16:creationId xmlns:a16="http://schemas.microsoft.com/office/drawing/2014/main" id="{85738C8A-0D3A-EC74-1A2B-0D5B1A341A5E}"/>
              </a:ext>
            </a:extLst>
          </p:cNvPr>
          <p:cNvGrpSpPr/>
          <p:nvPr/>
        </p:nvGrpSpPr>
        <p:grpSpPr>
          <a:xfrm>
            <a:off x="27251485" y="6643314"/>
            <a:ext cx="362073" cy="362073"/>
            <a:chOff x="0" y="0"/>
            <a:chExt cx="812800" cy="812800"/>
          </a:xfrm>
        </p:grpSpPr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F5068028-B5E2-D371-19BD-48B349BF6D5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TextBox 22">
              <a:extLst>
                <a:ext uri="{FF2B5EF4-FFF2-40B4-BE49-F238E27FC236}">
                  <a16:creationId xmlns:a16="http://schemas.microsoft.com/office/drawing/2014/main" id="{DE5C5A4A-83EA-E9AA-FAD9-1EF0AAEB628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86" name="Group 23">
            <a:extLst>
              <a:ext uri="{FF2B5EF4-FFF2-40B4-BE49-F238E27FC236}">
                <a16:creationId xmlns:a16="http://schemas.microsoft.com/office/drawing/2014/main" id="{43D4A4CD-ABEB-06A8-AE4D-AC17772D0F37}"/>
              </a:ext>
            </a:extLst>
          </p:cNvPr>
          <p:cNvGrpSpPr/>
          <p:nvPr/>
        </p:nvGrpSpPr>
        <p:grpSpPr>
          <a:xfrm>
            <a:off x="24133287" y="3134754"/>
            <a:ext cx="362073" cy="362073"/>
            <a:chOff x="0" y="0"/>
            <a:chExt cx="812800" cy="812800"/>
          </a:xfrm>
        </p:grpSpPr>
        <p:sp>
          <p:nvSpPr>
            <p:cNvPr id="87" name="Freeform 24">
              <a:extLst>
                <a:ext uri="{FF2B5EF4-FFF2-40B4-BE49-F238E27FC236}">
                  <a16:creationId xmlns:a16="http://schemas.microsoft.com/office/drawing/2014/main" id="{6DA22BD0-06BB-D860-EF32-182C09DDAD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TextBox 25">
              <a:extLst>
                <a:ext uri="{FF2B5EF4-FFF2-40B4-BE49-F238E27FC236}">
                  <a16:creationId xmlns:a16="http://schemas.microsoft.com/office/drawing/2014/main" id="{0E538540-34AB-8C16-80B6-1DC709C9452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89" name="Group 26">
            <a:extLst>
              <a:ext uri="{FF2B5EF4-FFF2-40B4-BE49-F238E27FC236}">
                <a16:creationId xmlns:a16="http://schemas.microsoft.com/office/drawing/2014/main" id="{A6581107-5724-B296-596D-878D421DF514}"/>
              </a:ext>
            </a:extLst>
          </p:cNvPr>
          <p:cNvGrpSpPr/>
          <p:nvPr/>
        </p:nvGrpSpPr>
        <p:grpSpPr>
          <a:xfrm>
            <a:off x="30369683" y="3134754"/>
            <a:ext cx="362073" cy="362073"/>
            <a:chOff x="0" y="0"/>
            <a:chExt cx="812800" cy="812800"/>
          </a:xfrm>
        </p:grpSpPr>
        <p:sp>
          <p:nvSpPr>
            <p:cNvPr id="90" name="Freeform 27">
              <a:extLst>
                <a:ext uri="{FF2B5EF4-FFF2-40B4-BE49-F238E27FC236}">
                  <a16:creationId xmlns:a16="http://schemas.microsoft.com/office/drawing/2014/main" id="{EB363D35-0A9F-BA72-6873-2CA47202DF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TextBox 28">
              <a:extLst>
                <a:ext uri="{FF2B5EF4-FFF2-40B4-BE49-F238E27FC236}">
                  <a16:creationId xmlns:a16="http://schemas.microsoft.com/office/drawing/2014/main" id="{796A7BC5-2722-85CC-2585-90934123260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92" name="AutoShape 29">
            <a:extLst>
              <a:ext uri="{FF2B5EF4-FFF2-40B4-BE49-F238E27FC236}">
                <a16:creationId xmlns:a16="http://schemas.microsoft.com/office/drawing/2014/main" id="{635B450A-3B61-B9A3-C494-3A9377F9BD91}"/>
              </a:ext>
            </a:extLst>
          </p:cNvPr>
          <p:cNvSpPr/>
          <p:nvPr/>
        </p:nvSpPr>
        <p:spPr>
          <a:xfrm flipV="1">
            <a:off x="21377162" y="3315791"/>
            <a:ext cx="2756125" cy="3508560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3" name="AutoShape 30">
            <a:extLst>
              <a:ext uri="{FF2B5EF4-FFF2-40B4-BE49-F238E27FC236}">
                <a16:creationId xmlns:a16="http://schemas.microsoft.com/office/drawing/2014/main" id="{ED1CD4D1-D3A3-2133-0E40-7C00278EFFB9}"/>
              </a:ext>
            </a:extLst>
          </p:cNvPr>
          <p:cNvSpPr/>
          <p:nvPr/>
        </p:nvSpPr>
        <p:spPr>
          <a:xfrm flipH="1" flipV="1">
            <a:off x="30731756" y="3315791"/>
            <a:ext cx="2756125" cy="3508560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4" name="AutoShape 31">
            <a:extLst>
              <a:ext uri="{FF2B5EF4-FFF2-40B4-BE49-F238E27FC236}">
                <a16:creationId xmlns:a16="http://schemas.microsoft.com/office/drawing/2014/main" id="{95E19ADD-4030-A739-DAE0-5EB3F49535CC}"/>
              </a:ext>
            </a:extLst>
          </p:cNvPr>
          <p:cNvSpPr/>
          <p:nvPr/>
        </p:nvSpPr>
        <p:spPr>
          <a:xfrm flipV="1">
            <a:off x="27613558" y="3315791"/>
            <a:ext cx="2756125" cy="3508560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5" name="AutoShape 32">
            <a:extLst>
              <a:ext uri="{FF2B5EF4-FFF2-40B4-BE49-F238E27FC236}">
                <a16:creationId xmlns:a16="http://schemas.microsoft.com/office/drawing/2014/main" id="{6EABC213-9972-05DF-D315-410002CC1756}"/>
              </a:ext>
            </a:extLst>
          </p:cNvPr>
          <p:cNvSpPr/>
          <p:nvPr/>
        </p:nvSpPr>
        <p:spPr>
          <a:xfrm>
            <a:off x="24495360" y="3315791"/>
            <a:ext cx="2756125" cy="3508560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1" name="TextBox 43">
            <a:extLst>
              <a:ext uri="{FF2B5EF4-FFF2-40B4-BE49-F238E27FC236}">
                <a16:creationId xmlns:a16="http://schemas.microsoft.com/office/drawing/2014/main" id="{A34CCE53-C26E-4009-2F2A-AA74A341CB10}"/>
              </a:ext>
            </a:extLst>
          </p:cNvPr>
          <p:cNvSpPr txBox="1"/>
          <p:nvPr/>
        </p:nvSpPr>
        <p:spPr>
          <a:xfrm>
            <a:off x="32556055" y="7571053"/>
            <a:ext cx="2225726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Nomination de Raul Fernandez en tant que PDG</a:t>
            </a:r>
          </a:p>
        </p:txBody>
      </p:sp>
      <p:sp>
        <p:nvSpPr>
          <p:cNvPr id="102" name="TextBox 44">
            <a:extLst>
              <a:ext uri="{FF2B5EF4-FFF2-40B4-BE49-F238E27FC236}">
                <a16:creationId xmlns:a16="http://schemas.microsoft.com/office/drawing/2014/main" id="{00BD0816-30F0-6FA1-1979-4CB58C14EDBE}"/>
              </a:ext>
            </a:extLst>
          </p:cNvPr>
          <p:cNvSpPr txBox="1"/>
          <p:nvPr/>
        </p:nvSpPr>
        <p:spPr>
          <a:xfrm>
            <a:off x="20391912" y="3279340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1959</a:t>
            </a:r>
          </a:p>
        </p:txBody>
      </p:sp>
      <p:sp>
        <p:nvSpPr>
          <p:cNvPr id="103" name="TextBox 45">
            <a:extLst>
              <a:ext uri="{FF2B5EF4-FFF2-40B4-BE49-F238E27FC236}">
                <a16:creationId xmlns:a16="http://schemas.microsoft.com/office/drawing/2014/main" id="{B0B41CA4-813A-B650-8FFE-E676A8D8388D}"/>
              </a:ext>
            </a:extLst>
          </p:cNvPr>
          <p:cNvSpPr txBox="1"/>
          <p:nvPr/>
        </p:nvSpPr>
        <p:spPr>
          <a:xfrm>
            <a:off x="26695635" y="3279340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2018</a:t>
            </a:r>
          </a:p>
        </p:txBody>
      </p:sp>
      <p:sp>
        <p:nvSpPr>
          <p:cNvPr id="104" name="TextBox 46">
            <a:extLst>
              <a:ext uri="{FF2B5EF4-FFF2-40B4-BE49-F238E27FC236}">
                <a16:creationId xmlns:a16="http://schemas.microsoft.com/office/drawing/2014/main" id="{803C9789-55E3-26BE-2245-AA0436782FDE}"/>
              </a:ext>
            </a:extLst>
          </p:cNvPr>
          <p:cNvSpPr txBox="1"/>
          <p:nvPr/>
        </p:nvSpPr>
        <p:spPr>
          <a:xfrm>
            <a:off x="23545030" y="6458649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2017</a:t>
            </a:r>
          </a:p>
        </p:txBody>
      </p:sp>
      <p:sp>
        <p:nvSpPr>
          <p:cNvPr id="105" name="TextBox 47">
            <a:extLst>
              <a:ext uri="{FF2B5EF4-FFF2-40B4-BE49-F238E27FC236}">
                <a16:creationId xmlns:a16="http://schemas.microsoft.com/office/drawing/2014/main" id="{A1CEBC2C-4E35-D6AE-A8F1-5384169B6E1E}"/>
              </a:ext>
            </a:extLst>
          </p:cNvPr>
          <p:cNvSpPr txBox="1"/>
          <p:nvPr/>
        </p:nvSpPr>
        <p:spPr>
          <a:xfrm>
            <a:off x="29785258" y="6458649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2019</a:t>
            </a:r>
          </a:p>
        </p:txBody>
      </p:sp>
      <p:sp>
        <p:nvSpPr>
          <p:cNvPr id="106" name="TextBox 48">
            <a:extLst>
              <a:ext uri="{FF2B5EF4-FFF2-40B4-BE49-F238E27FC236}">
                <a16:creationId xmlns:a16="http://schemas.microsoft.com/office/drawing/2014/main" id="{1A23F4DC-8342-B3E6-3AC6-D920D90DB890}"/>
              </a:ext>
            </a:extLst>
          </p:cNvPr>
          <p:cNvSpPr txBox="1"/>
          <p:nvPr/>
        </p:nvSpPr>
        <p:spPr>
          <a:xfrm>
            <a:off x="32999358" y="3279340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2024</a:t>
            </a:r>
          </a:p>
        </p:txBody>
      </p:sp>
      <p:sp>
        <p:nvSpPr>
          <p:cNvPr id="107" name="Freeform 49">
            <a:extLst>
              <a:ext uri="{FF2B5EF4-FFF2-40B4-BE49-F238E27FC236}">
                <a16:creationId xmlns:a16="http://schemas.microsoft.com/office/drawing/2014/main" id="{BE26AC06-3590-467C-ACD9-42D864A0F603}"/>
              </a:ext>
            </a:extLst>
          </p:cNvPr>
          <p:cNvSpPr/>
          <p:nvPr/>
        </p:nvSpPr>
        <p:spPr>
          <a:xfrm>
            <a:off x="8337735" y="3332295"/>
            <a:ext cx="537764" cy="440966"/>
          </a:xfrm>
          <a:custGeom>
            <a:avLst/>
            <a:gdLst/>
            <a:ahLst/>
            <a:cxnLst/>
            <a:rect l="l" t="t" r="r" b="b"/>
            <a:pathLst>
              <a:path w="537764" h="440966">
                <a:moveTo>
                  <a:pt x="0" y="0"/>
                </a:moveTo>
                <a:lnTo>
                  <a:pt x="537764" y="0"/>
                </a:lnTo>
                <a:lnTo>
                  <a:pt x="537764" y="440967"/>
                </a:lnTo>
                <a:lnTo>
                  <a:pt x="0" y="4409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08" name="Freeform 49">
            <a:extLst>
              <a:ext uri="{FF2B5EF4-FFF2-40B4-BE49-F238E27FC236}">
                <a16:creationId xmlns:a16="http://schemas.microsoft.com/office/drawing/2014/main" id="{8D677A2A-4F26-4B0B-9F60-31EC9AC076B3}"/>
              </a:ext>
            </a:extLst>
          </p:cNvPr>
          <p:cNvSpPr/>
          <p:nvPr/>
        </p:nvSpPr>
        <p:spPr>
          <a:xfrm>
            <a:off x="9146479" y="5411777"/>
            <a:ext cx="537764" cy="440966"/>
          </a:xfrm>
          <a:custGeom>
            <a:avLst/>
            <a:gdLst/>
            <a:ahLst/>
            <a:cxnLst/>
            <a:rect l="l" t="t" r="r" b="b"/>
            <a:pathLst>
              <a:path w="537764" h="440966">
                <a:moveTo>
                  <a:pt x="0" y="0"/>
                </a:moveTo>
                <a:lnTo>
                  <a:pt x="537764" y="0"/>
                </a:lnTo>
                <a:lnTo>
                  <a:pt x="537764" y="440967"/>
                </a:lnTo>
                <a:lnTo>
                  <a:pt x="0" y="4409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09" name="Freeform 49">
            <a:extLst>
              <a:ext uri="{FF2B5EF4-FFF2-40B4-BE49-F238E27FC236}">
                <a16:creationId xmlns:a16="http://schemas.microsoft.com/office/drawing/2014/main" id="{63360FBA-FEF7-4FC9-8450-7318F9EE4F0D}"/>
              </a:ext>
            </a:extLst>
          </p:cNvPr>
          <p:cNvSpPr/>
          <p:nvPr/>
        </p:nvSpPr>
        <p:spPr>
          <a:xfrm>
            <a:off x="9110547" y="6409043"/>
            <a:ext cx="537764" cy="440966"/>
          </a:xfrm>
          <a:custGeom>
            <a:avLst/>
            <a:gdLst/>
            <a:ahLst/>
            <a:cxnLst/>
            <a:rect l="l" t="t" r="r" b="b"/>
            <a:pathLst>
              <a:path w="537764" h="440966">
                <a:moveTo>
                  <a:pt x="0" y="0"/>
                </a:moveTo>
                <a:lnTo>
                  <a:pt x="537764" y="0"/>
                </a:lnTo>
                <a:lnTo>
                  <a:pt x="537764" y="440967"/>
                </a:lnTo>
                <a:lnTo>
                  <a:pt x="0" y="4409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10" name="Freeform 49">
            <a:extLst>
              <a:ext uri="{FF2B5EF4-FFF2-40B4-BE49-F238E27FC236}">
                <a16:creationId xmlns:a16="http://schemas.microsoft.com/office/drawing/2014/main" id="{A42BD64A-DA72-4692-A296-7A1E6E9358D6}"/>
              </a:ext>
            </a:extLst>
          </p:cNvPr>
          <p:cNvSpPr/>
          <p:nvPr/>
        </p:nvSpPr>
        <p:spPr>
          <a:xfrm>
            <a:off x="8833168" y="7492586"/>
            <a:ext cx="537764" cy="440966"/>
          </a:xfrm>
          <a:custGeom>
            <a:avLst/>
            <a:gdLst/>
            <a:ahLst/>
            <a:cxnLst/>
            <a:rect l="l" t="t" r="r" b="b"/>
            <a:pathLst>
              <a:path w="537764" h="440966">
                <a:moveTo>
                  <a:pt x="0" y="0"/>
                </a:moveTo>
                <a:lnTo>
                  <a:pt x="537764" y="0"/>
                </a:lnTo>
                <a:lnTo>
                  <a:pt x="537764" y="440967"/>
                </a:lnTo>
                <a:lnTo>
                  <a:pt x="0" y="4409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11" name="Freeform 49">
            <a:extLst>
              <a:ext uri="{FF2B5EF4-FFF2-40B4-BE49-F238E27FC236}">
                <a16:creationId xmlns:a16="http://schemas.microsoft.com/office/drawing/2014/main" id="{2F8385D3-FA2F-4915-8FC8-9DA5BF5EEC21}"/>
              </a:ext>
            </a:extLst>
          </p:cNvPr>
          <p:cNvSpPr/>
          <p:nvPr/>
        </p:nvSpPr>
        <p:spPr>
          <a:xfrm>
            <a:off x="8348867" y="8539255"/>
            <a:ext cx="537764" cy="440966"/>
          </a:xfrm>
          <a:custGeom>
            <a:avLst/>
            <a:gdLst/>
            <a:ahLst/>
            <a:cxnLst/>
            <a:rect l="l" t="t" r="r" b="b"/>
            <a:pathLst>
              <a:path w="537764" h="440966">
                <a:moveTo>
                  <a:pt x="0" y="0"/>
                </a:moveTo>
                <a:lnTo>
                  <a:pt x="537764" y="0"/>
                </a:lnTo>
                <a:lnTo>
                  <a:pt x="537764" y="440967"/>
                </a:lnTo>
                <a:lnTo>
                  <a:pt x="0" y="4409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9AC2175-B0BF-4054-97A4-F253519320E2}"/>
              </a:ext>
            </a:extLst>
          </p:cNvPr>
          <p:cNvSpPr/>
          <p:nvPr/>
        </p:nvSpPr>
        <p:spPr>
          <a:xfrm>
            <a:off x="10142276" y="389418"/>
            <a:ext cx="3441968" cy="5381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970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sz="1970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971809" y="3771251"/>
            <a:ext cx="12344382" cy="4968614"/>
          </a:xfrm>
          <a:custGeom>
            <a:avLst/>
            <a:gdLst/>
            <a:ahLst/>
            <a:cxnLst/>
            <a:rect l="l" t="t" r="r" b="b"/>
            <a:pathLst>
              <a:path w="12344382" h="4968614">
                <a:moveTo>
                  <a:pt x="0" y="0"/>
                </a:moveTo>
                <a:lnTo>
                  <a:pt x="12344382" y="0"/>
                </a:lnTo>
                <a:lnTo>
                  <a:pt x="12344382" y="4968614"/>
                </a:lnTo>
                <a:lnTo>
                  <a:pt x="0" y="496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1028700" y="1816293"/>
            <a:ext cx="762550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2.1. Problématique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Analyse &amp; Conception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57873" y="527899"/>
            <a:ext cx="3320336" cy="650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970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sz="1970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  <a:p>
            <a:pPr algn="ctr">
              <a:lnSpc>
                <a:spcPts val="2612"/>
              </a:lnSpc>
            </a:pPr>
            <a:endParaRPr lang="en-US" sz="1970" dirty="0">
              <a:solidFill>
                <a:srgbClr val="2B2D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78398" y="532059"/>
            <a:ext cx="2133598" cy="6504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 b="1" dirty="0" err="1">
                <a:solidFill>
                  <a:srgbClr val="5F249F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Contexte</a:t>
            </a:r>
            <a:r>
              <a:rPr lang="en-US" sz="1865" b="1" dirty="0">
                <a:solidFill>
                  <a:srgbClr val="5F249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865" b="1" dirty="0" err="1">
                <a:solidFill>
                  <a:srgbClr val="5F249F"/>
                </a:solidFill>
                <a:latin typeface="Poppins Bold"/>
                <a:ea typeface="Poppins Bold"/>
                <a:cs typeface="Poppins Bold"/>
                <a:sym typeface="Poppins Bold"/>
              </a:rPr>
              <a:t>Général</a:t>
            </a:r>
            <a:endParaRPr lang="en-US" sz="1865" b="1" dirty="0">
              <a:solidFill>
                <a:srgbClr val="5F249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20006" y="4506031"/>
            <a:ext cx="10447987" cy="192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2"/>
              </a:lnSpc>
            </a:pPr>
            <a:r>
              <a:rPr lang="fr-FR" sz="2800" dirty="0">
                <a:solidFill>
                  <a:schemeClr val="tx2"/>
                </a:solidFill>
                <a:latin typeface="Poppins" panose="020B0604020202020204" charset="0"/>
                <a:cs typeface="Poppins" panose="020B0604020202020204" charset="0"/>
              </a:rPr>
              <a:t>Comment concevoir un assistant pédagogique intelligent capable de guider les étudiants en cybersécurité par le questionnement socratique, tout en s'adaptant dynamiquement à leur niveau de compréhension ?</a:t>
            </a:r>
            <a:endParaRPr lang="en-US" sz="2722" dirty="0">
              <a:solidFill>
                <a:schemeClr val="tx2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551821" y="8623810"/>
            <a:ext cx="465597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6</a:t>
            </a:r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639E3A6C-9EF4-FCCE-6138-EC429903D26B}"/>
              </a:ext>
            </a:extLst>
          </p:cNvPr>
          <p:cNvGrpSpPr/>
          <p:nvPr/>
        </p:nvGrpSpPr>
        <p:grpSpPr>
          <a:xfrm rot="-5400000">
            <a:off x="21139478" y="3206422"/>
            <a:ext cx="101232" cy="774985"/>
            <a:chOff x="0" y="0"/>
            <a:chExt cx="375637" cy="458920"/>
          </a:xfrm>
        </p:grpSpPr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7759D8D5-BB87-D356-1756-BEF97D10B1EA}"/>
                </a:ext>
              </a:extLst>
            </p:cNvPr>
            <p:cNvSpPr/>
            <p:nvPr/>
          </p:nvSpPr>
          <p:spPr>
            <a:xfrm>
              <a:off x="0" y="0"/>
              <a:ext cx="375637" cy="449735"/>
            </a:xfrm>
            <a:custGeom>
              <a:avLst/>
              <a:gdLst/>
              <a:ahLst/>
              <a:cxnLst/>
              <a:rect l="l" t="t" r="r" b="b"/>
              <a:pathLst>
                <a:path w="375637" h="449735">
                  <a:moveTo>
                    <a:pt x="375637" y="45806"/>
                  </a:moveTo>
                  <a:lnTo>
                    <a:pt x="375637" y="298814"/>
                  </a:lnTo>
                  <a:cubicBezTo>
                    <a:pt x="375637" y="327259"/>
                    <a:pt x="360806" y="353646"/>
                    <a:pt x="336507" y="368433"/>
                  </a:cubicBezTo>
                  <a:lnTo>
                    <a:pt x="226948" y="435107"/>
                  </a:lnTo>
                  <a:cubicBezTo>
                    <a:pt x="202912" y="449735"/>
                    <a:pt x="172725" y="449735"/>
                    <a:pt x="148689" y="435107"/>
                  </a:cubicBezTo>
                  <a:lnTo>
                    <a:pt x="39130" y="368433"/>
                  </a:lnTo>
                  <a:cubicBezTo>
                    <a:pt x="14831" y="353646"/>
                    <a:pt x="0" y="327259"/>
                    <a:pt x="0" y="298814"/>
                  </a:cubicBezTo>
                  <a:lnTo>
                    <a:pt x="0" y="45806"/>
                  </a:lnTo>
                  <a:cubicBezTo>
                    <a:pt x="0" y="20508"/>
                    <a:pt x="20508" y="0"/>
                    <a:pt x="45806" y="0"/>
                  </a:cubicBezTo>
                  <a:lnTo>
                    <a:pt x="329831" y="0"/>
                  </a:lnTo>
                  <a:cubicBezTo>
                    <a:pt x="355129" y="0"/>
                    <a:pt x="375637" y="20508"/>
                    <a:pt x="375637" y="45806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 sz="1000"/>
            </a:p>
          </p:txBody>
        </p:sp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id="{3518EFBA-82CA-DBF9-44A9-387297C83EBE}"/>
                </a:ext>
              </a:extLst>
            </p:cNvPr>
            <p:cNvSpPr txBox="1"/>
            <p:nvPr/>
          </p:nvSpPr>
          <p:spPr>
            <a:xfrm>
              <a:off x="0" y="-57150"/>
              <a:ext cx="375637" cy="40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 sz="1000"/>
            </a:p>
          </p:txBody>
        </p:sp>
      </p:grpSp>
      <p:grpSp>
        <p:nvGrpSpPr>
          <p:cNvPr id="21" name="Group 12">
            <a:extLst>
              <a:ext uri="{FF2B5EF4-FFF2-40B4-BE49-F238E27FC236}">
                <a16:creationId xmlns:a16="http://schemas.microsoft.com/office/drawing/2014/main" id="{B43252D6-B86E-058F-1672-9E74627339AB}"/>
              </a:ext>
            </a:extLst>
          </p:cNvPr>
          <p:cNvGrpSpPr/>
          <p:nvPr/>
        </p:nvGrpSpPr>
        <p:grpSpPr>
          <a:xfrm rot="-5400000">
            <a:off x="21139479" y="4811029"/>
            <a:ext cx="101232" cy="774984"/>
            <a:chOff x="0" y="0"/>
            <a:chExt cx="375637" cy="458920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68D31444-6C80-1684-A6F9-9D12916B9825}"/>
                </a:ext>
              </a:extLst>
            </p:cNvPr>
            <p:cNvSpPr/>
            <p:nvPr/>
          </p:nvSpPr>
          <p:spPr>
            <a:xfrm>
              <a:off x="0" y="0"/>
              <a:ext cx="375637" cy="449735"/>
            </a:xfrm>
            <a:custGeom>
              <a:avLst/>
              <a:gdLst/>
              <a:ahLst/>
              <a:cxnLst/>
              <a:rect l="l" t="t" r="r" b="b"/>
              <a:pathLst>
                <a:path w="375637" h="449735">
                  <a:moveTo>
                    <a:pt x="375637" y="45806"/>
                  </a:moveTo>
                  <a:lnTo>
                    <a:pt x="375637" y="298814"/>
                  </a:lnTo>
                  <a:cubicBezTo>
                    <a:pt x="375637" y="327259"/>
                    <a:pt x="360806" y="353646"/>
                    <a:pt x="336507" y="368433"/>
                  </a:cubicBezTo>
                  <a:lnTo>
                    <a:pt x="226948" y="435107"/>
                  </a:lnTo>
                  <a:cubicBezTo>
                    <a:pt x="202912" y="449735"/>
                    <a:pt x="172725" y="449735"/>
                    <a:pt x="148689" y="435107"/>
                  </a:cubicBezTo>
                  <a:lnTo>
                    <a:pt x="39130" y="368433"/>
                  </a:lnTo>
                  <a:cubicBezTo>
                    <a:pt x="14831" y="353646"/>
                    <a:pt x="0" y="327259"/>
                    <a:pt x="0" y="298814"/>
                  </a:cubicBezTo>
                  <a:lnTo>
                    <a:pt x="0" y="45806"/>
                  </a:lnTo>
                  <a:cubicBezTo>
                    <a:pt x="0" y="20508"/>
                    <a:pt x="20508" y="0"/>
                    <a:pt x="45806" y="0"/>
                  </a:cubicBezTo>
                  <a:lnTo>
                    <a:pt x="329831" y="0"/>
                  </a:lnTo>
                  <a:cubicBezTo>
                    <a:pt x="355129" y="0"/>
                    <a:pt x="375637" y="20508"/>
                    <a:pt x="375637" y="45806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 sz="1000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D4E18B6A-7435-C0FD-D411-DC7910F0CA87}"/>
                </a:ext>
              </a:extLst>
            </p:cNvPr>
            <p:cNvSpPr txBox="1"/>
            <p:nvPr/>
          </p:nvSpPr>
          <p:spPr>
            <a:xfrm>
              <a:off x="0" y="-57150"/>
              <a:ext cx="375637" cy="40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 sz="1000"/>
            </a:p>
          </p:txBody>
        </p:sp>
      </p:grpSp>
      <p:grpSp>
        <p:nvGrpSpPr>
          <p:cNvPr id="27" name="Group 18">
            <a:extLst>
              <a:ext uri="{FF2B5EF4-FFF2-40B4-BE49-F238E27FC236}">
                <a16:creationId xmlns:a16="http://schemas.microsoft.com/office/drawing/2014/main" id="{23F3C859-8FB0-CCC6-71CD-0BF5D4700EB3}"/>
              </a:ext>
            </a:extLst>
          </p:cNvPr>
          <p:cNvGrpSpPr/>
          <p:nvPr/>
        </p:nvGrpSpPr>
        <p:grpSpPr>
          <a:xfrm rot="-5400000">
            <a:off x="21139479" y="8021815"/>
            <a:ext cx="101232" cy="774984"/>
            <a:chOff x="0" y="0"/>
            <a:chExt cx="375637" cy="458920"/>
          </a:xfrm>
        </p:grpSpPr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AA41EAA6-8C01-B4E5-AD30-2ED6D9C445D5}"/>
                </a:ext>
              </a:extLst>
            </p:cNvPr>
            <p:cNvSpPr/>
            <p:nvPr/>
          </p:nvSpPr>
          <p:spPr>
            <a:xfrm>
              <a:off x="0" y="0"/>
              <a:ext cx="375637" cy="449735"/>
            </a:xfrm>
            <a:custGeom>
              <a:avLst/>
              <a:gdLst/>
              <a:ahLst/>
              <a:cxnLst/>
              <a:rect l="l" t="t" r="r" b="b"/>
              <a:pathLst>
                <a:path w="375637" h="449735">
                  <a:moveTo>
                    <a:pt x="375637" y="45806"/>
                  </a:moveTo>
                  <a:lnTo>
                    <a:pt x="375637" y="298814"/>
                  </a:lnTo>
                  <a:cubicBezTo>
                    <a:pt x="375637" y="327259"/>
                    <a:pt x="360806" y="353646"/>
                    <a:pt x="336507" y="368433"/>
                  </a:cubicBezTo>
                  <a:lnTo>
                    <a:pt x="226948" y="435107"/>
                  </a:lnTo>
                  <a:cubicBezTo>
                    <a:pt x="202912" y="449735"/>
                    <a:pt x="172725" y="449735"/>
                    <a:pt x="148689" y="435107"/>
                  </a:cubicBezTo>
                  <a:lnTo>
                    <a:pt x="39130" y="368433"/>
                  </a:lnTo>
                  <a:cubicBezTo>
                    <a:pt x="14831" y="353646"/>
                    <a:pt x="0" y="327259"/>
                    <a:pt x="0" y="298814"/>
                  </a:cubicBezTo>
                  <a:lnTo>
                    <a:pt x="0" y="45806"/>
                  </a:lnTo>
                  <a:cubicBezTo>
                    <a:pt x="0" y="20508"/>
                    <a:pt x="20508" y="0"/>
                    <a:pt x="45806" y="0"/>
                  </a:cubicBezTo>
                  <a:lnTo>
                    <a:pt x="329831" y="0"/>
                  </a:lnTo>
                  <a:cubicBezTo>
                    <a:pt x="355129" y="0"/>
                    <a:pt x="375637" y="20508"/>
                    <a:pt x="375637" y="45806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 sz="1000"/>
            </a:p>
          </p:txBody>
        </p:sp>
        <p:sp>
          <p:nvSpPr>
            <p:cNvPr id="29" name="TextBox 20">
              <a:extLst>
                <a:ext uri="{FF2B5EF4-FFF2-40B4-BE49-F238E27FC236}">
                  <a16:creationId xmlns:a16="http://schemas.microsoft.com/office/drawing/2014/main" id="{4AD5FC57-6335-E1BE-0D0D-3CC5419DBCED}"/>
                </a:ext>
              </a:extLst>
            </p:cNvPr>
            <p:cNvSpPr txBox="1"/>
            <p:nvPr/>
          </p:nvSpPr>
          <p:spPr>
            <a:xfrm>
              <a:off x="0" y="-57150"/>
              <a:ext cx="375637" cy="40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 sz="1000"/>
            </a:p>
          </p:txBody>
        </p:sp>
      </p:grpSp>
      <p:grpSp>
        <p:nvGrpSpPr>
          <p:cNvPr id="30" name="Group 21">
            <a:extLst>
              <a:ext uri="{FF2B5EF4-FFF2-40B4-BE49-F238E27FC236}">
                <a16:creationId xmlns:a16="http://schemas.microsoft.com/office/drawing/2014/main" id="{C8C9FA19-6016-9DB5-2EAA-74D6FDD7B0A1}"/>
              </a:ext>
            </a:extLst>
          </p:cNvPr>
          <p:cNvGrpSpPr/>
          <p:nvPr/>
        </p:nvGrpSpPr>
        <p:grpSpPr>
          <a:xfrm rot="-5400000">
            <a:off x="21813311" y="3006786"/>
            <a:ext cx="45719" cy="83824"/>
            <a:chOff x="0" y="0"/>
            <a:chExt cx="812800" cy="812800"/>
          </a:xfrm>
        </p:grpSpPr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887F6744-7B75-9633-244A-C04F758BEC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 sz="1000"/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2F2757CA-FE01-68FF-26DE-F1C4FB1EF41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 sz="1000"/>
            </a:p>
          </p:txBody>
        </p:sp>
      </p:grpSp>
      <p:grpSp>
        <p:nvGrpSpPr>
          <p:cNvPr id="33" name="Group 24">
            <a:extLst>
              <a:ext uri="{FF2B5EF4-FFF2-40B4-BE49-F238E27FC236}">
                <a16:creationId xmlns:a16="http://schemas.microsoft.com/office/drawing/2014/main" id="{7D27CEEA-197C-532B-F5C6-A589F984E314}"/>
              </a:ext>
            </a:extLst>
          </p:cNvPr>
          <p:cNvGrpSpPr/>
          <p:nvPr/>
        </p:nvGrpSpPr>
        <p:grpSpPr>
          <a:xfrm rot="-5400000">
            <a:off x="21813311" y="4611392"/>
            <a:ext cx="45719" cy="83824"/>
            <a:chOff x="0" y="0"/>
            <a:chExt cx="812800" cy="812800"/>
          </a:xfrm>
        </p:grpSpPr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3DF545A6-7A3F-8B51-D708-4FD7646CD93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D9E4F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 sz="1000"/>
            </a:p>
          </p:txBody>
        </p:sp>
        <p:sp>
          <p:nvSpPr>
            <p:cNvPr id="35" name="TextBox 26">
              <a:extLst>
                <a:ext uri="{FF2B5EF4-FFF2-40B4-BE49-F238E27FC236}">
                  <a16:creationId xmlns:a16="http://schemas.microsoft.com/office/drawing/2014/main" id="{02A38049-714E-359A-AB96-90CD03826E8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63"/>
                </a:lnSpc>
                <a:spcBef>
                  <a:spcPct val="0"/>
                </a:spcBef>
              </a:pPr>
              <a:endParaRPr sz="1000"/>
            </a:p>
          </p:txBody>
        </p:sp>
      </p:grpSp>
      <p:grpSp>
        <p:nvGrpSpPr>
          <p:cNvPr id="36" name="Group 27">
            <a:extLst>
              <a:ext uri="{FF2B5EF4-FFF2-40B4-BE49-F238E27FC236}">
                <a16:creationId xmlns:a16="http://schemas.microsoft.com/office/drawing/2014/main" id="{F23B1C1C-8383-2EE6-3AD3-12F660DF275E}"/>
              </a:ext>
            </a:extLst>
          </p:cNvPr>
          <p:cNvGrpSpPr/>
          <p:nvPr/>
        </p:nvGrpSpPr>
        <p:grpSpPr>
          <a:xfrm rot="-5400000">
            <a:off x="21813311" y="6215998"/>
            <a:ext cx="45719" cy="83824"/>
            <a:chOff x="0" y="0"/>
            <a:chExt cx="812800" cy="812800"/>
          </a:xfrm>
        </p:grpSpPr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5FCFA6C9-6B5F-74E6-6BB1-F389B28E37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6732A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 sz="1000"/>
            </a:p>
          </p:txBody>
        </p:sp>
        <p:sp>
          <p:nvSpPr>
            <p:cNvPr id="38" name="TextBox 29">
              <a:extLst>
                <a:ext uri="{FF2B5EF4-FFF2-40B4-BE49-F238E27FC236}">
                  <a16:creationId xmlns:a16="http://schemas.microsoft.com/office/drawing/2014/main" id="{042E7302-346D-D6AF-1C93-9BA55DC71BB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63"/>
                </a:lnSpc>
                <a:spcBef>
                  <a:spcPct val="0"/>
                </a:spcBef>
              </a:pPr>
              <a:endParaRPr sz="1000"/>
            </a:p>
          </p:txBody>
        </p:sp>
      </p:grpSp>
      <p:grpSp>
        <p:nvGrpSpPr>
          <p:cNvPr id="39" name="Group 30">
            <a:extLst>
              <a:ext uri="{FF2B5EF4-FFF2-40B4-BE49-F238E27FC236}">
                <a16:creationId xmlns:a16="http://schemas.microsoft.com/office/drawing/2014/main" id="{82FCED61-4B73-B1C7-5F5A-300C23D1AC57}"/>
              </a:ext>
            </a:extLst>
          </p:cNvPr>
          <p:cNvGrpSpPr/>
          <p:nvPr/>
        </p:nvGrpSpPr>
        <p:grpSpPr>
          <a:xfrm rot="-5400000">
            <a:off x="21813311" y="7822179"/>
            <a:ext cx="45719" cy="83824"/>
            <a:chOff x="0" y="0"/>
            <a:chExt cx="812800" cy="812800"/>
          </a:xfrm>
        </p:grpSpPr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6C03DFD5-AB31-B175-2B96-EE55535831D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D9E4F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 sz="1000"/>
            </a:p>
          </p:txBody>
        </p:sp>
        <p:sp>
          <p:nvSpPr>
            <p:cNvPr id="41" name="TextBox 32">
              <a:extLst>
                <a:ext uri="{FF2B5EF4-FFF2-40B4-BE49-F238E27FC236}">
                  <a16:creationId xmlns:a16="http://schemas.microsoft.com/office/drawing/2014/main" id="{1027FA3F-23CE-0EF4-4CFC-F6EF176439E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63"/>
                </a:lnSpc>
                <a:spcBef>
                  <a:spcPct val="0"/>
                </a:spcBef>
              </a:pPr>
              <a:endParaRPr sz="1000"/>
            </a:p>
          </p:txBody>
        </p:sp>
      </p:grpSp>
      <p:sp>
        <p:nvSpPr>
          <p:cNvPr id="43" name="Freeform 34">
            <a:extLst>
              <a:ext uri="{FF2B5EF4-FFF2-40B4-BE49-F238E27FC236}">
                <a16:creationId xmlns:a16="http://schemas.microsoft.com/office/drawing/2014/main" id="{1F62DB76-2088-5627-0B61-6CF25DC0D660}"/>
              </a:ext>
            </a:extLst>
          </p:cNvPr>
          <p:cNvSpPr/>
          <p:nvPr/>
        </p:nvSpPr>
        <p:spPr>
          <a:xfrm>
            <a:off x="26100038" y="6069504"/>
            <a:ext cx="2525720" cy="124023"/>
          </a:xfrm>
          <a:custGeom>
            <a:avLst/>
            <a:gdLst/>
            <a:ahLst/>
            <a:cxnLst/>
            <a:rect l="l" t="t" r="r" b="b"/>
            <a:pathLst>
              <a:path w="5257457" h="1617714">
                <a:moveTo>
                  <a:pt x="0" y="0"/>
                </a:moveTo>
                <a:lnTo>
                  <a:pt x="5257457" y="0"/>
                </a:lnTo>
                <a:lnTo>
                  <a:pt x="5257457" y="1617714"/>
                </a:lnTo>
                <a:lnTo>
                  <a:pt x="0" y="1617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24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sz="1000"/>
          </a:p>
        </p:txBody>
      </p:sp>
      <p:sp>
        <p:nvSpPr>
          <p:cNvPr id="44" name="Freeform 35">
            <a:extLst>
              <a:ext uri="{FF2B5EF4-FFF2-40B4-BE49-F238E27FC236}">
                <a16:creationId xmlns:a16="http://schemas.microsoft.com/office/drawing/2014/main" id="{A915EBFC-58FD-A632-1431-E531CD89140F}"/>
              </a:ext>
            </a:extLst>
          </p:cNvPr>
          <p:cNvSpPr/>
          <p:nvPr/>
        </p:nvSpPr>
        <p:spPr>
          <a:xfrm>
            <a:off x="26100038" y="7687218"/>
            <a:ext cx="2525720" cy="124023"/>
          </a:xfrm>
          <a:custGeom>
            <a:avLst/>
            <a:gdLst/>
            <a:ahLst/>
            <a:cxnLst/>
            <a:rect l="l" t="t" r="r" b="b"/>
            <a:pathLst>
              <a:path w="5257457" h="1617714">
                <a:moveTo>
                  <a:pt x="0" y="0"/>
                </a:moveTo>
                <a:lnTo>
                  <a:pt x="5257457" y="0"/>
                </a:lnTo>
                <a:lnTo>
                  <a:pt x="5257457" y="1617714"/>
                </a:lnTo>
                <a:lnTo>
                  <a:pt x="0" y="1617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24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sz="1000"/>
          </a:p>
        </p:txBody>
      </p:sp>
      <p:grpSp>
        <p:nvGrpSpPr>
          <p:cNvPr id="55" name="Group 46">
            <a:extLst>
              <a:ext uri="{FF2B5EF4-FFF2-40B4-BE49-F238E27FC236}">
                <a16:creationId xmlns:a16="http://schemas.microsoft.com/office/drawing/2014/main" id="{E4575516-7523-2119-B664-A1D28D0AA734}"/>
              </a:ext>
            </a:extLst>
          </p:cNvPr>
          <p:cNvGrpSpPr/>
          <p:nvPr/>
        </p:nvGrpSpPr>
        <p:grpSpPr>
          <a:xfrm rot="5400000">
            <a:off x="27689941" y="6595771"/>
            <a:ext cx="101232" cy="3627073"/>
            <a:chOff x="0" y="0"/>
            <a:chExt cx="375637" cy="2147829"/>
          </a:xfrm>
        </p:grpSpPr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80ED9CBB-E034-B473-5476-0CE991101BA2}"/>
                </a:ext>
              </a:extLst>
            </p:cNvPr>
            <p:cNvSpPr/>
            <p:nvPr/>
          </p:nvSpPr>
          <p:spPr>
            <a:xfrm>
              <a:off x="0" y="0"/>
              <a:ext cx="375637" cy="2138644"/>
            </a:xfrm>
            <a:custGeom>
              <a:avLst/>
              <a:gdLst/>
              <a:ahLst/>
              <a:cxnLst/>
              <a:rect l="l" t="t" r="r" b="b"/>
              <a:pathLst>
                <a:path w="375637" h="2138644">
                  <a:moveTo>
                    <a:pt x="375637" y="45806"/>
                  </a:moveTo>
                  <a:lnTo>
                    <a:pt x="375637" y="1987723"/>
                  </a:lnTo>
                  <a:cubicBezTo>
                    <a:pt x="375637" y="2016168"/>
                    <a:pt x="360806" y="2042555"/>
                    <a:pt x="336507" y="2057342"/>
                  </a:cubicBezTo>
                  <a:lnTo>
                    <a:pt x="226948" y="2124016"/>
                  </a:lnTo>
                  <a:cubicBezTo>
                    <a:pt x="202912" y="2138644"/>
                    <a:pt x="172725" y="2138644"/>
                    <a:pt x="148689" y="2124016"/>
                  </a:cubicBezTo>
                  <a:lnTo>
                    <a:pt x="39130" y="2057342"/>
                  </a:lnTo>
                  <a:cubicBezTo>
                    <a:pt x="14831" y="2042555"/>
                    <a:pt x="0" y="2016168"/>
                    <a:pt x="0" y="1987723"/>
                  </a:cubicBezTo>
                  <a:lnTo>
                    <a:pt x="0" y="45806"/>
                  </a:lnTo>
                  <a:cubicBezTo>
                    <a:pt x="0" y="20508"/>
                    <a:pt x="20508" y="0"/>
                    <a:pt x="45806" y="0"/>
                  </a:cubicBezTo>
                  <a:lnTo>
                    <a:pt x="329831" y="0"/>
                  </a:lnTo>
                  <a:cubicBezTo>
                    <a:pt x="355129" y="0"/>
                    <a:pt x="375637" y="20508"/>
                    <a:pt x="375637" y="45806"/>
                  </a:cubicBezTo>
                  <a:close/>
                </a:path>
              </a:pathLst>
            </a:custGeom>
            <a:solidFill>
              <a:srgbClr val="D9E4F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 sz="1000"/>
            </a:p>
          </p:txBody>
        </p:sp>
        <p:sp>
          <p:nvSpPr>
            <p:cNvPr id="57" name="TextBox 48">
              <a:extLst>
                <a:ext uri="{FF2B5EF4-FFF2-40B4-BE49-F238E27FC236}">
                  <a16:creationId xmlns:a16="http://schemas.microsoft.com/office/drawing/2014/main" id="{2BAC23E1-CF08-9429-C77D-3FC97ECC2783}"/>
                </a:ext>
              </a:extLst>
            </p:cNvPr>
            <p:cNvSpPr txBox="1"/>
            <p:nvPr/>
          </p:nvSpPr>
          <p:spPr>
            <a:xfrm>
              <a:off x="0" y="-57150"/>
              <a:ext cx="375637" cy="2090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63"/>
                </a:lnSpc>
                <a:spcBef>
                  <a:spcPct val="0"/>
                </a:spcBef>
              </a:pPr>
              <a:endParaRPr sz="1000"/>
            </a:p>
          </p:txBody>
        </p:sp>
      </p:grpSp>
      <p:sp>
        <p:nvSpPr>
          <p:cNvPr id="58" name="Freeform 50">
            <a:extLst>
              <a:ext uri="{FF2B5EF4-FFF2-40B4-BE49-F238E27FC236}">
                <a16:creationId xmlns:a16="http://schemas.microsoft.com/office/drawing/2014/main" id="{FAEE411F-76E8-8A86-1425-A54CB09B5F4C}"/>
              </a:ext>
            </a:extLst>
          </p:cNvPr>
          <p:cNvSpPr/>
          <p:nvPr/>
        </p:nvSpPr>
        <p:spPr>
          <a:xfrm>
            <a:off x="20665597" y="3298493"/>
            <a:ext cx="395600" cy="56898"/>
          </a:xfrm>
          <a:custGeom>
            <a:avLst/>
            <a:gdLst/>
            <a:ahLst/>
            <a:cxnLst/>
            <a:rect l="l" t="t" r="r" b="b"/>
            <a:pathLst>
              <a:path w="823469" h="742151">
                <a:moveTo>
                  <a:pt x="0" y="0"/>
                </a:moveTo>
                <a:lnTo>
                  <a:pt x="823469" y="0"/>
                </a:lnTo>
                <a:lnTo>
                  <a:pt x="823469" y="742152"/>
                </a:lnTo>
                <a:lnTo>
                  <a:pt x="0" y="7421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sz="1000"/>
          </a:p>
        </p:txBody>
      </p:sp>
      <p:sp>
        <p:nvSpPr>
          <p:cNvPr id="63" name="Freeform 61">
            <a:extLst>
              <a:ext uri="{FF2B5EF4-FFF2-40B4-BE49-F238E27FC236}">
                <a16:creationId xmlns:a16="http://schemas.microsoft.com/office/drawing/2014/main" id="{230DBBAB-A692-DA57-9117-C9AC56AC67EB}"/>
              </a:ext>
            </a:extLst>
          </p:cNvPr>
          <p:cNvSpPr/>
          <p:nvPr/>
        </p:nvSpPr>
        <p:spPr>
          <a:xfrm>
            <a:off x="20665597" y="6508493"/>
            <a:ext cx="395600" cy="56898"/>
          </a:xfrm>
          <a:custGeom>
            <a:avLst/>
            <a:gdLst/>
            <a:ahLst/>
            <a:cxnLst/>
            <a:rect l="l" t="t" r="r" b="b"/>
            <a:pathLst>
              <a:path w="823469" h="742151">
                <a:moveTo>
                  <a:pt x="0" y="0"/>
                </a:moveTo>
                <a:lnTo>
                  <a:pt x="823469" y="0"/>
                </a:lnTo>
                <a:lnTo>
                  <a:pt x="823469" y="742151"/>
                </a:lnTo>
                <a:lnTo>
                  <a:pt x="0" y="742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sz="1000"/>
          </a:p>
        </p:txBody>
      </p:sp>
      <p:sp>
        <p:nvSpPr>
          <p:cNvPr id="64" name="Freeform 62">
            <a:extLst>
              <a:ext uri="{FF2B5EF4-FFF2-40B4-BE49-F238E27FC236}">
                <a16:creationId xmlns:a16="http://schemas.microsoft.com/office/drawing/2014/main" id="{3DA5328F-84FD-48FE-F150-4479B99DD475}"/>
              </a:ext>
            </a:extLst>
          </p:cNvPr>
          <p:cNvSpPr/>
          <p:nvPr/>
        </p:nvSpPr>
        <p:spPr>
          <a:xfrm>
            <a:off x="20665597" y="4886792"/>
            <a:ext cx="395600" cy="56898"/>
          </a:xfrm>
          <a:custGeom>
            <a:avLst/>
            <a:gdLst/>
            <a:ahLst/>
            <a:cxnLst/>
            <a:rect l="l" t="t" r="r" b="b"/>
            <a:pathLst>
              <a:path w="823469" h="742151">
                <a:moveTo>
                  <a:pt x="0" y="0"/>
                </a:moveTo>
                <a:lnTo>
                  <a:pt x="823469" y="0"/>
                </a:lnTo>
                <a:lnTo>
                  <a:pt x="823469" y="742152"/>
                </a:lnTo>
                <a:lnTo>
                  <a:pt x="0" y="7421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sz="1000"/>
          </a:p>
        </p:txBody>
      </p:sp>
      <p:sp>
        <p:nvSpPr>
          <p:cNvPr id="65" name="Freeform 63">
            <a:extLst>
              <a:ext uri="{FF2B5EF4-FFF2-40B4-BE49-F238E27FC236}">
                <a16:creationId xmlns:a16="http://schemas.microsoft.com/office/drawing/2014/main" id="{574EED58-D072-B81F-F88B-D3B23F5EBDDA}"/>
              </a:ext>
            </a:extLst>
          </p:cNvPr>
          <p:cNvSpPr/>
          <p:nvPr/>
        </p:nvSpPr>
        <p:spPr>
          <a:xfrm>
            <a:off x="20665597" y="8096791"/>
            <a:ext cx="395600" cy="56898"/>
          </a:xfrm>
          <a:custGeom>
            <a:avLst/>
            <a:gdLst/>
            <a:ahLst/>
            <a:cxnLst/>
            <a:rect l="l" t="t" r="r" b="b"/>
            <a:pathLst>
              <a:path w="823469" h="742151">
                <a:moveTo>
                  <a:pt x="0" y="0"/>
                </a:moveTo>
                <a:lnTo>
                  <a:pt x="823469" y="0"/>
                </a:lnTo>
                <a:lnTo>
                  <a:pt x="823469" y="742152"/>
                </a:lnTo>
                <a:lnTo>
                  <a:pt x="0" y="7421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sz="1000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7351768" y="2976097"/>
            <a:ext cx="1320431" cy="1613186"/>
            <a:chOff x="0" y="0"/>
            <a:chExt cx="375637" cy="458920"/>
          </a:xfrm>
          <a:solidFill>
            <a:schemeClr val="tx2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5637" cy="449735"/>
            </a:xfrm>
            <a:custGeom>
              <a:avLst/>
              <a:gdLst/>
              <a:ahLst/>
              <a:cxnLst/>
              <a:rect l="l" t="t" r="r" b="b"/>
              <a:pathLst>
                <a:path w="375637" h="449735">
                  <a:moveTo>
                    <a:pt x="375637" y="45806"/>
                  </a:moveTo>
                  <a:lnTo>
                    <a:pt x="375637" y="298814"/>
                  </a:lnTo>
                  <a:cubicBezTo>
                    <a:pt x="375637" y="327259"/>
                    <a:pt x="360806" y="353646"/>
                    <a:pt x="336507" y="368433"/>
                  </a:cubicBezTo>
                  <a:lnTo>
                    <a:pt x="226948" y="435107"/>
                  </a:lnTo>
                  <a:cubicBezTo>
                    <a:pt x="202912" y="449735"/>
                    <a:pt x="172725" y="449735"/>
                    <a:pt x="148689" y="435107"/>
                  </a:cubicBezTo>
                  <a:lnTo>
                    <a:pt x="39130" y="368433"/>
                  </a:lnTo>
                  <a:cubicBezTo>
                    <a:pt x="14831" y="353646"/>
                    <a:pt x="0" y="327259"/>
                    <a:pt x="0" y="298814"/>
                  </a:cubicBezTo>
                  <a:lnTo>
                    <a:pt x="0" y="45806"/>
                  </a:lnTo>
                  <a:cubicBezTo>
                    <a:pt x="0" y="20508"/>
                    <a:pt x="20508" y="0"/>
                    <a:pt x="45806" y="0"/>
                  </a:cubicBezTo>
                  <a:lnTo>
                    <a:pt x="329831" y="0"/>
                  </a:lnTo>
                  <a:cubicBezTo>
                    <a:pt x="355129" y="0"/>
                    <a:pt x="375637" y="20508"/>
                    <a:pt x="375637" y="45806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75637" cy="40177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7351767" y="4580705"/>
            <a:ext cx="1320431" cy="1613186"/>
            <a:chOff x="0" y="0"/>
            <a:chExt cx="375637" cy="4589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5637" cy="449735"/>
            </a:xfrm>
            <a:custGeom>
              <a:avLst/>
              <a:gdLst/>
              <a:ahLst/>
              <a:cxnLst/>
              <a:rect l="l" t="t" r="r" b="b"/>
              <a:pathLst>
                <a:path w="375637" h="449735">
                  <a:moveTo>
                    <a:pt x="375637" y="45806"/>
                  </a:moveTo>
                  <a:lnTo>
                    <a:pt x="375637" y="298814"/>
                  </a:lnTo>
                  <a:cubicBezTo>
                    <a:pt x="375637" y="327259"/>
                    <a:pt x="360806" y="353646"/>
                    <a:pt x="336507" y="368433"/>
                  </a:cubicBezTo>
                  <a:lnTo>
                    <a:pt x="226948" y="435107"/>
                  </a:lnTo>
                  <a:cubicBezTo>
                    <a:pt x="202912" y="449735"/>
                    <a:pt x="172725" y="449735"/>
                    <a:pt x="148689" y="435107"/>
                  </a:cubicBezTo>
                  <a:lnTo>
                    <a:pt x="39130" y="368433"/>
                  </a:lnTo>
                  <a:cubicBezTo>
                    <a:pt x="14831" y="353646"/>
                    <a:pt x="0" y="327259"/>
                    <a:pt x="0" y="298814"/>
                  </a:cubicBezTo>
                  <a:lnTo>
                    <a:pt x="0" y="45806"/>
                  </a:lnTo>
                  <a:cubicBezTo>
                    <a:pt x="0" y="20508"/>
                    <a:pt x="20508" y="0"/>
                    <a:pt x="45806" y="0"/>
                  </a:cubicBezTo>
                  <a:lnTo>
                    <a:pt x="329831" y="0"/>
                  </a:lnTo>
                  <a:cubicBezTo>
                    <a:pt x="355129" y="0"/>
                    <a:pt x="375637" y="20508"/>
                    <a:pt x="375637" y="45806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375637" cy="40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400000">
            <a:off x="7351767" y="6185311"/>
            <a:ext cx="1320431" cy="1613186"/>
            <a:chOff x="0" y="0"/>
            <a:chExt cx="375637" cy="458920"/>
          </a:xfrm>
          <a:solidFill>
            <a:schemeClr val="tx2"/>
          </a:solidFill>
        </p:grpSpPr>
        <p:sp>
          <p:nvSpPr>
            <p:cNvPr id="16" name="Freeform 16"/>
            <p:cNvSpPr/>
            <p:nvPr/>
          </p:nvSpPr>
          <p:spPr>
            <a:xfrm>
              <a:off x="0" y="0"/>
              <a:ext cx="375637" cy="449735"/>
            </a:xfrm>
            <a:custGeom>
              <a:avLst/>
              <a:gdLst/>
              <a:ahLst/>
              <a:cxnLst/>
              <a:rect l="l" t="t" r="r" b="b"/>
              <a:pathLst>
                <a:path w="375637" h="449735">
                  <a:moveTo>
                    <a:pt x="375637" y="45806"/>
                  </a:moveTo>
                  <a:lnTo>
                    <a:pt x="375637" y="298814"/>
                  </a:lnTo>
                  <a:cubicBezTo>
                    <a:pt x="375637" y="327259"/>
                    <a:pt x="360806" y="353646"/>
                    <a:pt x="336507" y="368433"/>
                  </a:cubicBezTo>
                  <a:lnTo>
                    <a:pt x="226948" y="435107"/>
                  </a:lnTo>
                  <a:cubicBezTo>
                    <a:pt x="202912" y="449735"/>
                    <a:pt x="172725" y="449735"/>
                    <a:pt x="148689" y="435107"/>
                  </a:cubicBezTo>
                  <a:lnTo>
                    <a:pt x="39130" y="368433"/>
                  </a:lnTo>
                  <a:cubicBezTo>
                    <a:pt x="14831" y="353646"/>
                    <a:pt x="0" y="327259"/>
                    <a:pt x="0" y="298814"/>
                  </a:cubicBezTo>
                  <a:lnTo>
                    <a:pt x="0" y="45806"/>
                  </a:lnTo>
                  <a:cubicBezTo>
                    <a:pt x="0" y="20508"/>
                    <a:pt x="20508" y="0"/>
                    <a:pt x="45806" y="0"/>
                  </a:cubicBezTo>
                  <a:lnTo>
                    <a:pt x="329831" y="0"/>
                  </a:lnTo>
                  <a:cubicBezTo>
                    <a:pt x="355129" y="0"/>
                    <a:pt x="375637" y="20508"/>
                    <a:pt x="375637" y="45806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75637" cy="40177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5400000">
            <a:off x="7351767" y="7791491"/>
            <a:ext cx="1320431" cy="1613186"/>
            <a:chOff x="0" y="0"/>
            <a:chExt cx="375637" cy="4589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75637" cy="449735"/>
            </a:xfrm>
            <a:custGeom>
              <a:avLst/>
              <a:gdLst/>
              <a:ahLst/>
              <a:cxnLst/>
              <a:rect l="l" t="t" r="r" b="b"/>
              <a:pathLst>
                <a:path w="375637" h="449735">
                  <a:moveTo>
                    <a:pt x="375637" y="45806"/>
                  </a:moveTo>
                  <a:lnTo>
                    <a:pt x="375637" y="298814"/>
                  </a:lnTo>
                  <a:cubicBezTo>
                    <a:pt x="375637" y="327259"/>
                    <a:pt x="360806" y="353646"/>
                    <a:pt x="336507" y="368433"/>
                  </a:cubicBezTo>
                  <a:lnTo>
                    <a:pt x="226948" y="435107"/>
                  </a:lnTo>
                  <a:cubicBezTo>
                    <a:pt x="202912" y="449735"/>
                    <a:pt x="172725" y="449735"/>
                    <a:pt x="148689" y="435107"/>
                  </a:cubicBezTo>
                  <a:lnTo>
                    <a:pt x="39130" y="368433"/>
                  </a:lnTo>
                  <a:cubicBezTo>
                    <a:pt x="14831" y="353646"/>
                    <a:pt x="0" y="327259"/>
                    <a:pt x="0" y="298814"/>
                  </a:cubicBezTo>
                  <a:lnTo>
                    <a:pt x="0" y="45806"/>
                  </a:lnTo>
                  <a:cubicBezTo>
                    <a:pt x="0" y="20508"/>
                    <a:pt x="20508" y="0"/>
                    <a:pt x="45806" y="0"/>
                  </a:cubicBezTo>
                  <a:lnTo>
                    <a:pt x="329831" y="0"/>
                  </a:lnTo>
                  <a:cubicBezTo>
                    <a:pt x="355129" y="0"/>
                    <a:pt x="375637" y="20508"/>
                    <a:pt x="375637" y="45806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375637" cy="40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8944587" y="3695449"/>
            <a:ext cx="174485" cy="174485"/>
            <a:chOff x="0" y="0"/>
            <a:chExt cx="812800" cy="812800"/>
          </a:xfrm>
          <a:solidFill>
            <a:schemeClr val="tx2"/>
          </a:solidFill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5400000">
            <a:off x="8944587" y="5300055"/>
            <a:ext cx="174485" cy="17448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D9E4F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6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5400000">
            <a:off x="8944587" y="6904661"/>
            <a:ext cx="174485" cy="174485"/>
            <a:chOff x="0" y="0"/>
            <a:chExt cx="812800" cy="812800"/>
          </a:xfrm>
          <a:solidFill>
            <a:schemeClr val="tx2"/>
          </a:solidFill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6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-5400000">
            <a:off x="8944587" y="8510842"/>
            <a:ext cx="174485" cy="174485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D9E4F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6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10609290" y="3828251"/>
            <a:ext cx="5257457" cy="1617714"/>
          </a:xfrm>
          <a:custGeom>
            <a:avLst/>
            <a:gdLst/>
            <a:ahLst/>
            <a:cxnLst/>
            <a:rect l="l" t="t" r="r" b="b"/>
            <a:pathLst>
              <a:path w="5257457" h="1617714">
                <a:moveTo>
                  <a:pt x="0" y="0"/>
                </a:moveTo>
                <a:lnTo>
                  <a:pt x="5257457" y="0"/>
                </a:lnTo>
                <a:lnTo>
                  <a:pt x="5257457" y="1617715"/>
                </a:lnTo>
                <a:lnTo>
                  <a:pt x="0" y="16177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4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4" name="Freeform 34"/>
          <p:cNvSpPr/>
          <p:nvPr/>
        </p:nvSpPr>
        <p:spPr>
          <a:xfrm>
            <a:off x="10609290" y="5374190"/>
            <a:ext cx="5257457" cy="1617714"/>
          </a:xfrm>
          <a:custGeom>
            <a:avLst/>
            <a:gdLst/>
            <a:ahLst/>
            <a:cxnLst/>
            <a:rect l="l" t="t" r="r" b="b"/>
            <a:pathLst>
              <a:path w="5257457" h="1617714">
                <a:moveTo>
                  <a:pt x="0" y="0"/>
                </a:moveTo>
                <a:lnTo>
                  <a:pt x="5257457" y="0"/>
                </a:lnTo>
                <a:lnTo>
                  <a:pt x="5257457" y="1617714"/>
                </a:lnTo>
                <a:lnTo>
                  <a:pt x="0" y="16177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4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5" name="Freeform 35"/>
          <p:cNvSpPr/>
          <p:nvPr/>
        </p:nvSpPr>
        <p:spPr>
          <a:xfrm>
            <a:off x="10609290" y="6991904"/>
            <a:ext cx="5257457" cy="1617714"/>
          </a:xfrm>
          <a:custGeom>
            <a:avLst/>
            <a:gdLst/>
            <a:ahLst/>
            <a:cxnLst/>
            <a:rect l="l" t="t" r="r" b="b"/>
            <a:pathLst>
              <a:path w="5257457" h="1617714">
                <a:moveTo>
                  <a:pt x="0" y="0"/>
                </a:moveTo>
                <a:lnTo>
                  <a:pt x="5257457" y="0"/>
                </a:lnTo>
                <a:lnTo>
                  <a:pt x="5257457" y="1617714"/>
                </a:lnTo>
                <a:lnTo>
                  <a:pt x="0" y="16177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4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6" name="Freeform 36"/>
          <p:cNvSpPr/>
          <p:nvPr/>
        </p:nvSpPr>
        <p:spPr>
          <a:xfrm>
            <a:off x="10609290" y="8669286"/>
            <a:ext cx="5257457" cy="1617714"/>
          </a:xfrm>
          <a:custGeom>
            <a:avLst/>
            <a:gdLst/>
            <a:ahLst/>
            <a:cxnLst/>
            <a:rect l="l" t="t" r="r" b="b"/>
            <a:pathLst>
              <a:path w="5257457" h="1617714">
                <a:moveTo>
                  <a:pt x="0" y="0"/>
                </a:moveTo>
                <a:lnTo>
                  <a:pt x="5257457" y="0"/>
                </a:lnTo>
                <a:lnTo>
                  <a:pt x="5257457" y="1617714"/>
                </a:lnTo>
                <a:lnTo>
                  <a:pt x="0" y="16177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4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37" name="Group 37"/>
          <p:cNvGrpSpPr/>
          <p:nvPr/>
        </p:nvGrpSpPr>
        <p:grpSpPr>
          <a:xfrm rot="5400000">
            <a:off x="12476458" y="-76611"/>
            <a:ext cx="1320431" cy="7718604"/>
            <a:chOff x="0" y="-57150"/>
            <a:chExt cx="375637" cy="219579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75637" cy="2138644"/>
            </a:xfrm>
            <a:custGeom>
              <a:avLst/>
              <a:gdLst/>
              <a:ahLst/>
              <a:cxnLst/>
              <a:rect l="l" t="t" r="r" b="b"/>
              <a:pathLst>
                <a:path w="375637" h="2138644">
                  <a:moveTo>
                    <a:pt x="375637" y="45806"/>
                  </a:moveTo>
                  <a:lnTo>
                    <a:pt x="375637" y="1987723"/>
                  </a:lnTo>
                  <a:cubicBezTo>
                    <a:pt x="375637" y="2016168"/>
                    <a:pt x="360806" y="2042555"/>
                    <a:pt x="336507" y="2057342"/>
                  </a:cubicBezTo>
                  <a:lnTo>
                    <a:pt x="226948" y="2124016"/>
                  </a:lnTo>
                  <a:cubicBezTo>
                    <a:pt x="202912" y="2138644"/>
                    <a:pt x="172725" y="2138644"/>
                    <a:pt x="148689" y="2124016"/>
                  </a:cubicBezTo>
                  <a:lnTo>
                    <a:pt x="39130" y="2057342"/>
                  </a:lnTo>
                  <a:cubicBezTo>
                    <a:pt x="14831" y="2042555"/>
                    <a:pt x="0" y="2016168"/>
                    <a:pt x="0" y="1987723"/>
                  </a:cubicBezTo>
                  <a:lnTo>
                    <a:pt x="0" y="45806"/>
                  </a:lnTo>
                  <a:cubicBezTo>
                    <a:pt x="0" y="20508"/>
                    <a:pt x="20508" y="0"/>
                    <a:pt x="45806" y="0"/>
                  </a:cubicBezTo>
                  <a:lnTo>
                    <a:pt x="329831" y="0"/>
                  </a:lnTo>
                  <a:cubicBezTo>
                    <a:pt x="355129" y="0"/>
                    <a:pt x="375637" y="20508"/>
                    <a:pt x="375637" y="4580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/>
            <a:lstStyle/>
            <a:p>
              <a:endParaRPr lang="fr-FR">
                <a:solidFill>
                  <a:schemeClr val="tx2"/>
                </a:solidFill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375637" cy="2090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5400000">
            <a:off x="12359868" y="1612298"/>
            <a:ext cx="1320431" cy="7549999"/>
            <a:chOff x="0" y="0"/>
            <a:chExt cx="375637" cy="214782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75637" cy="2138644"/>
            </a:xfrm>
            <a:custGeom>
              <a:avLst/>
              <a:gdLst/>
              <a:ahLst/>
              <a:cxnLst/>
              <a:rect l="l" t="t" r="r" b="b"/>
              <a:pathLst>
                <a:path w="375637" h="2138644">
                  <a:moveTo>
                    <a:pt x="375637" y="45806"/>
                  </a:moveTo>
                  <a:lnTo>
                    <a:pt x="375637" y="1987723"/>
                  </a:lnTo>
                  <a:cubicBezTo>
                    <a:pt x="375637" y="2016168"/>
                    <a:pt x="360806" y="2042555"/>
                    <a:pt x="336507" y="2057342"/>
                  </a:cubicBezTo>
                  <a:lnTo>
                    <a:pt x="226948" y="2124016"/>
                  </a:lnTo>
                  <a:cubicBezTo>
                    <a:pt x="202912" y="2138644"/>
                    <a:pt x="172725" y="2138644"/>
                    <a:pt x="148689" y="2124016"/>
                  </a:cubicBezTo>
                  <a:lnTo>
                    <a:pt x="39130" y="2057342"/>
                  </a:lnTo>
                  <a:cubicBezTo>
                    <a:pt x="14831" y="2042555"/>
                    <a:pt x="0" y="2016168"/>
                    <a:pt x="0" y="1987723"/>
                  </a:cubicBezTo>
                  <a:lnTo>
                    <a:pt x="0" y="45806"/>
                  </a:lnTo>
                  <a:cubicBezTo>
                    <a:pt x="0" y="20508"/>
                    <a:pt x="20508" y="0"/>
                    <a:pt x="45806" y="0"/>
                  </a:cubicBezTo>
                  <a:lnTo>
                    <a:pt x="329831" y="0"/>
                  </a:lnTo>
                  <a:cubicBezTo>
                    <a:pt x="355129" y="0"/>
                    <a:pt x="375637" y="20508"/>
                    <a:pt x="375637" y="45806"/>
                  </a:cubicBezTo>
                  <a:close/>
                </a:path>
              </a:pathLst>
            </a:custGeom>
            <a:solidFill>
              <a:srgbClr val="D9E4F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375637" cy="2090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6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 rot="5400000">
            <a:off x="12359868" y="3216904"/>
            <a:ext cx="1320431" cy="7549999"/>
            <a:chOff x="0" y="0"/>
            <a:chExt cx="375637" cy="2147829"/>
          </a:xfrm>
          <a:solidFill>
            <a:schemeClr val="tx2"/>
          </a:solidFill>
        </p:grpSpPr>
        <p:sp>
          <p:nvSpPr>
            <p:cNvPr id="44" name="Freeform 44"/>
            <p:cNvSpPr/>
            <p:nvPr/>
          </p:nvSpPr>
          <p:spPr>
            <a:xfrm>
              <a:off x="0" y="0"/>
              <a:ext cx="375637" cy="2138644"/>
            </a:xfrm>
            <a:custGeom>
              <a:avLst/>
              <a:gdLst/>
              <a:ahLst/>
              <a:cxnLst/>
              <a:rect l="l" t="t" r="r" b="b"/>
              <a:pathLst>
                <a:path w="375637" h="2138644">
                  <a:moveTo>
                    <a:pt x="375637" y="45806"/>
                  </a:moveTo>
                  <a:lnTo>
                    <a:pt x="375637" y="1987723"/>
                  </a:lnTo>
                  <a:cubicBezTo>
                    <a:pt x="375637" y="2016168"/>
                    <a:pt x="360806" y="2042555"/>
                    <a:pt x="336507" y="2057342"/>
                  </a:cubicBezTo>
                  <a:lnTo>
                    <a:pt x="226948" y="2124016"/>
                  </a:lnTo>
                  <a:cubicBezTo>
                    <a:pt x="202912" y="2138644"/>
                    <a:pt x="172725" y="2138644"/>
                    <a:pt x="148689" y="2124016"/>
                  </a:cubicBezTo>
                  <a:lnTo>
                    <a:pt x="39130" y="2057342"/>
                  </a:lnTo>
                  <a:cubicBezTo>
                    <a:pt x="14831" y="2042555"/>
                    <a:pt x="0" y="2016168"/>
                    <a:pt x="0" y="1987723"/>
                  </a:cubicBezTo>
                  <a:lnTo>
                    <a:pt x="0" y="45806"/>
                  </a:lnTo>
                  <a:cubicBezTo>
                    <a:pt x="0" y="20508"/>
                    <a:pt x="20508" y="0"/>
                    <a:pt x="45806" y="0"/>
                  </a:cubicBezTo>
                  <a:lnTo>
                    <a:pt x="329831" y="0"/>
                  </a:lnTo>
                  <a:cubicBezTo>
                    <a:pt x="355129" y="0"/>
                    <a:pt x="375637" y="20508"/>
                    <a:pt x="375637" y="45806"/>
                  </a:cubicBez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375637" cy="209067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6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12359868" y="4823085"/>
            <a:ext cx="1320431" cy="7549999"/>
            <a:chOff x="0" y="0"/>
            <a:chExt cx="375637" cy="214782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75637" cy="2138644"/>
            </a:xfrm>
            <a:custGeom>
              <a:avLst/>
              <a:gdLst/>
              <a:ahLst/>
              <a:cxnLst/>
              <a:rect l="l" t="t" r="r" b="b"/>
              <a:pathLst>
                <a:path w="375637" h="2138644">
                  <a:moveTo>
                    <a:pt x="375637" y="45806"/>
                  </a:moveTo>
                  <a:lnTo>
                    <a:pt x="375637" y="1987723"/>
                  </a:lnTo>
                  <a:cubicBezTo>
                    <a:pt x="375637" y="2016168"/>
                    <a:pt x="360806" y="2042555"/>
                    <a:pt x="336507" y="2057342"/>
                  </a:cubicBezTo>
                  <a:lnTo>
                    <a:pt x="226948" y="2124016"/>
                  </a:lnTo>
                  <a:cubicBezTo>
                    <a:pt x="202912" y="2138644"/>
                    <a:pt x="172725" y="2138644"/>
                    <a:pt x="148689" y="2124016"/>
                  </a:cubicBezTo>
                  <a:lnTo>
                    <a:pt x="39130" y="2057342"/>
                  </a:lnTo>
                  <a:cubicBezTo>
                    <a:pt x="14831" y="2042555"/>
                    <a:pt x="0" y="2016168"/>
                    <a:pt x="0" y="1987723"/>
                  </a:cubicBezTo>
                  <a:lnTo>
                    <a:pt x="0" y="45806"/>
                  </a:lnTo>
                  <a:cubicBezTo>
                    <a:pt x="0" y="20508"/>
                    <a:pt x="20508" y="0"/>
                    <a:pt x="45806" y="0"/>
                  </a:cubicBezTo>
                  <a:lnTo>
                    <a:pt x="329831" y="0"/>
                  </a:lnTo>
                  <a:cubicBezTo>
                    <a:pt x="355129" y="0"/>
                    <a:pt x="375637" y="20508"/>
                    <a:pt x="375637" y="45806"/>
                  </a:cubicBezTo>
                  <a:close/>
                </a:path>
              </a:pathLst>
            </a:custGeom>
            <a:solidFill>
              <a:srgbClr val="D9E4F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57150"/>
              <a:ext cx="375637" cy="2090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6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9" name="Freeform 49"/>
          <p:cNvSpPr/>
          <p:nvPr/>
        </p:nvSpPr>
        <p:spPr>
          <a:xfrm>
            <a:off x="879567" y="3388719"/>
            <a:ext cx="5001847" cy="5588656"/>
          </a:xfrm>
          <a:custGeom>
            <a:avLst/>
            <a:gdLst/>
            <a:ahLst/>
            <a:cxnLst/>
            <a:rect l="l" t="t" r="r" b="b"/>
            <a:pathLst>
              <a:path w="5001847" h="5588656">
                <a:moveTo>
                  <a:pt x="0" y="0"/>
                </a:moveTo>
                <a:lnTo>
                  <a:pt x="5001847" y="0"/>
                </a:lnTo>
                <a:lnTo>
                  <a:pt x="5001847" y="5588656"/>
                </a:lnTo>
                <a:lnTo>
                  <a:pt x="0" y="5588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0" name="Freeform 50"/>
          <p:cNvSpPr/>
          <p:nvPr/>
        </p:nvSpPr>
        <p:spPr>
          <a:xfrm>
            <a:off x="7478717" y="3411616"/>
            <a:ext cx="823469" cy="742151"/>
          </a:xfrm>
          <a:custGeom>
            <a:avLst/>
            <a:gdLst/>
            <a:ahLst/>
            <a:cxnLst/>
            <a:rect l="l" t="t" r="r" b="b"/>
            <a:pathLst>
              <a:path w="823469" h="742151">
                <a:moveTo>
                  <a:pt x="0" y="0"/>
                </a:moveTo>
                <a:lnTo>
                  <a:pt x="823469" y="0"/>
                </a:lnTo>
                <a:lnTo>
                  <a:pt x="823469" y="742152"/>
                </a:lnTo>
                <a:lnTo>
                  <a:pt x="0" y="7421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1" name="TextBox 51"/>
          <p:cNvSpPr txBox="1"/>
          <p:nvPr/>
        </p:nvSpPr>
        <p:spPr>
          <a:xfrm>
            <a:off x="1028700" y="1816293"/>
            <a:ext cx="762550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2.2. Objectifs du projet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Analyse &amp; Conception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456040" y="417747"/>
            <a:ext cx="3320336" cy="44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970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sz="1970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 b="1">
                <a:solidFill>
                  <a:srgbClr val="5F249F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Contexte Général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146524" y="3354067"/>
            <a:ext cx="6182989" cy="745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00"/>
              </a:lnSpc>
            </a:pPr>
            <a:r>
              <a:rPr lang="fr-FR" sz="2000" dirty="0">
                <a:solidFill>
                  <a:schemeClr val="bg1"/>
                </a:solidFill>
                <a:latin typeface="Poppins" panose="020B0604020202020204" charset="0"/>
                <a:cs typeface="Poppins" panose="020B0604020202020204" charset="0"/>
              </a:rPr>
              <a:t>Concevoir un pipeline optimisé</a:t>
            </a:r>
          </a:p>
          <a:p>
            <a:pPr lvl="0">
              <a:lnSpc>
                <a:spcPts val="3000"/>
              </a:lnSpc>
            </a:pPr>
            <a:endParaRPr lang="en-US" sz="2000" dirty="0">
              <a:solidFill>
                <a:schemeClr val="bg1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0146524" y="4958673"/>
            <a:ext cx="6182989" cy="74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00"/>
              </a:lnSpc>
            </a:pP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Personnaliser l'apprentissage selon le niveau de chaque étudiant</a:t>
            </a:r>
            <a:endParaRPr lang="en-US" sz="2000" dirty="0">
              <a:solidFill>
                <a:srgbClr val="2B2D42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0146524" y="6561863"/>
            <a:ext cx="6182989" cy="74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00"/>
              </a:lnSpc>
            </a:pPr>
            <a:r>
              <a:rPr lang="fr-FR" sz="2000" dirty="0">
                <a:solidFill>
                  <a:schemeClr val="bg1"/>
                </a:solidFill>
                <a:latin typeface="Poppins" panose="020B0604020202020204" charset="0"/>
                <a:cs typeface="Poppins" panose="020B0604020202020204" charset="0"/>
              </a:rPr>
              <a:t>Stimuler le raisonnement critique des étudiants en cybersécurité</a:t>
            </a:r>
            <a:endParaRPr lang="en-US" sz="2000" dirty="0">
              <a:solidFill>
                <a:schemeClr val="bg1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0146524" y="8180993"/>
            <a:ext cx="6182989" cy="74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00"/>
              </a:lnSpc>
            </a:pP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Déployer une interface intuitive et accessible pour les étudiants</a:t>
            </a:r>
            <a:endParaRPr lang="en-US" sz="2000" dirty="0">
              <a:solidFill>
                <a:srgbClr val="2B2D42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61" name="Freeform 61"/>
          <p:cNvSpPr/>
          <p:nvPr/>
        </p:nvSpPr>
        <p:spPr>
          <a:xfrm>
            <a:off x="7478717" y="6621616"/>
            <a:ext cx="823469" cy="742151"/>
          </a:xfrm>
          <a:custGeom>
            <a:avLst/>
            <a:gdLst/>
            <a:ahLst/>
            <a:cxnLst/>
            <a:rect l="l" t="t" r="r" b="b"/>
            <a:pathLst>
              <a:path w="823469" h="742151">
                <a:moveTo>
                  <a:pt x="0" y="0"/>
                </a:moveTo>
                <a:lnTo>
                  <a:pt x="823469" y="0"/>
                </a:lnTo>
                <a:lnTo>
                  <a:pt x="823469" y="742151"/>
                </a:lnTo>
                <a:lnTo>
                  <a:pt x="0" y="7421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2" name="Freeform 62"/>
          <p:cNvSpPr/>
          <p:nvPr/>
        </p:nvSpPr>
        <p:spPr>
          <a:xfrm>
            <a:off x="7478717" y="4999915"/>
            <a:ext cx="823469" cy="742151"/>
          </a:xfrm>
          <a:custGeom>
            <a:avLst/>
            <a:gdLst/>
            <a:ahLst/>
            <a:cxnLst/>
            <a:rect l="l" t="t" r="r" b="b"/>
            <a:pathLst>
              <a:path w="823469" h="742151">
                <a:moveTo>
                  <a:pt x="0" y="0"/>
                </a:moveTo>
                <a:lnTo>
                  <a:pt x="823469" y="0"/>
                </a:lnTo>
                <a:lnTo>
                  <a:pt x="823469" y="742152"/>
                </a:lnTo>
                <a:lnTo>
                  <a:pt x="0" y="7421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63" name="Freeform 63"/>
          <p:cNvSpPr/>
          <p:nvPr/>
        </p:nvSpPr>
        <p:spPr>
          <a:xfrm>
            <a:off x="7478717" y="8209914"/>
            <a:ext cx="823469" cy="742151"/>
          </a:xfrm>
          <a:custGeom>
            <a:avLst/>
            <a:gdLst/>
            <a:ahLst/>
            <a:cxnLst/>
            <a:rect l="l" t="t" r="r" b="b"/>
            <a:pathLst>
              <a:path w="823469" h="742151">
                <a:moveTo>
                  <a:pt x="0" y="0"/>
                </a:moveTo>
                <a:lnTo>
                  <a:pt x="823469" y="0"/>
                </a:lnTo>
                <a:lnTo>
                  <a:pt x="823469" y="742152"/>
                </a:lnTo>
                <a:lnTo>
                  <a:pt x="0" y="7421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4" name="TextBox 64"/>
          <p:cNvSpPr txBox="1"/>
          <p:nvPr/>
        </p:nvSpPr>
        <p:spPr>
          <a:xfrm>
            <a:off x="17504300" y="8623810"/>
            <a:ext cx="560640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336232" y="7258708"/>
            <a:ext cx="1046926" cy="1912204"/>
          </a:xfrm>
          <a:custGeom>
            <a:avLst/>
            <a:gdLst/>
            <a:ahLst/>
            <a:cxnLst/>
            <a:rect l="l" t="t" r="r" b="b"/>
            <a:pathLst>
              <a:path w="1046926" h="1912204">
                <a:moveTo>
                  <a:pt x="0" y="0"/>
                </a:moveTo>
                <a:lnTo>
                  <a:pt x="1046926" y="0"/>
                </a:lnTo>
                <a:lnTo>
                  <a:pt x="1046926" y="1912204"/>
                </a:lnTo>
                <a:lnTo>
                  <a:pt x="0" y="1912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8264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2720769" y="7456221"/>
            <a:ext cx="1912204" cy="1467449"/>
            <a:chOff x="0" y="0"/>
            <a:chExt cx="597607" cy="458611"/>
          </a:xfrm>
          <a:solidFill>
            <a:schemeClr val="tx2"/>
          </a:solid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597607" cy="458611"/>
            </a:xfrm>
            <a:custGeom>
              <a:avLst/>
              <a:gdLst/>
              <a:ahLst/>
              <a:cxnLst/>
              <a:rect l="l" t="t" r="r" b="b"/>
              <a:pathLst>
                <a:path w="597607" h="458611">
                  <a:moveTo>
                    <a:pt x="199310" y="439542"/>
                  </a:moveTo>
                  <a:cubicBezTo>
                    <a:pt x="229948" y="451056"/>
                    <a:pt x="264779" y="458611"/>
                    <a:pt x="298964" y="458611"/>
                  </a:cubicBezTo>
                  <a:cubicBezTo>
                    <a:pt x="333151" y="458611"/>
                    <a:pt x="366047" y="452134"/>
                    <a:pt x="396362" y="440620"/>
                  </a:cubicBezTo>
                  <a:cubicBezTo>
                    <a:pt x="397008" y="440261"/>
                    <a:pt x="397652" y="440261"/>
                    <a:pt x="398297" y="439901"/>
                  </a:cubicBezTo>
                  <a:cubicBezTo>
                    <a:pt x="512142" y="393846"/>
                    <a:pt x="595995" y="272232"/>
                    <a:pt x="597607" y="137977"/>
                  </a:cubicBezTo>
                  <a:lnTo>
                    <a:pt x="597607" y="0"/>
                  </a:lnTo>
                  <a:lnTo>
                    <a:pt x="0" y="0"/>
                  </a:lnTo>
                  <a:lnTo>
                    <a:pt x="0" y="137874"/>
                  </a:lnTo>
                  <a:cubicBezTo>
                    <a:pt x="1613" y="272951"/>
                    <a:pt x="84175" y="394566"/>
                    <a:pt x="199310" y="43954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597607" cy="3887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9759944" y="7280271"/>
            <a:ext cx="1003073" cy="1912204"/>
          </a:xfrm>
          <a:custGeom>
            <a:avLst/>
            <a:gdLst/>
            <a:ahLst/>
            <a:cxnLst/>
            <a:rect l="l" t="t" r="r" b="b"/>
            <a:pathLst>
              <a:path w="1003073" h="1912204">
                <a:moveTo>
                  <a:pt x="0" y="0"/>
                </a:moveTo>
                <a:lnTo>
                  <a:pt x="1003073" y="0"/>
                </a:lnTo>
                <a:lnTo>
                  <a:pt x="1003073" y="1912204"/>
                </a:lnTo>
                <a:lnTo>
                  <a:pt x="0" y="1912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9063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9926259" y="7502649"/>
            <a:ext cx="1912204" cy="1467449"/>
            <a:chOff x="0" y="0"/>
            <a:chExt cx="597607" cy="458611"/>
          </a:xfrm>
          <a:solidFill>
            <a:schemeClr val="tx2"/>
          </a:solid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7607" cy="458611"/>
            </a:xfrm>
            <a:custGeom>
              <a:avLst/>
              <a:gdLst/>
              <a:ahLst/>
              <a:cxnLst/>
              <a:rect l="l" t="t" r="r" b="b"/>
              <a:pathLst>
                <a:path w="597607" h="458611">
                  <a:moveTo>
                    <a:pt x="199310" y="439542"/>
                  </a:moveTo>
                  <a:cubicBezTo>
                    <a:pt x="229948" y="451056"/>
                    <a:pt x="264779" y="458611"/>
                    <a:pt x="298964" y="458611"/>
                  </a:cubicBezTo>
                  <a:cubicBezTo>
                    <a:pt x="333151" y="458611"/>
                    <a:pt x="366047" y="452134"/>
                    <a:pt x="396362" y="440620"/>
                  </a:cubicBezTo>
                  <a:cubicBezTo>
                    <a:pt x="397008" y="440261"/>
                    <a:pt x="397652" y="440261"/>
                    <a:pt x="398297" y="439901"/>
                  </a:cubicBezTo>
                  <a:cubicBezTo>
                    <a:pt x="512142" y="393846"/>
                    <a:pt x="595995" y="272232"/>
                    <a:pt x="597607" y="137977"/>
                  </a:cubicBezTo>
                  <a:lnTo>
                    <a:pt x="597607" y="0"/>
                  </a:lnTo>
                  <a:lnTo>
                    <a:pt x="0" y="0"/>
                  </a:lnTo>
                  <a:lnTo>
                    <a:pt x="0" y="137874"/>
                  </a:lnTo>
                  <a:cubicBezTo>
                    <a:pt x="1613" y="272951"/>
                    <a:pt x="84175" y="394566"/>
                    <a:pt x="199310" y="43954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597607" cy="3887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6221860" y="7367578"/>
            <a:ext cx="1736864" cy="1912204"/>
          </a:xfrm>
          <a:custGeom>
            <a:avLst/>
            <a:gdLst/>
            <a:ahLst/>
            <a:cxnLst/>
            <a:rect l="l" t="t" r="r" b="b"/>
            <a:pathLst>
              <a:path w="943355" h="1912204">
                <a:moveTo>
                  <a:pt x="0" y="0"/>
                </a:moveTo>
                <a:lnTo>
                  <a:pt x="943356" y="0"/>
                </a:lnTo>
                <a:lnTo>
                  <a:pt x="943356" y="1912204"/>
                </a:lnTo>
                <a:lnTo>
                  <a:pt x="0" y="1912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027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18" name="Group 18"/>
          <p:cNvGrpSpPr/>
          <p:nvPr/>
        </p:nvGrpSpPr>
        <p:grpSpPr>
          <a:xfrm rot="5400000">
            <a:off x="6631423" y="7534755"/>
            <a:ext cx="1912204" cy="1467449"/>
            <a:chOff x="0" y="0"/>
            <a:chExt cx="597607" cy="45861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97607" cy="458611"/>
            </a:xfrm>
            <a:custGeom>
              <a:avLst/>
              <a:gdLst/>
              <a:ahLst/>
              <a:cxnLst/>
              <a:rect l="l" t="t" r="r" b="b"/>
              <a:pathLst>
                <a:path w="597607" h="458611">
                  <a:moveTo>
                    <a:pt x="199310" y="439542"/>
                  </a:moveTo>
                  <a:cubicBezTo>
                    <a:pt x="229948" y="451056"/>
                    <a:pt x="264779" y="458611"/>
                    <a:pt x="298964" y="458611"/>
                  </a:cubicBezTo>
                  <a:cubicBezTo>
                    <a:pt x="333151" y="458611"/>
                    <a:pt x="366047" y="452134"/>
                    <a:pt x="396362" y="440620"/>
                  </a:cubicBezTo>
                  <a:cubicBezTo>
                    <a:pt x="397008" y="440261"/>
                    <a:pt x="397652" y="440261"/>
                    <a:pt x="398297" y="439901"/>
                  </a:cubicBezTo>
                  <a:cubicBezTo>
                    <a:pt x="512142" y="393846"/>
                    <a:pt x="595995" y="272232"/>
                    <a:pt x="597607" y="137977"/>
                  </a:cubicBezTo>
                  <a:lnTo>
                    <a:pt x="597607" y="0"/>
                  </a:lnTo>
                  <a:lnTo>
                    <a:pt x="0" y="0"/>
                  </a:lnTo>
                  <a:lnTo>
                    <a:pt x="0" y="137874"/>
                  </a:lnTo>
                  <a:cubicBezTo>
                    <a:pt x="1613" y="272951"/>
                    <a:pt x="84175" y="394566"/>
                    <a:pt x="199310" y="439542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597607" cy="388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3609919" y="7367578"/>
            <a:ext cx="932270" cy="1912204"/>
          </a:xfrm>
          <a:custGeom>
            <a:avLst/>
            <a:gdLst/>
            <a:ahLst/>
            <a:cxnLst/>
            <a:rect l="l" t="t" r="r" b="b"/>
            <a:pathLst>
              <a:path w="932270" h="1912204">
                <a:moveTo>
                  <a:pt x="0" y="0"/>
                </a:moveTo>
                <a:lnTo>
                  <a:pt x="932269" y="0"/>
                </a:lnTo>
                <a:lnTo>
                  <a:pt x="932269" y="1912203"/>
                </a:lnTo>
                <a:lnTo>
                  <a:pt x="0" y="19122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51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22" name="Group 22"/>
          <p:cNvGrpSpPr/>
          <p:nvPr/>
        </p:nvGrpSpPr>
        <p:grpSpPr>
          <a:xfrm rot="5400000">
            <a:off x="13788880" y="7617496"/>
            <a:ext cx="1912204" cy="1467449"/>
            <a:chOff x="0" y="0"/>
            <a:chExt cx="597607" cy="45861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7607" cy="458611"/>
            </a:xfrm>
            <a:custGeom>
              <a:avLst/>
              <a:gdLst/>
              <a:ahLst/>
              <a:cxnLst/>
              <a:rect l="l" t="t" r="r" b="b"/>
              <a:pathLst>
                <a:path w="597607" h="458611">
                  <a:moveTo>
                    <a:pt x="199310" y="439542"/>
                  </a:moveTo>
                  <a:cubicBezTo>
                    <a:pt x="229948" y="451056"/>
                    <a:pt x="264779" y="458611"/>
                    <a:pt x="298964" y="458611"/>
                  </a:cubicBezTo>
                  <a:cubicBezTo>
                    <a:pt x="333151" y="458611"/>
                    <a:pt x="366047" y="452134"/>
                    <a:pt x="396362" y="440620"/>
                  </a:cubicBezTo>
                  <a:cubicBezTo>
                    <a:pt x="397008" y="440261"/>
                    <a:pt x="397652" y="440261"/>
                    <a:pt x="398297" y="439901"/>
                  </a:cubicBezTo>
                  <a:cubicBezTo>
                    <a:pt x="512142" y="393846"/>
                    <a:pt x="595995" y="272232"/>
                    <a:pt x="597607" y="137977"/>
                  </a:cubicBezTo>
                  <a:lnTo>
                    <a:pt x="597607" y="0"/>
                  </a:lnTo>
                  <a:lnTo>
                    <a:pt x="0" y="0"/>
                  </a:lnTo>
                  <a:lnTo>
                    <a:pt x="0" y="137874"/>
                  </a:lnTo>
                  <a:cubicBezTo>
                    <a:pt x="1613" y="272951"/>
                    <a:pt x="84175" y="394566"/>
                    <a:pt x="199310" y="439542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597607" cy="388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528690" y="3815948"/>
            <a:ext cx="2463541" cy="69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2800"/>
              </a:lnSpc>
              <a:spcBef>
                <a:spcPct val="0"/>
              </a:spcBef>
            </a:pPr>
            <a:r>
              <a:rPr lang="fr-FR" sz="2000" dirty="0">
                <a:solidFill>
                  <a:schemeClr val="accent1"/>
                </a:solidFill>
                <a:latin typeface="Poppins Bold" panose="020B0604020202020204" charset="0"/>
                <a:cs typeface="Poppins Bold" panose="020B0604020202020204" charset="0"/>
              </a:rPr>
              <a:t>Questionnement Socratique</a:t>
            </a:r>
            <a:endParaRPr lang="en-US" sz="2000" b="1" dirty="0">
              <a:solidFill>
                <a:schemeClr val="accent1"/>
              </a:solidFill>
              <a:latin typeface="Poppins Bold" panose="020B0604020202020204" charset="0"/>
              <a:ea typeface="Poppins Bold"/>
              <a:cs typeface="Poppins Bold" panose="020B0604020202020204" charset="0"/>
              <a:sym typeface="Poppi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788455" y="3796367"/>
            <a:ext cx="2463541" cy="34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2800"/>
              </a:lnSpc>
              <a:spcBef>
                <a:spcPct val="0"/>
              </a:spcBef>
            </a:pPr>
            <a:r>
              <a:rPr lang="fr-FR" sz="2000" dirty="0">
                <a:solidFill>
                  <a:schemeClr val="tx2"/>
                </a:solidFill>
                <a:latin typeface="Poppins Bold" panose="020B0604020202020204" charset="0"/>
                <a:cs typeface="Poppins Bold" panose="020B0604020202020204" charset="0"/>
              </a:rPr>
              <a:t>Pipeline RAG</a:t>
            </a:r>
            <a:endParaRPr lang="en-US" sz="2000" b="1" dirty="0">
              <a:solidFill>
                <a:schemeClr val="tx2"/>
              </a:solidFill>
              <a:latin typeface="Poppins Bold" panose="020B0604020202020204" charset="0"/>
              <a:ea typeface="Poppins Bold"/>
              <a:cs typeface="Poppins Bold" panose="020B0604020202020204" charset="0"/>
              <a:sym typeface="Poppi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455471" y="3796367"/>
            <a:ext cx="2463541" cy="700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2800"/>
              </a:lnSpc>
              <a:spcBef>
                <a:spcPct val="0"/>
              </a:spcBef>
            </a:pPr>
            <a:r>
              <a:rPr lang="fr-FR" sz="2000" dirty="0">
                <a:solidFill>
                  <a:schemeClr val="accent1"/>
                </a:solidFill>
                <a:latin typeface="Poppins Bold" panose="020B0604020202020204" charset="0"/>
                <a:cs typeface="Poppins Bold" panose="020B0604020202020204" charset="0"/>
              </a:rPr>
              <a:t>Calibration du Niveau</a:t>
            </a:r>
            <a:endParaRPr lang="en-US" sz="2000" b="1" dirty="0">
              <a:solidFill>
                <a:schemeClr val="accent1"/>
              </a:solidFill>
              <a:latin typeface="Poppins Bold" panose="020B0604020202020204" charset="0"/>
              <a:ea typeface="Poppins Bold"/>
              <a:cs typeface="Poppins Bold" panose="020B0604020202020204" charset="0"/>
              <a:sym typeface="Poppin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791126" y="3811624"/>
            <a:ext cx="2463541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2800"/>
              </a:lnSpc>
              <a:spcBef>
                <a:spcPct val="0"/>
              </a:spcBef>
            </a:pPr>
            <a:r>
              <a:rPr lang="fr-FR" sz="2000" dirty="0">
                <a:solidFill>
                  <a:schemeClr val="tx2"/>
                </a:solidFill>
                <a:latin typeface="Poppins Bold" panose="020B0604020202020204" charset="0"/>
                <a:cs typeface="Poppins Bold" panose="020B0604020202020204" charset="0"/>
              </a:rPr>
              <a:t>Gamification</a:t>
            </a:r>
            <a:r>
              <a:rPr lang="en-US" sz="2000" b="1" spc="64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29" name="AutoShape 29"/>
          <p:cNvSpPr/>
          <p:nvPr/>
        </p:nvSpPr>
        <p:spPr>
          <a:xfrm>
            <a:off x="4586595" y="3796367"/>
            <a:ext cx="0" cy="5314176"/>
          </a:xfrm>
          <a:prstGeom prst="line">
            <a:avLst/>
          </a:prstGeom>
          <a:ln w="38100" cap="flat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0" name="AutoShape 30"/>
          <p:cNvSpPr/>
          <p:nvPr/>
        </p:nvSpPr>
        <p:spPr>
          <a:xfrm flipH="1">
            <a:off x="11800195" y="3727550"/>
            <a:ext cx="18729" cy="5418497"/>
          </a:xfrm>
          <a:prstGeom prst="line">
            <a:avLst/>
          </a:prstGeom>
          <a:ln w="38100" cap="flat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1" name="AutoShape 31"/>
          <p:cNvSpPr/>
          <p:nvPr/>
        </p:nvSpPr>
        <p:spPr>
          <a:xfrm>
            <a:off x="8342261" y="3903967"/>
            <a:ext cx="0" cy="5314176"/>
          </a:xfrm>
          <a:prstGeom prst="line">
            <a:avLst/>
          </a:prstGeom>
          <a:ln w="38100" cap="flat">
            <a:solidFill>
              <a:srgbClr val="D9E4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32" name="AutoShape 32"/>
          <p:cNvSpPr/>
          <p:nvPr/>
        </p:nvSpPr>
        <p:spPr>
          <a:xfrm>
            <a:off x="15458120" y="3773978"/>
            <a:ext cx="0" cy="5314176"/>
          </a:xfrm>
          <a:prstGeom prst="line">
            <a:avLst/>
          </a:prstGeom>
          <a:ln w="38100" cap="flat">
            <a:solidFill>
              <a:srgbClr val="D9E4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3" name="Group 33"/>
          <p:cNvGrpSpPr/>
          <p:nvPr/>
        </p:nvGrpSpPr>
        <p:grpSpPr>
          <a:xfrm>
            <a:off x="4259083" y="3573751"/>
            <a:ext cx="637081" cy="635792"/>
            <a:chOff x="0" y="0"/>
            <a:chExt cx="849442" cy="847722"/>
          </a:xfrm>
          <a:solidFill>
            <a:schemeClr val="tx2"/>
          </a:solidFill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849442" cy="847722"/>
              <a:chOff x="0" y="0"/>
              <a:chExt cx="812800" cy="811155"/>
            </a:xfrm>
            <a:grpFill/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115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1155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grpFill/>
              <a:ln w="76200" cap="sq">
                <a:solidFill>
                  <a:schemeClr val="tx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  <a:grpFill/>
              <a:ln>
                <a:solidFill>
                  <a:schemeClr val="tx2"/>
                </a:solidFill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02017" y="222757"/>
              <a:ext cx="445406" cy="364108"/>
            </a:xfrm>
            <a:prstGeom prst="rect">
              <a:avLst/>
            </a:prstGeom>
            <a:grpFill/>
            <a:ln>
              <a:solidFill>
                <a:schemeClr val="tx2"/>
              </a:solidFill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1"/>
                </a:lnSpc>
              </a:pPr>
              <a:r>
                <a:rPr lang="en-US" sz="162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66191" y="3541817"/>
            <a:ext cx="637081" cy="635634"/>
            <a:chOff x="0" y="0"/>
            <a:chExt cx="849442" cy="847512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849442" cy="847512"/>
              <a:chOff x="0" y="0"/>
              <a:chExt cx="812800" cy="810954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095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0954">
                    <a:moveTo>
                      <a:pt x="406400" y="0"/>
                    </a:moveTo>
                    <a:cubicBezTo>
                      <a:pt x="181951" y="0"/>
                      <a:pt x="0" y="181538"/>
                      <a:pt x="0" y="405477"/>
                    </a:cubicBezTo>
                    <a:cubicBezTo>
                      <a:pt x="0" y="629415"/>
                      <a:pt x="181951" y="810954"/>
                      <a:pt x="406400" y="810954"/>
                    </a:cubicBezTo>
                    <a:cubicBezTo>
                      <a:pt x="630849" y="810954"/>
                      <a:pt x="812800" y="629415"/>
                      <a:pt x="812800" y="405477"/>
                    </a:cubicBezTo>
                    <a:cubicBezTo>
                      <a:pt x="812800" y="18153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E4F5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200" y="28402"/>
                <a:ext cx="660400" cy="7065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202018" y="222757"/>
              <a:ext cx="445406" cy="3638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1"/>
                </a:lnSpc>
              </a:pPr>
              <a:r>
                <a:rPr lang="en-US" sz="1629" b="1" dirty="0">
                  <a:solidFill>
                    <a:srgbClr val="2B2D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464198" y="3638609"/>
            <a:ext cx="637081" cy="635792"/>
            <a:chOff x="0" y="0"/>
            <a:chExt cx="849442" cy="847722"/>
          </a:xfrm>
          <a:solidFill>
            <a:schemeClr val="tx2"/>
          </a:solidFill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849442" cy="847722"/>
              <a:chOff x="0" y="0"/>
              <a:chExt cx="812800" cy="811155"/>
            </a:xfrm>
            <a:grpFill/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81115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1155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grpFill/>
              <a:ln w="762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202018" y="222757"/>
              <a:ext cx="445406" cy="3641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1"/>
                </a:lnSpc>
              </a:pPr>
              <a:r>
                <a:rPr lang="en-US" sz="162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940860" y="3560482"/>
            <a:ext cx="637081" cy="635634"/>
            <a:chOff x="0" y="0"/>
            <a:chExt cx="849442" cy="847512"/>
          </a:xfrm>
        </p:grpSpPr>
        <p:grpSp>
          <p:nvGrpSpPr>
            <p:cNvPr id="49" name="Group 49"/>
            <p:cNvGrpSpPr/>
            <p:nvPr/>
          </p:nvGrpSpPr>
          <p:grpSpPr>
            <a:xfrm>
              <a:off x="0" y="0"/>
              <a:ext cx="849442" cy="847512"/>
              <a:chOff x="0" y="0"/>
              <a:chExt cx="812800" cy="810954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095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0954">
                    <a:moveTo>
                      <a:pt x="406400" y="0"/>
                    </a:moveTo>
                    <a:cubicBezTo>
                      <a:pt x="181951" y="0"/>
                      <a:pt x="0" y="181538"/>
                      <a:pt x="0" y="405477"/>
                    </a:cubicBezTo>
                    <a:cubicBezTo>
                      <a:pt x="0" y="629415"/>
                      <a:pt x="181951" y="810954"/>
                      <a:pt x="406400" y="810954"/>
                    </a:cubicBezTo>
                    <a:cubicBezTo>
                      <a:pt x="630849" y="810954"/>
                      <a:pt x="812800" y="629415"/>
                      <a:pt x="812800" y="405477"/>
                    </a:cubicBezTo>
                    <a:cubicBezTo>
                      <a:pt x="812800" y="18153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E4F5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6200" y="28402"/>
                <a:ext cx="660400" cy="7065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202018" y="222757"/>
              <a:ext cx="445406" cy="3638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1"/>
                </a:lnSpc>
              </a:pPr>
              <a:r>
                <a:rPr lang="en-US" sz="1629" b="1">
                  <a:solidFill>
                    <a:srgbClr val="2B2D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</p:grpSp>
      <p:sp>
        <p:nvSpPr>
          <p:cNvPr id="64" name="Freeform 64"/>
          <p:cNvSpPr/>
          <p:nvPr/>
        </p:nvSpPr>
        <p:spPr>
          <a:xfrm>
            <a:off x="7379932" y="7887166"/>
            <a:ext cx="721561" cy="721561"/>
          </a:xfrm>
          <a:custGeom>
            <a:avLst/>
            <a:gdLst/>
            <a:ahLst/>
            <a:cxnLst/>
            <a:rect l="l" t="t" r="r" b="b"/>
            <a:pathLst>
              <a:path w="721561" h="721561">
                <a:moveTo>
                  <a:pt x="0" y="0"/>
                </a:moveTo>
                <a:lnTo>
                  <a:pt x="721561" y="0"/>
                </a:lnTo>
                <a:lnTo>
                  <a:pt x="721561" y="721561"/>
                </a:lnTo>
                <a:lnTo>
                  <a:pt x="0" y="721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5" name="Freeform 65"/>
          <p:cNvSpPr/>
          <p:nvPr/>
        </p:nvSpPr>
        <p:spPr>
          <a:xfrm>
            <a:off x="3408120" y="7808598"/>
            <a:ext cx="801346" cy="779309"/>
          </a:xfrm>
          <a:custGeom>
            <a:avLst/>
            <a:gdLst/>
            <a:ahLst/>
            <a:cxnLst/>
            <a:rect l="l" t="t" r="r" b="b"/>
            <a:pathLst>
              <a:path w="801346" h="779309">
                <a:moveTo>
                  <a:pt x="0" y="0"/>
                </a:moveTo>
                <a:lnTo>
                  <a:pt x="801345" y="0"/>
                </a:lnTo>
                <a:lnTo>
                  <a:pt x="801345" y="779309"/>
                </a:lnTo>
                <a:lnTo>
                  <a:pt x="0" y="7793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6" name="Freeform 66"/>
          <p:cNvSpPr/>
          <p:nvPr/>
        </p:nvSpPr>
        <p:spPr>
          <a:xfrm>
            <a:off x="10724316" y="7872854"/>
            <a:ext cx="650799" cy="650799"/>
          </a:xfrm>
          <a:custGeom>
            <a:avLst/>
            <a:gdLst/>
            <a:ahLst/>
            <a:cxnLst/>
            <a:rect l="l" t="t" r="r" b="b"/>
            <a:pathLst>
              <a:path w="650799" h="650799">
                <a:moveTo>
                  <a:pt x="0" y="0"/>
                </a:moveTo>
                <a:lnTo>
                  <a:pt x="650799" y="0"/>
                </a:lnTo>
                <a:lnTo>
                  <a:pt x="650799" y="650799"/>
                </a:lnTo>
                <a:lnTo>
                  <a:pt x="0" y="6507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7" name="Freeform 67"/>
          <p:cNvSpPr/>
          <p:nvPr/>
        </p:nvSpPr>
        <p:spPr>
          <a:xfrm>
            <a:off x="14438216" y="7887166"/>
            <a:ext cx="735913" cy="735913"/>
          </a:xfrm>
          <a:custGeom>
            <a:avLst/>
            <a:gdLst/>
            <a:ahLst/>
            <a:cxnLst/>
            <a:rect l="l" t="t" r="r" b="b"/>
            <a:pathLst>
              <a:path w="735913" h="735913">
                <a:moveTo>
                  <a:pt x="0" y="0"/>
                </a:moveTo>
                <a:lnTo>
                  <a:pt x="735912" y="0"/>
                </a:lnTo>
                <a:lnTo>
                  <a:pt x="735912" y="735912"/>
                </a:lnTo>
                <a:lnTo>
                  <a:pt x="0" y="7359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8" name="Freeform 68"/>
          <p:cNvSpPr/>
          <p:nvPr/>
        </p:nvSpPr>
        <p:spPr>
          <a:xfrm>
            <a:off x="15869926" y="7792020"/>
            <a:ext cx="683494" cy="845581"/>
          </a:xfrm>
          <a:custGeom>
            <a:avLst/>
            <a:gdLst/>
            <a:ahLst/>
            <a:cxnLst/>
            <a:rect l="l" t="t" r="r" b="b"/>
            <a:pathLst>
              <a:path w="683494" h="845581">
                <a:moveTo>
                  <a:pt x="0" y="0"/>
                </a:moveTo>
                <a:lnTo>
                  <a:pt x="683494" y="0"/>
                </a:lnTo>
                <a:lnTo>
                  <a:pt x="683494" y="845581"/>
                </a:lnTo>
                <a:lnTo>
                  <a:pt x="0" y="84558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9" name="TextBox 69"/>
          <p:cNvSpPr txBox="1"/>
          <p:nvPr/>
        </p:nvSpPr>
        <p:spPr>
          <a:xfrm>
            <a:off x="1028700" y="1816293"/>
            <a:ext cx="762550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2.3. Besoins fonctionnels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Analyse &amp; Conception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441111" y="417747"/>
            <a:ext cx="3320336" cy="44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870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sz="1870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 b="1">
                <a:solidFill>
                  <a:srgbClr val="5F249F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Contexte Général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502726" y="5047105"/>
            <a:ext cx="2678055" cy="1583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531"/>
              </a:lnSpc>
            </a:pPr>
            <a:r>
              <a:rPr lang="fr-FR" sz="1690" dirty="0">
                <a:latin typeface="Poppins" panose="020B0604020202020204" charset="0"/>
                <a:cs typeface="Poppins" panose="020B0604020202020204" charset="0"/>
              </a:rPr>
              <a:t>Le système doit guider l'étudiant d’une </a:t>
            </a:r>
          </a:p>
          <a:p>
            <a:pPr lvl="0" algn="just">
              <a:lnSpc>
                <a:spcPts val="2531"/>
              </a:lnSpc>
            </a:pPr>
            <a:r>
              <a:rPr lang="fr-FR" sz="1690" dirty="0">
                <a:solidFill>
                  <a:srgbClr val="2B2D42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rPr>
              <a:t>manière progressive</a:t>
            </a:r>
          </a:p>
          <a:p>
            <a:pPr lvl="0" algn="just">
              <a:lnSpc>
                <a:spcPts val="2531"/>
              </a:lnSpc>
            </a:pPr>
            <a:r>
              <a:rPr lang="fr-FR" sz="1690" dirty="0">
                <a:solidFill>
                  <a:srgbClr val="2B2D42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rPr>
              <a:t>sans donner </a:t>
            </a:r>
          </a:p>
          <a:p>
            <a:pPr lvl="0" algn="just">
              <a:lnSpc>
                <a:spcPts val="2531"/>
              </a:lnSpc>
            </a:pPr>
            <a:r>
              <a:rPr lang="fr-FR" sz="1690" dirty="0">
                <a:solidFill>
                  <a:srgbClr val="2B2D42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rPr>
              <a:t>directement la  réponse</a:t>
            </a:r>
            <a:endParaRPr lang="en-US" sz="1690" dirty="0">
              <a:solidFill>
                <a:srgbClr val="2B2D42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9037984" y="4833110"/>
            <a:ext cx="2463541" cy="1904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31"/>
              </a:lnSpc>
            </a:pP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Le </a:t>
            </a:r>
            <a:r>
              <a:rPr lang="en-US" sz="1687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système</a:t>
            </a: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87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doit</a:t>
            </a: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0" lvl="0" indent="0" algn="just">
              <a:lnSpc>
                <a:spcPts val="2531"/>
              </a:lnSpc>
            </a:pPr>
            <a:r>
              <a:rPr lang="en-US" sz="1687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récupérer</a:t>
            </a: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les chunks</a:t>
            </a:r>
          </a:p>
          <a:p>
            <a:pPr marL="0" lvl="0" indent="0" algn="just">
              <a:lnSpc>
                <a:spcPts val="2531"/>
              </a:lnSpc>
            </a:pP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les plus </a:t>
            </a:r>
            <a:r>
              <a:rPr lang="en-US" sz="1687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pertinents</a:t>
            </a: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du corpus </a:t>
            </a:r>
            <a:r>
              <a:rPr lang="en-US" sz="1687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cybersécurité</a:t>
            </a: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pour </a:t>
            </a:r>
            <a:r>
              <a:rPr lang="en-US" sz="1687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contextualiser</a:t>
            </a: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0" lvl="0" indent="0" algn="just">
              <a:lnSpc>
                <a:spcPts val="2531"/>
              </a:lnSpc>
            </a:pPr>
            <a:r>
              <a:rPr lang="en-US" sz="1687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chaque</a:t>
            </a: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question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520429" y="4898965"/>
            <a:ext cx="2463541" cy="190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2531"/>
              </a:lnSpc>
            </a:pPr>
            <a:r>
              <a:rPr lang="fr-FR" sz="1690" dirty="0">
                <a:latin typeface="Poppins" panose="020B0604020202020204" charset="0"/>
                <a:cs typeface="Poppins" panose="020B0604020202020204" charset="0"/>
              </a:rPr>
              <a:t>Le système détecte automatiquement le niveau de l'étudiant via l'analyse de son vocabulaire sur 3 échanges.</a:t>
            </a:r>
            <a:endParaRPr lang="en-US" sz="1690" dirty="0">
              <a:solidFill>
                <a:srgbClr val="2B2D42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2430238" y="4898965"/>
            <a:ext cx="2967789" cy="1904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531"/>
              </a:lnSpc>
            </a:pP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Le </a:t>
            </a:r>
            <a:r>
              <a:rPr lang="en-US" sz="1687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système</a:t>
            </a: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87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doit</a:t>
            </a: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0" lvl="0" indent="0" algn="just">
              <a:lnSpc>
                <a:spcPts val="2531"/>
              </a:lnSpc>
            </a:pPr>
            <a:r>
              <a:rPr lang="en-US" sz="1687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attribuer</a:t>
            </a: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des points,</a:t>
            </a:r>
          </a:p>
          <a:p>
            <a:pPr marL="0" lvl="0" indent="0" algn="just">
              <a:lnSpc>
                <a:spcPts val="2531"/>
              </a:lnSpc>
            </a:pP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badges et un </a:t>
            </a:r>
            <a:r>
              <a:rPr lang="en-US" sz="1687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classement</a:t>
            </a:r>
            <a:endParaRPr lang="en-US" sz="1687" dirty="0">
              <a:solidFill>
                <a:srgbClr val="2B2D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531"/>
              </a:lnSpc>
            </a:pP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pour motive la progression</a:t>
            </a:r>
          </a:p>
          <a:p>
            <a:pPr marL="0" lvl="0" indent="0" algn="just">
              <a:lnSpc>
                <a:spcPts val="2531"/>
              </a:lnSpc>
            </a:pP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des </a:t>
            </a:r>
            <a:r>
              <a:rPr lang="en-US" sz="1687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étudiants</a:t>
            </a: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marL="0" lvl="0" indent="0" algn="just">
              <a:lnSpc>
                <a:spcPts val="2531"/>
              </a:lnSpc>
            </a:pPr>
            <a:r>
              <a:rPr lang="en-US" sz="1687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7210090" y="8623810"/>
            <a:ext cx="1042256" cy="1343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8</a:t>
            </a:r>
          </a:p>
        </p:txBody>
      </p:sp>
      <p:sp>
        <p:nvSpPr>
          <p:cNvPr id="81" name="Freeform 10">
            <a:extLst>
              <a:ext uri="{FF2B5EF4-FFF2-40B4-BE49-F238E27FC236}">
                <a16:creationId xmlns:a16="http://schemas.microsoft.com/office/drawing/2014/main" id="{F2ABC951-41BA-55A8-6437-BF0CEB8A406E}"/>
              </a:ext>
            </a:extLst>
          </p:cNvPr>
          <p:cNvSpPr/>
          <p:nvPr/>
        </p:nvSpPr>
        <p:spPr>
          <a:xfrm>
            <a:off x="22245240" y="4063566"/>
            <a:ext cx="1620467" cy="498616"/>
          </a:xfrm>
          <a:custGeom>
            <a:avLst/>
            <a:gdLst/>
            <a:ahLst/>
            <a:cxnLst/>
            <a:rect l="l" t="t" r="r" b="b"/>
            <a:pathLst>
              <a:path w="1620467" h="498616">
                <a:moveTo>
                  <a:pt x="0" y="0"/>
                </a:moveTo>
                <a:lnTo>
                  <a:pt x="1620467" y="0"/>
                </a:lnTo>
                <a:lnTo>
                  <a:pt x="1620467" y="498616"/>
                </a:lnTo>
                <a:lnTo>
                  <a:pt x="0" y="4986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53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t="-824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82" name="Freeform 12">
            <a:extLst>
              <a:ext uri="{FF2B5EF4-FFF2-40B4-BE49-F238E27FC236}">
                <a16:creationId xmlns:a16="http://schemas.microsoft.com/office/drawing/2014/main" id="{71F3DAFD-7291-26BC-F551-A5805EA90F34}"/>
              </a:ext>
            </a:extLst>
          </p:cNvPr>
          <p:cNvSpPr/>
          <p:nvPr/>
        </p:nvSpPr>
        <p:spPr>
          <a:xfrm>
            <a:off x="22245240" y="7653568"/>
            <a:ext cx="1620467" cy="498616"/>
          </a:xfrm>
          <a:custGeom>
            <a:avLst/>
            <a:gdLst/>
            <a:ahLst/>
            <a:cxnLst/>
            <a:rect l="l" t="t" r="r" b="b"/>
            <a:pathLst>
              <a:path w="1620467" h="498616">
                <a:moveTo>
                  <a:pt x="0" y="0"/>
                </a:moveTo>
                <a:lnTo>
                  <a:pt x="1620467" y="0"/>
                </a:lnTo>
                <a:lnTo>
                  <a:pt x="1620467" y="498616"/>
                </a:lnTo>
                <a:lnTo>
                  <a:pt x="0" y="4986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53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t="-824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83" name="Group 16">
            <a:extLst>
              <a:ext uri="{FF2B5EF4-FFF2-40B4-BE49-F238E27FC236}">
                <a16:creationId xmlns:a16="http://schemas.microsoft.com/office/drawing/2014/main" id="{0B196D7C-F160-7BA8-7D10-2BEE690C5418}"/>
              </a:ext>
            </a:extLst>
          </p:cNvPr>
          <p:cNvGrpSpPr/>
          <p:nvPr/>
        </p:nvGrpSpPr>
        <p:grpSpPr>
          <a:xfrm rot="-10800000">
            <a:off x="22189743" y="2977300"/>
            <a:ext cx="1620467" cy="1243567"/>
            <a:chOff x="0" y="0"/>
            <a:chExt cx="597607" cy="458611"/>
          </a:xfrm>
        </p:grpSpPr>
        <p:sp>
          <p:nvSpPr>
            <p:cNvPr id="84" name="Freeform 17">
              <a:extLst>
                <a:ext uri="{FF2B5EF4-FFF2-40B4-BE49-F238E27FC236}">
                  <a16:creationId xmlns:a16="http://schemas.microsoft.com/office/drawing/2014/main" id="{1CEA12D0-0600-C742-5A64-3C72B59E306F}"/>
                </a:ext>
              </a:extLst>
            </p:cNvPr>
            <p:cNvSpPr/>
            <p:nvPr/>
          </p:nvSpPr>
          <p:spPr>
            <a:xfrm>
              <a:off x="0" y="0"/>
              <a:ext cx="597607" cy="458611"/>
            </a:xfrm>
            <a:custGeom>
              <a:avLst/>
              <a:gdLst/>
              <a:ahLst/>
              <a:cxnLst/>
              <a:rect l="l" t="t" r="r" b="b"/>
              <a:pathLst>
                <a:path w="597607" h="458611">
                  <a:moveTo>
                    <a:pt x="199310" y="439542"/>
                  </a:moveTo>
                  <a:cubicBezTo>
                    <a:pt x="229948" y="451056"/>
                    <a:pt x="264779" y="458611"/>
                    <a:pt x="298964" y="458611"/>
                  </a:cubicBezTo>
                  <a:cubicBezTo>
                    <a:pt x="333151" y="458611"/>
                    <a:pt x="366047" y="452134"/>
                    <a:pt x="396362" y="440620"/>
                  </a:cubicBezTo>
                  <a:cubicBezTo>
                    <a:pt x="397008" y="440261"/>
                    <a:pt x="397652" y="440261"/>
                    <a:pt x="398297" y="439901"/>
                  </a:cubicBezTo>
                  <a:cubicBezTo>
                    <a:pt x="512142" y="393846"/>
                    <a:pt x="595995" y="272232"/>
                    <a:pt x="597607" y="137977"/>
                  </a:cubicBezTo>
                  <a:lnTo>
                    <a:pt x="597607" y="0"/>
                  </a:lnTo>
                  <a:lnTo>
                    <a:pt x="0" y="0"/>
                  </a:lnTo>
                  <a:lnTo>
                    <a:pt x="0" y="137874"/>
                  </a:lnTo>
                  <a:cubicBezTo>
                    <a:pt x="1613" y="272951"/>
                    <a:pt x="84175" y="394566"/>
                    <a:pt x="199310" y="439542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TextBox 18">
              <a:extLst>
                <a:ext uri="{FF2B5EF4-FFF2-40B4-BE49-F238E27FC236}">
                  <a16:creationId xmlns:a16="http://schemas.microsoft.com/office/drawing/2014/main" id="{5F2D592D-DB37-E472-E742-2EB4CD3E4E58}"/>
                </a:ext>
              </a:extLst>
            </p:cNvPr>
            <p:cNvSpPr txBox="1"/>
            <p:nvPr/>
          </p:nvSpPr>
          <p:spPr>
            <a:xfrm>
              <a:off x="0" y="-57150"/>
              <a:ext cx="597607" cy="388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86" name="Group 22">
            <a:extLst>
              <a:ext uri="{FF2B5EF4-FFF2-40B4-BE49-F238E27FC236}">
                <a16:creationId xmlns:a16="http://schemas.microsoft.com/office/drawing/2014/main" id="{D74A2E4E-1988-7AE4-F26E-00BB033D7391}"/>
              </a:ext>
            </a:extLst>
          </p:cNvPr>
          <p:cNvGrpSpPr/>
          <p:nvPr/>
        </p:nvGrpSpPr>
        <p:grpSpPr>
          <a:xfrm rot="-10800000">
            <a:off x="22189743" y="6576468"/>
            <a:ext cx="1620467" cy="1243567"/>
            <a:chOff x="0" y="0"/>
            <a:chExt cx="597607" cy="458611"/>
          </a:xfrm>
        </p:grpSpPr>
        <p:sp>
          <p:nvSpPr>
            <p:cNvPr id="87" name="Freeform 23">
              <a:extLst>
                <a:ext uri="{FF2B5EF4-FFF2-40B4-BE49-F238E27FC236}">
                  <a16:creationId xmlns:a16="http://schemas.microsoft.com/office/drawing/2014/main" id="{180E7E90-5D7F-11E5-F7DC-A61BBBADCD3A}"/>
                </a:ext>
              </a:extLst>
            </p:cNvPr>
            <p:cNvSpPr/>
            <p:nvPr/>
          </p:nvSpPr>
          <p:spPr>
            <a:xfrm>
              <a:off x="0" y="0"/>
              <a:ext cx="597607" cy="458611"/>
            </a:xfrm>
            <a:custGeom>
              <a:avLst/>
              <a:gdLst/>
              <a:ahLst/>
              <a:cxnLst/>
              <a:rect l="l" t="t" r="r" b="b"/>
              <a:pathLst>
                <a:path w="597607" h="458611">
                  <a:moveTo>
                    <a:pt x="199310" y="439542"/>
                  </a:moveTo>
                  <a:cubicBezTo>
                    <a:pt x="229948" y="451056"/>
                    <a:pt x="264779" y="458611"/>
                    <a:pt x="298964" y="458611"/>
                  </a:cubicBezTo>
                  <a:cubicBezTo>
                    <a:pt x="333151" y="458611"/>
                    <a:pt x="366047" y="452134"/>
                    <a:pt x="396362" y="440620"/>
                  </a:cubicBezTo>
                  <a:cubicBezTo>
                    <a:pt x="397008" y="440261"/>
                    <a:pt x="397652" y="440261"/>
                    <a:pt x="398297" y="439901"/>
                  </a:cubicBezTo>
                  <a:cubicBezTo>
                    <a:pt x="512142" y="393846"/>
                    <a:pt x="595995" y="272232"/>
                    <a:pt x="597607" y="137977"/>
                  </a:cubicBezTo>
                  <a:lnTo>
                    <a:pt x="597607" y="0"/>
                  </a:lnTo>
                  <a:lnTo>
                    <a:pt x="0" y="0"/>
                  </a:lnTo>
                  <a:lnTo>
                    <a:pt x="0" y="137874"/>
                  </a:lnTo>
                  <a:cubicBezTo>
                    <a:pt x="1613" y="272951"/>
                    <a:pt x="84175" y="394566"/>
                    <a:pt x="199310" y="439542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TextBox 24">
              <a:extLst>
                <a:ext uri="{FF2B5EF4-FFF2-40B4-BE49-F238E27FC236}">
                  <a16:creationId xmlns:a16="http://schemas.microsoft.com/office/drawing/2014/main" id="{B3C737A1-3F7B-542E-4C4E-93C00855B480}"/>
                </a:ext>
              </a:extLst>
            </p:cNvPr>
            <p:cNvSpPr txBox="1"/>
            <p:nvPr/>
          </p:nvSpPr>
          <p:spPr>
            <a:xfrm>
              <a:off x="0" y="-57150"/>
              <a:ext cx="597607" cy="388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89" name="Freeform 28">
            <a:extLst>
              <a:ext uri="{FF2B5EF4-FFF2-40B4-BE49-F238E27FC236}">
                <a16:creationId xmlns:a16="http://schemas.microsoft.com/office/drawing/2014/main" id="{42A64D1C-5DCC-8302-8D47-BA22AF112EC7}"/>
              </a:ext>
            </a:extLst>
          </p:cNvPr>
          <p:cNvSpPr/>
          <p:nvPr/>
        </p:nvSpPr>
        <p:spPr>
          <a:xfrm>
            <a:off x="22693466" y="3304407"/>
            <a:ext cx="613021" cy="759159"/>
          </a:xfrm>
          <a:custGeom>
            <a:avLst/>
            <a:gdLst/>
            <a:ahLst/>
            <a:cxnLst/>
            <a:rect l="l" t="t" r="r" b="b"/>
            <a:pathLst>
              <a:path w="613021" h="759159">
                <a:moveTo>
                  <a:pt x="0" y="0"/>
                </a:moveTo>
                <a:lnTo>
                  <a:pt x="613021" y="0"/>
                </a:lnTo>
                <a:lnTo>
                  <a:pt x="613021" y="759159"/>
                </a:lnTo>
                <a:lnTo>
                  <a:pt x="0" y="75915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0" name="Freeform 29">
            <a:extLst>
              <a:ext uri="{FF2B5EF4-FFF2-40B4-BE49-F238E27FC236}">
                <a16:creationId xmlns:a16="http://schemas.microsoft.com/office/drawing/2014/main" id="{49FD474C-56AE-C4F7-1823-2110519E3EA2}"/>
              </a:ext>
            </a:extLst>
          </p:cNvPr>
          <p:cNvSpPr/>
          <p:nvPr/>
        </p:nvSpPr>
        <p:spPr>
          <a:xfrm>
            <a:off x="22685988" y="6950070"/>
            <a:ext cx="627977" cy="673434"/>
          </a:xfrm>
          <a:custGeom>
            <a:avLst/>
            <a:gdLst/>
            <a:ahLst/>
            <a:cxnLst/>
            <a:rect l="l" t="t" r="r" b="b"/>
            <a:pathLst>
              <a:path w="627977" h="673434">
                <a:moveTo>
                  <a:pt x="0" y="0"/>
                </a:moveTo>
                <a:lnTo>
                  <a:pt x="627977" y="0"/>
                </a:lnTo>
                <a:lnTo>
                  <a:pt x="627977" y="673435"/>
                </a:lnTo>
                <a:lnTo>
                  <a:pt x="0" y="67343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3" name="TextBox 41">
            <a:extLst>
              <a:ext uri="{FF2B5EF4-FFF2-40B4-BE49-F238E27FC236}">
                <a16:creationId xmlns:a16="http://schemas.microsoft.com/office/drawing/2014/main" id="{587AC665-A8F2-47A9-934C-705DEC98E09F}"/>
              </a:ext>
            </a:extLst>
          </p:cNvPr>
          <p:cNvSpPr txBox="1"/>
          <p:nvPr/>
        </p:nvSpPr>
        <p:spPr>
          <a:xfrm>
            <a:off x="20734095" y="4457382"/>
            <a:ext cx="3076115" cy="4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148"/>
              </a:lnSpc>
              <a:spcBef>
                <a:spcPct val="0"/>
              </a:spcBef>
            </a:pPr>
            <a:r>
              <a:rPr lang="en-US" sz="2249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Fiabilité </a:t>
            </a:r>
          </a:p>
        </p:txBody>
      </p:sp>
      <p:sp>
        <p:nvSpPr>
          <p:cNvPr id="94" name="TextBox 43">
            <a:extLst>
              <a:ext uri="{FF2B5EF4-FFF2-40B4-BE49-F238E27FC236}">
                <a16:creationId xmlns:a16="http://schemas.microsoft.com/office/drawing/2014/main" id="{F1F10C3C-5834-A0CE-BA64-ACE4FBF0CD87}"/>
              </a:ext>
            </a:extLst>
          </p:cNvPr>
          <p:cNvSpPr txBox="1"/>
          <p:nvPr/>
        </p:nvSpPr>
        <p:spPr>
          <a:xfrm>
            <a:off x="20734095" y="8056550"/>
            <a:ext cx="3076115" cy="4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148"/>
              </a:lnSpc>
              <a:spcBef>
                <a:spcPct val="0"/>
              </a:spcBef>
            </a:pPr>
            <a:r>
              <a:rPr lang="en-US" sz="2249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Scalabilité </a:t>
            </a:r>
          </a:p>
        </p:txBody>
      </p:sp>
      <p:sp>
        <p:nvSpPr>
          <p:cNvPr id="95" name="Freeform 9">
            <a:extLst>
              <a:ext uri="{FF2B5EF4-FFF2-40B4-BE49-F238E27FC236}">
                <a16:creationId xmlns:a16="http://schemas.microsoft.com/office/drawing/2014/main" id="{12519B82-77A0-F3E8-FF6F-DF2C40FA06DA}"/>
              </a:ext>
            </a:extLst>
          </p:cNvPr>
          <p:cNvSpPr/>
          <p:nvPr/>
        </p:nvSpPr>
        <p:spPr>
          <a:xfrm>
            <a:off x="-5471808" y="3730191"/>
            <a:ext cx="1620467" cy="498616"/>
          </a:xfrm>
          <a:custGeom>
            <a:avLst/>
            <a:gdLst/>
            <a:ahLst/>
            <a:cxnLst/>
            <a:rect l="l" t="t" r="r" b="b"/>
            <a:pathLst>
              <a:path w="1620467" h="498616">
                <a:moveTo>
                  <a:pt x="0" y="0"/>
                </a:moveTo>
                <a:lnTo>
                  <a:pt x="1620467" y="0"/>
                </a:lnTo>
                <a:lnTo>
                  <a:pt x="1620467" y="498616"/>
                </a:lnTo>
                <a:lnTo>
                  <a:pt x="0" y="4986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53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t="-824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6" name="Freeform 11">
            <a:extLst>
              <a:ext uri="{FF2B5EF4-FFF2-40B4-BE49-F238E27FC236}">
                <a16:creationId xmlns:a16="http://schemas.microsoft.com/office/drawing/2014/main" id="{9E1B923F-FC4C-5278-7BE3-2FA7C3C35C0E}"/>
              </a:ext>
            </a:extLst>
          </p:cNvPr>
          <p:cNvSpPr/>
          <p:nvPr/>
        </p:nvSpPr>
        <p:spPr>
          <a:xfrm>
            <a:off x="-5471808" y="7320193"/>
            <a:ext cx="1620467" cy="498616"/>
          </a:xfrm>
          <a:custGeom>
            <a:avLst/>
            <a:gdLst/>
            <a:ahLst/>
            <a:cxnLst/>
            <a:rect l="l" t="t" r="r" b="b"/>
            <a:pathLst>
              <a:path w="1620467" h="498616">
                <a:moveTo>
                  <a:pt x="0" y="0"/>
                </a:moveTo>
                <a:lnTo>
                  <a:pt x="1620467" y="0"/>
                </a:lnTo>
                <a:lnTo>
                  <a:pt x="1620467" y="498616"/>
                </a:lnTo>
                <a:lnTo>
                  <a:pt x="0" y="4986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53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t="-824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97" name="Group 13">
            <a:extLst>
              <a:ext uri="{FF2B5EF4-FFF2-40B4-BE49-F238E27FC236}">
                <a16:creationId xmlns:a16="http://schemas.microsoft.com/office/drawing/2014/main" id="{D2559DC6-CC2C-F05E-EA3A-1CE802C7BF8A}"/>
              </a:ext>
            </a:extLst>
          </p:cNvPr>
          <p:cNvGrpSpPr/>
          <p:nvPr/>
        </p:nvGrpSpPr>
        <p:grpSpPr>
          <a:xfrm rot="-10800000">
            <a:off x="-5471808" y="2643925"/>
            <a:ext cx="1620467" cy="1243567"/>
            <a:chOff x="0" y="0"/>
            <a:chExt cx="597607" cy="458611"/>
          </a:xfrm>
        </p:grpSpPr>
        <p:sp>
          <p:nvSpPr>
            <p:cNvPr id="98" name="Freeform 14">
              <a:extLst>
                <a:ext uri="{FF2B5EF4-FFF2-40B4-BE49-F238E27FC236}">
                  <a16:creationId xmlns:a16="http://schemas.microsoft.com/office/drawing/2014/main" id="{536584A6-FCD3-80F4-A4CD-1BA89E0C1739}"/>
                </a:ext>
              </a:extLst>
            </p:cNvPr>
            <p:cNvSpPr/>
            <p:nvPr/>
          </p:nvSpPr>
          <p:spPr>
            <a:xfrm>
              <a:off x="0" y="0"/>
              <a:ext cx="597607" cy="458611"/>
            </a:xfrm>
            <a:custGeom>
              <a:avLst/>
              <a:gdLst/>
              <a:ahLst/>
              <a:cxnLst/>
              <a:rect l="l" t="t" r="r" b="b"/>
              <a:pathLst>
                <a:path w="597607" h="458611">
                  <a:moveTo>
                    <a:pt x="199310" y="439542"/>
                  </a:moveTo>
                  <a:cubicBezTo>
                    <a:pt x="229948" y="451056"/>
                    <a:pt x="264779" y="458611"/>
                    <a:pt x="298964" y="458611"/>
                  </a:cubicBezTo>
                  <a:cubicBezTo>
                    <a:pt x="333151" y="458611"/>
                    <a:pt x="366047" y="452134"/>
                    <a:pt x="396362" y="440620"/>
                  </a:cubicBezTo>
                  <a:cubicBezTo>
                    <a:pt x="397008" y="440261"/>
                    <a:pt x="397652" y="440261"/>
                    <a:pt x="398297" y="439901"/>
                  </a:cubicBezTo>
                  <a:cubicBezTo>
                    <a:pt x="512142" y="393846"/>
                    <a:pt x="595995" y="272232"/>
                    <a:pt x="597607" y="137977"/>
                  </a:cubicBezTo>
                  <a:lnTo>
                    <a:pt x="597607" y="0"/>
                  </a:lnTo>
                  <a:lnTo>
                    <a:pt x="0" y="0"/>
                  </a:lnTo>
                  <a:lnTo>
                    <a:pt x="0" y="137874"/>
                  </a:lnTo>
                  <a:cubicBezTo>
                    <a:pt x="1613" y="272951"/>
                    <a:pt x="84175" y="394566"/>
                    <a:pt x="199310" y="439542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TextBox 15">
              <a:extLst>
                <a:ext uri="{FF2B5EF4-FFF2-40B4-BE49-F238E27FC236}">
                  <a16:creationId xmlns:a16="http://schemas.microsoft.com/office/drawing/2014/main" id="{0FCA4D52-CAAA-6414-B08C-AB2F363523B0}"/>
                </a:ext>
              </a:extLst>
            </p:cNvPr>
            <p:cNvSpPr txBox="1"/>
            <p:nvPr/>
          </p:nvSpPr>
          <p:spPr>
            <a:xfrm>
              <a:off x="0" y="-57150"/>
              <a:ext cx="597607" cy="388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100" name="Group 19">
            <a:extLst>
              <a:ext uri="{FF2B5EF4-FFF2-40B4-BE49-F238E27FC236}">
                <a16:creationId xmlns:a16="http://schemas.microsoft.com/office/drawing/2014/main" id="{64FBF5B5-2277-FC29-BB10-5BFCFF21AF13}"/>
              </a:ext>
            </a:extLst>
          </p:cNvPr>
          <p:cNvGrpSpPr/>
          <p:nvPr/>
        </p:nvGrpSpPr>
        <p:grpSpPr>
          <a:xfrm rot="-10800000">
            <a:off x="-5471808" y="6243093"/>
            <a:ext cx="1620467" cy="1243567"/>
            <a:chOff x="0" y="0"/>
            <a:chExt cx="597607" cy="458611"/>
          </a:xfrm>
        </p:grpSpPr>
        <p:sp>
          <p:nvSpPr>
            <p:cNvPr id="101" name="Freeform 20">
              <a:extLst>
                <a:ext uri="{FF2B5EF4-FFF2-40B4-BE49-F238E27FC236}">
                  <a16:creationId xmlns:a16="http://schemas.microsoft.com/office/drawing/2014/main" id="{4A287199-43D0-569A-A4AE-893BD1C4ACFD}"/>
                </a:ext>
              </a:extLst>
            </p:cNvPr>
            <p:cNvSpPr/>
            <p:nvPr/>
          </p:nvSpPr>
          <p:spPr>
            <a:xfrm>
              <a:off x="0" y="0"/>
              <a:ext cx="597607" cy="458611"/>
            </a:xfrm>
            <a:custGeom>
              <a:avLst/>
              <a:gdLst/>
              <a:ahLst/>
              <a:cxnLst/>
              <a:rect l="l" t="t" r="r" b="b"/>
              <a:pathLst>
                <a:path w="597607" h="458611">
                  <a:moveTo>
                    <a:pt x="199310" y="439542"/>
                  </a:moveTo>
                  <a:cubicBezTo>
                    <a:pt x="229948" y="451056"/>
                    <a:pt x="264779" y="458611"/>
                    <a:pt x="298964" y="458611"/>
                  </a:cubicBezTo>
                  <a:cubicBezTo>
                    <a:pt x="333151" y="458611"/>
                    <a:pt x="366047" y="452134"/>
                    <a:pt x="396362" y="440620"/>
                  </a:cubicBezTo>
                  <a:cubicBezTo>
                    <a:pt x="397008" y="440261"/>
                    <a:pt x="397652" y="440261"/>
                    <a:pt x="398297" y="439901"/>
                  </a:cubicBezTo>
                  <a:cubicBezTo>
                    <a:pt x="512142" y="393846"/>
                    <a:pt x="595995" y="272232"/>
                    <a:pt x="597607" y="137977"/>
                  </a:cubicBezTo>
                  <a:lnTo>
                    <a:pt x="597607" y="0"/>
                  </a:lnTo>
                  <a:lnTo>
                    <a:pt x="0" y="0"/>
                  </a:lnTo>
                  <a:lnTo>
                    <a:pt x="0" y="137874"/>
                  </a:lnTo>
                  <a:cubicBezTo>
                    <a:pt x="1613" y="272951"/>
                    <a:pt x="84175" y="394566"/>
                    <a:pt x="199310" y="439542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TextBox 21">
              <a:extLst>
                <a:ext uri="{FF2B5EF4-FFF2-40B4-BE49-F238E27FC236}">
                  <a16:creationId xmlns:a16="http://schemas.microsoft.com/office/drawing/2014/main" id="{D1C76D9B-1353-FBF4-B9E0-18D3B04004AF}"/>
                </a:ext>
              </a:extLst>
            </p:cNvPr>
            <p:cNvSpPr txBox="1"/>
            <p:nvPr/>
          </p:nvSpPr>
          <p:spPr>
            <a:xfrm>
              <a:off x="0" y="-57150"/>
              <a:ext cx="597607" cy="388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763"/>
                </a:lnSpc>
              </a:pPr>
              <a:endParaRPr/>
            </a:p>
          </p:txBody>
        </p:sp>
      </p:grpSp>
      <p:sp>
        <p:nvSpPr>
          <p:cNvPr id="103" name="Freeform 26">
            <a:extLst>
              <a:ext uri="{FF2B5EF4-FFF2-40B4-BE49-F238E27FC236}">
                <a16:creationId xmlns:a16="http://schemas.microsoft.com/office/drawing/2014/main" id="{45F1AB5A-E764-44CF-1C50-20ACF6077471}"/>
              </a:ext>
            </a:extLst>
          </p:cNvPr>
          <p:cNvSpPr/>
          <p:nvPr/>
        </p:nvSpPr>
        <p:spPr>
          <a:xfrm>
            <a:off x="-5022360" y="6626081"/>
            <a:ext cx="721572" cy="654662"/>
          </a:xfrm>
          <a:custGeom>
            <a:avLst/>
            <a:gdLst/>
            <a:ahLst/>
            <a:cxnLst/>
            <a:rect l="l" t="t" r="r" b="b"/>
            <a:pathLst>
              <a:path w="721572" h="654662">
                <a:moveTo>
                  <a:pt x="0" y="0"/>
                </a:moveTo>
                <a:lnTo>
                  <a:pt x="721571" y="0"/>
                </a:lnTo>
                <a:lnTo>
                  <a:pt x="721571" y="654663"/>
                </a:lnTo>
                <a:lnTo>
                  <a:pt x="0" y="65466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4" name="Freeform 27">
            <a:extLst>
              <a:ext uri="{FF2B5EF4-FFF2-40B4-BE49-F238E27FC236}">
                <a16:creationId xmlns:a16="http://schemas.microsoft.com/office/drawing/2014/main" id="{359F7573-B353-3597-0F14-A770D3079E82}"/>
              </a:ext>
            </a:extLst>
          </p:cNvPr>
          <p:cNvSpPr/>
          <p:nvPr/>
        </p:nvSpPr>
        <p:spPr>
          <a:xfrm>
            <a:off x="-5006987" y="2953640"/>
            <a:ext cx="690826" cy="690826"/>
          </a:xfrm>
          <a:custGeom>
            <a:avLst/>
            <a:gdLst/>
            <a:ahLst/>
            <a:cxnLst/>
            <a:rect l="l" t="t" r="r" b="b"/>
            <a:pathLst>
              <a:path w="690826" h="690826">
                <a:moveTo>
                  <a:pt x="0" y="0"/>
                </a:moveTo>
                <a:lnTo>
                  <a:pt x="690825" y="0"/>
                </a:lnTo>
                <a:lnTo>
                  <a:pt x="690825" y="690826"/>
                </a:lnTo>
                <a:lnTo>
                  <a:pt x="0" y="69082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7" name="TextBox 40">
            <a:extLst>
              <a:ext uri="{FF2B5EF4-FFF2-40B4-BE49-F238E27FC236}">
                <a16:creationId xmlns:a16="http://schemas.microsoft.com/office/drawing/2014/main" id="{ED9DF4DA-C330-C1CA-65EC-8867C41FBB3D}"/>
              </a:ext>
            </a:extLst>
          </p:cNvPr>
          <p:cNvSpPr txBox="1"/>
          <p:nvPr/>
        </p:nvSpPr>
        <p:spPr>
          <a:xfrm>
            <a:off x="-5471808" y="4124007"/>
            <a:ext cx="3076115" cy="4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148"/>
              </a:lnSpc>
              <a:spcBef>
                <a:spcPct val="0"/>
              </a:spcBef>
            </a:pPr>
            <a:r>
              <a:rPr lang="en-US" sz="2249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</a:t>
            </a:r>
          </a:p>
        </p:txBody>
      </p:sp>
      <p:sp>
        <p:nvSpPr>
          <p:cNvPr id="108" name="TextBox 42">
            <a:extLst>
              <a:ext uri="{FF2B5EF4-FFF2-40B4-BE49-F238E27FC236}">
                <a16:creationId xmlns:a16="http://schemas.microsoft.com/office/drawing/2014/main" id="{66CDE28F-DC7D-01B5-CAEB-36CD17E8D1D8}"/>
              </a:ext>
            </a:extLst>
          </p:cNvPr>
          <p:cNvSpPr txBox="1"/>
          <p:nvPr/>
        </p:nvSpPr>
        <p:spPr>
          <a:xfrm>
            <a:off x="-5471808" y="7723175"/>
            <a:ext cx="3076115" cy="4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148"/>
              </a:lnSpc>
              <a:spcBef>
                <a:spcPct val="0"/>
              </a:spcBef>
            </a:pPr>
            <a:r>
              <a:rPr lang="en-US" sz="2249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Sécurité </a:t>
            </a:r>
          </a:p>
        </p:txBody>
      </p:sp>
      <p:sp>
        <p:nvSpPr>
          <p:cNvPr id="109" name="Freeform 25">
            <a:extLst>
              <a:ext uri="{FF2B5EF4-FFF2-40B4-BE49-F238E27FC236}">
                <a16:creationId xmlns:a16="http://schemas.microsoft.com/office/drawing/2014/main" id="{5F92AD1A-FEC6-FB89-979A-B549F847818F}"/>
              </a:ext>
            </a:extLst>
          </p:cNvPr>
          <p:cNvSpPr/>
          <p:nvPr/>
        </p:nvSpPr>
        <p:spPr>
          <a:xfrm>
            <a:off x="8368233" y="10898938"/>
            <a:ext cx="1320471" cy="721562"/>
          </a:xfrm>
          <a:custGeom>
            <a:avLst/>
            <a:gdLst/>
            <a:ahLst/>
            <a:cxnLst/>
            <a:rect l="l" t="t" r="r" b="b"/>
            <a:pathLst>
              <a:path w="6414720" h="5941634">
                <a:moveTo>
                  <a:pt x="0" y="0"/>
                </a:moveTo>
                <a:lnTo>
                  <a:pt x="6414720" y="0"/>
                </a:lnTo>
                <a:lnTo>
                  <a:pt x="6414720" y="5941635"/>
                </a:lnTo>
                <a:lnTo>
                  <a:pt x="0" y="594163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210696" y="3721057"/>
            <a:ext cx="1620467" cy="498616"/>
          </a:xfrm>
          <a:custGeom>
            <a:avLst/>
            <a:gdLst/>
            <a:ahLst/>
            <a:cxnLst/>
            <a:rect l="l" t="t" r="r" b="b"/>
            <a:pathLst>
              <a:path w="1620467" h="498616">
                <a:moveTo>
                  <a:pt x="0" y="0"/>
                </a:moveTo>
                <a:lnTo>
                  <a:pt x="1620467" y="0"/>
                </a:lnTo>
                <a:lnTo>
                  <a:pt x="1620467" y="498616"/>
                </a:lnTo>
                <a:lnTo>
                  <a:pt x="0" y="49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4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14527707" y="3848236"/>
            <a:ext cx="1620467" cy="498616"/>
          </a:xfrm>
          <a:custGeom>
            <a:avLst/>
            <a:gdLst/>
            <a:ahLst/>
            <a:cxnLst/>
            <a:rect l="l" t="t" r="r" b="b"/>
            <a:pathLst>
              <a:path w="1620467" h="498616">
                <a:moveTo>
                  <a:pt x="0" y="0"/>
                </a:moveTo>
                <a:lnTo>
                  <a:pt x="1620467" y="0"/>
                </a:lnTo>
                <a:lnTo>
                  <a:pt x="1620467" y="498616"/>
                </a:lnTo>
                <a:lnTo>
                  <a:pt x="0" y="49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4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2195323" y="7402681"/>
            <a:ext cx="1620467" cy="498616"/>
          </a:xfrm>
          <a:custGeom>
            <a:avLst/>
            <a:gdLst/>
            <a:ahLst/>
            <a:cxnLst/>
            <a:rect l="l" t="t" r="r" b="b"/>
            <a:pathLst>
              <a:path w="1620467" h="498616">
                <a:moveTo>
                  <a:pt x="0" y="0"/>
                </a:moveTo>
                <a:lnTo>
                  <a:pt x="1620467" y="0"/>
                </a:lnTo>
                <a:lnTo>
                  <a:pt x="1620467" y="498616"/>
                </a:lnTo>
                <a:lnTo>
                  <a:pt x="0" y="49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4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14527707" y="7438238"/>
            <a:ext cx="1620467" cy="498616"/>
          </a:xfrm>
          <a:custGeom>
            <a:avLst/>
            <a:gdLst/>
            <a:ahLst/>
            <a:cxnLst/>
            <a:rect l="l" t="t" r="r" b="b"/>
            <a:pathLst>
              <a:path w="1620467" h="498616">
                <a:moveTo>
                  <a:pt x="0" y="0"/>
                </a:moveTo>
                <a:lnTo>
                  <a:pt x="1620467" y="0"/>
                </a:lnTo>
                <a:lnTo>
                  <a:pt x="1620467" y="498616"/>
                </a:lnTo>
                <a:lnTo>
                  <a:pt x="0" y="49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4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13" name="Group 13"/>
          <p:cNvGrpSpPr/>
          <p:nvPr/>
        </p:nvGrpSpPr>
        <p:grpSpPr>
          <a:xfrm rot="-10800000">
            <a:off x="2195323" y="2585740"/>
            <a:ext cx="1620467" cy="1243567"/>
            <a:chOff x="0" y="0"/>
            <a:chExt cx="597607" cy="458611"/>
          </a:xfrm>
          <a:solidFill>
            <a:schemeClr val="tx2"/>
          </a:solidFill>
        </p:grpSpPr>
        <p:sp>
          <p:nvSpPr>
            <p:cNvPr id="14" name="Freeform 14"/>
            <p:cNvSpPr/>
            <p:nvPr/>
          </p:nvSpPr>
          <p:spPr>
            <a:xfrm>
              <a:off x="0" y="0"/>
              <a:ext cx="597607" cy="458611"/>
            </a:xfrm>
            <a:custGeom>
              <a:avLst/>
              <a:gdLst/>
              <a:ahLst/>
              <a:cxnLst/>
              <a:rect l="l" t="t" r="r" b="b"/>
              <a:pathLst>
                <a:path w="597607" h="458611">
                  <a:moveTo>
                    <a:pt x="199310" y="439542"/>
                  </a:moveTo>
                  <a:cubicBezTo>
                    <a:pt x="229948" y="451056"/>
                    <a:pt x="264779" y="458611"/>
                    <a:pt x="298964" y="458611"/>
                  </a:cubicBezTo>
                  <a:cubicBezTo>
                    <a:pt x="333151" y="458611"/>
                    <a:pt x="366047" y="452134"/>
                    <a:pt x="396362" y="440620"/>
                  </a:cubicBezTo>
                  <a:cubicBezTo>
                    <a:pt x="397008" y="440261"/>
                    <a:pt x="397652" y="440261"/>
                    <a:pt x="398297" y="439901"/>
                  </a:cubicBezTo>
                  <a:cubicBezTo>
                    <a:pt x="512142" y="393846"/>
                    <a:pt x="595995" y="272232"/>
                    <a:pt x="597607" y="137977"/>
                  </a:cubicBezTo>
                  <a:lnTo>
                    <a:pt x="597607" y="0"/>
                  </a:lnTo>
                  <a:lnTo>
                    <a:pt x="0" y="0"/>
                  </a:lnTo>
                  <a:lnTo>
                    <a:pt x="0" y="137874"/>
                  </a:lnTo>
                  <a:cubicBezTo>
                    <a:pt x="1613" y="272951"/>
                    <a:pt x="84175" y="394566"/>
                    <a:pt x="199310" y="43954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597607" cy="3887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l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10800000">
            <a:off x="14472210" y="2761970"/>
            <a:ext cx="1620467" cy="1243567"/>
            <a:chOff x="0" y="0"/>
            <a:chExt cx="597607" cy="45861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97607" cy="458611"/>
            </a:xfrm>
            <a:custGeom>
              <a:avLst/>
              <a:gdLst/>
              <a:ahLst/>
              <a:cxnLst/>
              <a:rect l="l" t="t" r="r" b="b"/>
              <a:pathLst>
                <a:path w="597607" h="458611">
                  <a:moveTo>
                    <a:pt x="199310" y="439542"/>
                  </a:moveTo>
                  <a:cubicBezTo>
                    <a:pt x="229948" y="451056"/>
                    <a:pt x="264779" y="458611"/>
                    <a:pt x="298964" y="458611"/>
                  </a:cubicBezTo>
                  <a:cubicBezTo>
                    <a:pt x="333151" y="458611"/>
                    <a:pt x="366047" y="452134"/>
                    <a:pt x="396362" y="440620"/>
                  </a:cubicBezTo>
                  <a:cubicBezTo>
                    <a:pt x="397008" y="440261"/>
                    <a:pt x="397652" y="440261"/>
                    <a:pt x="398297" y="439901"/>
                  </a:cubicBezTo>
                  <a:cubicBezTo>
                    <a:pt x="512142" y="393846"/>
                    <a:pt x="595995" y="272232"/>
                    <a:pt x="597607" y="137977"/>
                  </a:cubicBezTo>
                  <a:lnTo>
                    <a:pt x="597607" y="0"/>
                  </a:lnTo>
                  <a:lnTo>
                    <a:pt x="0" y="0"/>
                  </a:lnTo>
                  <a:lnTo>
                    <a:pt x="0" y="137874"/>
                  </a:lnTo>
                  <a:cubicBezTo>
                    <a:pt x="1613" y="272951"/>
                    <a:pt x="84175" y="394566"/>
                    <a:pt x="199310" y="439542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597607" cy="388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10800000">
            <a:off x="2223071" y="6395188"/>
            <a:ext cx="1625874" cy="1574509"/>
            <a:chOff x="0" y="-57150"/>
            <a:chExt cx="599601" cy="580658"/>
          </a:xfrm>
        </p:grpSpPr>
        <p:sp>
          <p:nvSpPr>
            <p:cNvPr id="20" name="Freeform 20"/>
            <p:cNvSpPr/>
            <p:nvPr/>
          </p:nvSpPr>
          <p:spPr>
            <a:xfrm>
              <a:off x="1994" y="64897"/>
              <a:ext cx="597607" cy="458611"/>
            </a:xfrm>
            <a:custGeom>
              <a:avLst/>
              <a:gdLst/>
              <a:ahLst/>
              <a:cxnLst/>
              <a:rect l="l" t="t" r="r" b="b"/>
              <a:pathLst>
                <a:path w="597607" h="458611">
                  <a:moveTo>
                    <a:pt x="199310" y="439542"/>
                  </a:moveTo>
                  <a:cubicBezTo>
                    <a:pt x="229948" y="451056"/>
                    <a:pt x="264779" y="458611"/>
                    <a:pt x="298964" y="458611"/>
                  </a:cubicBezTo>
                  <a:cubicBezTo>
                    <a:pt x="333151" y="458611"/>
                    <a:pt x="366047" y="452134"/>
                    <a:pt x="396362" y="440620"/>
                  </a:cubicBezTo>
                  <a:cubicBezTo>
                    <a:pt x="397008" y="440261"/>
                    <a:pt x="397652" y="440261"/>
                    <a:pt x="398297" y="439901"/>
                  </a:cubicBezTo>
                  <a:cubicBezTo>
                    <a:pt x="512142" y="393846"/>
                    <a:pt x="595995" y="272232"/>
                    <a:pt x="597607" y="137977"/>
                  </a:cubicBezTo>
                  <a:lnTo>
                    <a:pt x="597607" y="0"/>
                  </a:lnTo>
                  <a:lnTo>
                    <a:pt x="0" y="0"/>
                  </a:lnTo>
                  <a:lnTo>
                    <a:pt x="0" y="137874"/>
                  </a:lnTo>
                  <a:cubicBezTo>
                    <a:pt x="1613" y="272951"/>
                    <a:pt x="84175" y="394566"/>
                    <a:pt x="199310" y="439542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597607" cy="388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10800000">
            <a:off x="14472210" y="6365543"/>
            <a:ext cx="1620467" cy="1243567"/>
            <a:chOff x="0" y="0"/>
            <a:chExt cx="597607" cy="458611"/>
          </a:xfrm>
          <a:solidFill>
            <a:schemeClr val="tx2"/>
          </a:solidFill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7607" cy="458611"/>
            </a:xfrm>
            <a:custGeom>
              <a:avLst/>
              <a:gdLst/>
              <a:ahLst/>
              <a:cxnLst/>
              <a:rect l="l" t="t" r="r" b="b"/>
              <a:pathLst>
                <a:path w="597607" h="458611">
                  <a:moveTo>
                    <a:pt x="199310" y="439542"/>
                  </a:moveTo>
                  <a:cubicBezTo>
                    <a:pt x="229948" y="451056"/>
                    <a:pt x="264779" y="458611"/>
                    <a:pt x="298964" y="458611"/>
                  </a:cubicBezTo>
                  <a:cubicBezTo>
                    <a:pt x="333151" y="458611"/>
                    <a:pt x="366047" y="452134"/>
                    <a:pt x="396362" y="440620"/>
                  </a:cubicBezTo>
                  <a:cubicBezTo>
                    <a:pt x="397008" y="440261"/>
                    <a:pt x="397652" y="440261"/>
                    <a:pt x="398297" y="439901"/>
                  </a:cubicBezTo>
                  <a:cubicBezTo>
                    <a:pt x="512142" y="393846"/>
                    <a:pt x="595995" y="272232"/>
                    <a:pt x="597607" y="137977"/>
                  </a:cubicBezTo>
                  <a:lnTo>
                    <a:pt x="597607" y="0"/>
                  </a:lnTo>
                  <a:lnTo>
                    <a:pt x="0" y="0"/>
                  </a:lnTo>
                  <a:lnTo>
                    <a:pt x="0" y="137874"/>
                  </a:lnTo>
                  <a:cubicBezTo>
                    <a:pt x="1613" y="272951"/>
                    <a:pt x="84175" y="394566"/>
                    <a:pt x="199310" y="43954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597607" cy="3887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5936640" y="3183910"/>
            <a:ext cx="6414720" cy="5941634"/>
          </a:xfrm>
          <a:custGeom>
            <a:avLst/>
            <a:gdLst/>
            <a:ahLst/>
            <a:cxnLst/>
            <a:rect l="l" t="t" r="r" b="b"/>
            <a:pathLst>
              <a:path w="6414720" h="5941634">
                <a:moveTo>
                  <a:pt x="0" y="0"/>
                </a:moveTo>
                <a:lnTo>
                  <a:pt x="6414720" y="0"/>
                </a:lnTo>
                <a:lnTo>
                  <a:pt x="6414720" y="5941635"/>
                </a:lnTo>
                <a:lnTo>
                  <a:pt x="0" y="5941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solidFill>
              <a:schemeClr val="tx2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26" name="Freeform 26"/>
          <p:cNvSpPr/>
          <p:nvPr/>
        </p:nvSpPr>
        <p:spPr>
          <a:xfrm>
            <a:off x="2660144" y="6716323"/>
            <a:ext cx="721572" cy="654662"/>
          </a:xfrm>
          <a:custGeom>
            <a:avLst/>
            <a:gdLst/>
            <a:ahLst/>
            <a:cxnLst/>
            <a:rect l="l" t="t" r="r" b="b"/>
            <a:pathLst>
              <a:path w="721572" h="654662">
                <a:moveTo>
                  <a:pt x="0" y="0"/>
                </a:moveTo>
                <a:lnTo>
                  <a:pt x="721571" y="0"/>
                </a:lnTo>
                <a:lnTo>
                  <a:pt x="721571" y="654663"/>
                </a:lnTo>
                <a:lnTo>
                  <a:pt x="0" y="6546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27" name="Freeform 27"/>
          <p:cNvSpPr/>
          <p:nvPr/>
        </p:nvSpPr>
        <p:spPr>
          <a:xfrm>
            <a:off x="2660144" y="2911891"/>
            <a:ext cx="690826" cy="690826"/>
          </a:xfrm>
          <a:custGeom>
            <a:avLst/>
            <a:gdLst/>
            <a:ahLst/>
            <a:cxnLst/>
            <a:rect l="l" t="t" r="r" b="b"/>
            <a:pathLst>
              <a:path w="690826" h="690826">
                <a:moveTo>
                  <a:pt x="0" y="0"/>
                </a:moveTo>
                <a:lnTo>
                  <a:pt x="690825" y="0"/>
                </a:lnTo>
                <a:lnTo>
                  <a:pt x="690825" y="690826"/>
                </a:lnTo>
                <a:lnTo>
                  <a:pt x="0" y="6908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14975933" y="3089077"/>
            <a:ext cx="613021" cy="759159"/>
          </a:xfrm>
          <a:custGeom>
            <a:avLst/>
            <a:gdLst/>
            <a:ahLst/>
            <a:cxnLst/>
            <a:rect l="l" t="t" r="r" b="b"/>
            <a:pathLst>
              <a:path w="613021" h="759159">
                <a:moveTo>
                  <a:pt x="0" y="0"/>
                </a:moveTo>
                <a:lnTo>
                  <a:pt x="613021" y="0"/>
                </a:lnTo>
                <a:lnTo>
                  <a:pt x="613021" y="759159"/>
                </a:lnTo>
                <a:lnTo>
                  <a:pt x="0" y="7591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14968455" y="6734740"/>
            <a:ext cx="627977" cy="673434"/>
          </a:xfrm>
          <a:custGeom>
            <a:avLst/>
            <a:gdLst/>
            <a:ahLst/>
            <a:cxnLst/>
            <a:rect l="l" t="t" r="r" b="b"/>
            <a:pathLst>
              <a:path w="627977" h="673434">
                <a:moveTo>
                  <a:pt x="0" y="0"/>
                </a:moveTo>
                <a:lnTo>
                  <a:pt x="627977" y="0"/>
                </a:lnTo>
                <a:lnTo>
                  <a:pt x="627977" y="673435"/>
                </a:lnTo>
                <a:lnTo>
                  <a:pt x="0" y="673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TextBox 30"/>
          <p:cNvSpPr txBox="1"/>
          <p:nvPr/>
        </p:nvSpPr>
        <p:spPr>
          <a:xfrm>
            <a:off x="1028700" y="1816293"/>
            <a:ext cx="762550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2.4. Besoins non fonctionnels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Analyse &amp; Conception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56040" y="454004"/>
            <a:ext cx="3320336" cy="44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 b="1">
                <a:solidFill>
                  <a:srgbClr val="5F249F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Contexte Général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195323" y="4384350"/>
            <a:ext cx="3076115" cy="1709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698"/>
              </a:lnSpc>
            </a:pPr>
            <a:r>
              <a:rPr lang="fr-FR" dirty="0">
                <a:latin typeface="Poppins" panose="020B0604020202020204" charset="0"/>
                <a:cs typeface="Poppins" panose="020B0604020202020204" charset="0"/>
              </a:rPr>
              <a:t>Générer une réponse socratique en moins de </a:t>
            </a:r>
            <a:r>
              <a:rPr lang="fr-FR" b="1" dirty="0">
                <a:latin typeface="Poppins" panose="020B0604020202020204" charset="0"/>
                <a:cs typeface="Poppins" panose="020B0604020202020204" charset="0"/>
              </a:rPr>
              <a:t>4 secondes</a:t>
            </a:r>
            <a:r>
              <a:rPr lang="fr-FR" dirty="0">
                <a:latin typeface="Poppins" panose="020B0604020202020204" charset="0"/>
                <a:cs typeface="Poppins" panose="020B0604020202020204" charset="0"/>
              </a:rPr>
              <a:t> pour garantir une expérience fluide en temps réel.</a:t>
            </a:r>
            <a:endParaRPr lang="en-US" sz="1799" dirty="0">
              <a:solidFill>
                <a:srgbClr val="2B2D42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3016562" y="4823102"/>
            <a:ext cx="4509438" cy="1016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698"/>
              </a:lnSpc>
            </a:pPr>
            <a:r>
              <a:rPr lang="fr-FR" dirty="0">
                <a:latin typeface="Poppins" panose="020B0604020202020204" charset="0"/>
                <a:cs typeface="Poppins" panose="020B0604020202020204" charset="0"/>
              </a:rPr>
              <a:t>Maintenir un </a:t>
            </a:r>
            <a:r>
              <a:rPr lang="fr-FR" dirty="0" err="1">
                <a:latin typeface="Poppins" panose="020B0604020202020204" charset="0"/>
                <a:cs typeface="Poppins" panose="020B0604020202020204" charset="0"/>
              </a:rPr>
              <a:t>comportemet</a:t>
            </a:r>
            <a:r>
              <a:rPr lang="fr-FR" dirty="0">
                <a:latin typeface="Poppins" panose="020B0604020202020204" charset="0"/>
                <a:cs typeface="Poppins" panose="020B0604020202020204" charset="0"/>
              </a:rPr>
              <a:t> socratique </a:t>
            </a:r>
            <a:r>
              <a:rPr lang="fr-FR" b="1" dirty="0">
                <a:latin typeface="Poppins" panose="020B0604020202020204" charset="0"/>
                <a:cs typeface="Poppins" panose="020B0604020202020204" charset="0"/>
              </a:rPr>
              <a:t>cohérent et stable</a:t>
            </a:r>
            <a:r>
              <a:rPr lang="fr-FR" dirty="0">
                <a:latin typeface="Poppins" panose="020B0604020202020204" charset="0"/>
                <a:cs typeface="Poppins" panose="020B0604020202020204" charset="0"/>
              </a:rPr>
              <a:t>  ne jamais donner la réponse directement.</a:t>
            </a:r>
            <a:endParaRPr lang="en-US" sz="1799" dirty="0">
              <a:solidFill>
                <a:srgbClr val="2B2D42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222235" y="8310843"/>
            <a:ext cx="3076115" cy="1016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698"/>
              </a:lnSpc>
            </a:pPr>
            <a:r>
              <a:rPr lang="fr-FR" dirty="0">
                <a:latin typeface="Poppins" panose="020B0604020202020204" charset="0"/>
                <a:cs typeface="Poppins" panose="020B0604020202020204" charset="0"/>
              </a:rPr>
              <a:t>Garantir la confidentialité des sessions via </a:t>
            </a:r>
            <a:r>
              <a:rPr lang="fr-FR" b="1" dirty="0">
                <a:latin typeface="Poppins" panose="020B0604020202020204" charset="0"/>
                <a:cs typeface="Poppins" panose="020B0604020202020204" charset="0"/>
              </a:rPr>
              <a:t>JWT</a:t>
            </a:r>
            <a:r>
              <a:rPr lang="fr-FR" dirty="0">
                <a:latin typeface="Poppins" panose="020B0604020202020204" charset="0"/>
                <a:cs typeface="Poppins" panose="020B0604020202020204" charset="0"/>
              </a:rPr>
              <a:t>, avec expiration automatique,</a:t>
            </a:r>
            <a:endParaRPr lang="en-US" sz="1799" dirty="0">
              <a:solidFill>
                <a:srgbClr val="2B2D42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3016562" y="8422271"/>
            <a:ext cx="3823638" cy="664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698"/>
              </a:lnSpc>
            </a:pPr>
            <a:r>
              <a:rPr lang="en-US" sz="1799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S’adapter</a:t>
            </a:r>
            <a:r>
              <a:rPr lang="en-US" sz="1799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à des </a:t>
            </a:r>
            <a:r>
              <a:rPr lang="en-US" sz="1799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environnements</a:t>
            </a:r>
            <a:r>
              <a:rPr lang="en-US" sz="1799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99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évolutifs</a:t>
            </a:r>
            <a:r>
              <a:rPr lang="en-US" sz="1799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195323" y="3984275"/>
            <a:ext cx="3076115" cy="4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148"/>
              </a:lnSpc>
              <a:spcBef>
                <a:spcPct val="0"/>
              </a:spcBef>
            </a:pPr>
            <a:r>
              <a:rPr lang="en-US" sz="2249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016562" y="4242052"/>
            <a:ext cx="3076115" cy="4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148"/>
              </a:lnSpc>
              <a:spcBef>
                <a:spcPct val="0"/>
              </a:spcBef>
            </a:pPr>
            <a:r>
              <a:rPr lang="en-US" sz="2249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Fiabilité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210696" y="7879072"/>
            <a:ext cx="3076115" cy="4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148"/>
              </a:lnSpc>
              <a:spcBef>
                <a:spcPct val="0"/>
              </a:spcBef>
            </a:pPr>
            <a:r>
              <a:rPr lang="en-US" sz="2249" b="1" dirty="0" err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Sécurité</a:t>
            </a:r>
            <a:r>
              <a:rPr lang="en-US" sz="2249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016562" y="7841220"/>
            <a:ext cx="3076115" cy="4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148"/>
              </a:lnSpc>
              <a:spcBef>
                <a:spcPct val="0"/>
              </a:spcBef>
            </a:pPr>
            <a:r>
              <a:rPr lang="en-US" sz="2249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Scalabilité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7145001" y="8623810"/>
            <a:ext cx="1141784" cy="1343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chemeClr val="tx2"/>
                </a:solidFill>
                <a:latin typeface="Alice Bold"/>
                <a:ea typeface="Alice Bold"/>
                <a:cs typeface="Alice Bold"/>
                <a:sym typeface="Alice Bold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9926" y="2735282"/>
            <a:ext cx="5429205" cy="1444972"/>
            <a:chOff x="0" y="0"/>
            <a:chExt cx="1429914" cy="3805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29914" cy="380569"/>
            </a:xfrm>
            <a:custGeom>
              <a:avLst/>
              <a:gdLst/>
              <a:ahLst/>
              <a:cxnLst/>
              <a:rect l="l" t="t" r="r" b="b"/>
              <a:pathLst>
                <a:path w="1429914" h="380569">
                  <a:moveTo>
                    <a:pt x="47057" y="0"/>
                  </a:moveTo>
                  <a:lnTo>
                    <a:pt x="1382857" y="0"/>
                  </a:lnTo>
                  <a:cubicBezTo>
                    <a:pt x="1395337" y="0"/>
                    <a:pt x="1407306" y="4958"/>
                    <a:pt x="1416131" y="13783"/>
                  </a:cubicBezTo>
                  <a:cubicBezTo>
                    <a:pt x="1424956" y="22608"/>
                    <a:pt x="1429914" y="34577"/>
                    <a:pt x="1429914" y="47057"/>
                  </a:cubicBezTo>
                  <a:lnTo>
                    <a:pt x="1429914" y="333512"/>
                  </a:lnTo>
                  <a:cubicBezTo>
                    <a:pt x="1429914" y="345992"/>
                    <a:pt x="1424956" y="357961"/>
                    <a:pt x="1416131" y="366786"/>
                  </a:cubicBezTo>
                  <a:cubicBezTo>
                    <a:pt x="1407306" y="375611"/>
                    <a:pt x="1395337" y="380569"/>
                    <a:pt x="1382857" y="380569"/>
                  </a:cubicBezTo>
                  <a:lnTo>
                    <a:pt x="47057" y="380569"/>
                  </a:lnTo>
                  <a:cubicBezTo>
                    <a:pt x="34577" y="380569"/>
                    <a:pt x="22608" y="375611"/>
                    <a:pt x="13783" y="366786"/>
                  </a:cubicBezTo>
                  <a:cubicBezTo>
                    <a:pt x="4958" y="357961"/>
                    <a:pt x="0" y="345992"/>
                    <a:pt x="0" y="333512"/>
                  </a:cubicBezTo>
                  <a:lnTo>
                    <a:pt x="0" y="47057"/>
                  </a:lnTo>
                  <a:cubicBezTo>
                    <a:pt x="0" y="34577"/>
                    <a:pt x="4958" y="22608"/>
                    <a:pt x="13783" y="13783"/>
                  </a:cubicBezTo>
                  <a:cubicBezTo>
                    <a:pt x="22608" y="4958"/>
                    <a:pt x="34577" y="0"/>
                    <a:pt x="47057" y="0"/>
                  </a:cubicBezTo>
                  <a:close/>
                </a:path>
              </a:pathLst>
            </a:custGeom>
            <a:solidFill>
              <a:srgbClr val="F8F8F8"/>
            </a:solidFill>
            <a:ln w="38100" cap="rnd">
              <a:solidFill>
                <a:srgbClr val="000000"/>
              </a:solidFill>
              <a:prstDash val="sysDot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429914" cy="4377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971235" y="2975502"/>
            <a:ext cx="860592" cy="948310"/>
          </a:xfrm>
          <a:custGeom>
            <a:avLst/>
            <a:gdLst/>
            <a:ahLst/>
            <a:cxnLst/>
            <a:rect l="l" t="t" r="r" b="b"/>
            <a:pathLst>
              <a:path w="860592" h="948310">
                <a:moveTo>
                  <a:pt x="0" y="0"/>
                </a:moveTo>
                <a:lnTo>
                  <a:pt x="860592" y="0"/>
                </a:lnTo>
                <a:lnTo>
                  <a:pt x="860592" y="948310"/>
                </a:lnTo>
                <a:lnTo>
                  <a:pt x="0" y="9483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solidFill>
              <a:schemeClr val="tx2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3.1. Méthodologie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b="1">
                <a:solidFill>
                  <a:srgbClr val="6732A7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&amp; Conception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56040" y="416854"/>
            <a:ext cx="3320336" cy="44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870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sz="1870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099237" y="3440132"/>
            <a:ext cx="3017244" cy="9525"/>
          </a:xfrm>
          <a:prstGeom prst="line">
            <a:avLst/>
          </a:prstGeom>
          <a:ln w="85725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18" name="Group 18"/>
          <p:cNvGrpSpPr/>
          <p:nvPr/>
        </p:nvGrpSpPr>
        <p:grpSpPr>
          <a:xfrm>
            <a:off x="9116482" y="2727170"/>
            <a:ext cx="8668216" cy="1444972"/>
            <a:chOff x="0" y="0"/>
            <a:chExt cx="2282987" cy="38056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82987" cy="380569"/>
            </a:xfrm>
            <a:custGeom>
              <a:avLst/>
              <a:gdLst/>
              <a:ahLst/>
              <a:cxnLst/>
              <a:rect l="l" t="t" r="r" b="b"/>
              <a:pathLst>
                <a:path w="2282987" h="380569">
                  <a:moveTo>
                    <a:pt x="29474" y="0"/>
                  </a:moveTo>
                  <a:lnTo>
                    <a:pt x="2253513" y="0"/>
                  </a:lnTo>
                  <a:cubicBezTo>
                    <a:pt x="2261330" y="0"/>
                    <a:pt x="2268827" y="3105"/>
                    <a:pt x="2274354" y="8633"/>
                  </a:cubicBezTo>
                  <a:cubicBezTo>
                    <a:pt x="2279882" y="14160"/>
                    <a:pt x="2282987" y="21657"/>
                    <a:pt x="2282987" y="29474"/>
                  </a:cubicBezTo>
                  <a:lnTo>
                    <a:pt x="2282987" y="351095"/>
                  </a:lnTo>
                  <a:cubicBezTo>
                    <a:pt x="2282987" y="358912"/>
                    <a:pt x="2279882" y="366409"/>
                    <a:pt x="2274354" y="371936"/>
                  </a:cubicBezTo>
                  <a:cubicBezTo>
                    <a:pt x="2268827" y="377464"/>
                    <a:pt x="2261330" y="380569"/>
                    <a:pt x="2253513" y="380569"/>
                  </a:cubicBezTo>
                  <a:lnTo>
                    <a:pt x="29474" y="380569"/>
                  </a:lnTo>
                  <a:cubicBezTo>
                    <a:pt x="21657" y="380569"/>
                    <a:pt x="14160" y="377464"/>
                    <a:pt x="8633" y="371936"/>
                  </a:cubicBezTo>
                  <a:cubicBezTo>
                    <a:pt x="3105" y="366409"/>
                    <a:pt x="0" y="358912"/>
                    <a:pt x="0" y="351095"/>
                  </a:cubicBezTo>
                  <a:lnTo>
                    <a:pt x="0" y="29474"/>
                  </a:lnTo>
                  <a:cubicBezTo>
                    <a:pt x="0" y="21657"/>
                    <a:pt x="3105" y="14160"/>
                    <a:pt x="8633" y="8633"/>
                  </a:cubicBezTo>
                  <a:cubicBezTo>
                    <a:pt x="14160" y="3105"/>
                    <a:pt x="21657" y="0"/>
                    <a:pt x="29474" y="0"/>
                  </a:cubicBezTo>
                  <a:close/>
                </a:path>
              </a:pathLst>
            </a:custGeom>
            <a:solidFill>
              <a:srgbClr val="F8F8F8"/>
            </a:solidFill>
            <a:ln w="38100" cap="rnd">
              <a:solidFill>
                <a:srgbClr val="000000"/>
              </a:solidFill>
              <a:prstDash val="sysDot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282987" cy="4377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746197" y="2846599"/>
            <a:ext cx="5939065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i="1" dirty="0">
                <a:solidFill>
                  <a:srgbClr val="2B2D4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Phase 2:</a:t>
            </a:r>
            <a:r>
              <a:rPr lang="en-US" sz="2000" i="1" dirty="0">
                <a:solidFill>
                  <a:srgbClr val="2B2D4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000" i="1" dirty="0" err="1">
                <a:solidFill>
                  <a:srgbClr val="2B2D4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Enrichissement</a:t>
            </a:r>
            <a:r>
              <a:rPr lang="en-US" sz="2000" i="1" dirty="0">
                <a:solidFill>
                  <a:srgbClr val="2B2D4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des </a:t>
            </a:r>
            <a:r>
              <a:rPr lang="en-US" sz="2000" i="1" dirty="0" err="1">
                <a:solidFill>
                  <a:srgbClr val="2B2D4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données</a:t>
            </a:r>
            <a:endParaRPr lang="en-US" sz="2000" i="1" dirty="0">
              <a:solidFill>
                <a:srgbClr val="2B2D42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9661020" y="3291099"/>
            <a:ext cx="2314628" cy="756251"/>
            <a:chOff x="0" y="0"/>
            <a:chExt cx="721598" cy="23576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1598" cy="235766"/>
            </a:xfrm>
            <a:custGeom>
              <a:avLst/>
              <a:gdLst/>
              <a:ahLst/>
              <a:cxnLst/>
              <a:rect l="l" t="t" r="r" b="b"/>
              <a:pathLst>
                <a:path w="721598" h="235766">
                  <a:moveTo>
                    <a:pt x="110378" y="0"/>
                  </a:moveTo>
                  <a:lnTo>
                    <a:pt x="611220" y="0"/>
                  </a:lnTo>
                  <a:cubicBezTo>
                    <a:pt x="640494" y="0"/>
                    <a:pt x="668569" y="11629"/>
                    <a:pt x="689269" y="32329"/>
                  </a:cubicBezTo>
                  <a:cubicBezTo>
                    <a:pt x="709969" y="53029"/>
                    <a:pt x="721598" y="81104"/>
                    <a:pt x="721598" y="110378"/>
                  </a:cubicBezTo>
                  <a:lnTo>
                    <a:pt x="721598" y="125388"/>
                  </a:lnTo>
                  <a:cubicBezTo>
                    <a:pt x="721598" y="154662"/>
                    <a:pt x="709969" y="182737"/>
                    <a:pt x="689269" y="203437"/>
                  </a:cubicBezTo>
                  <a:cubicBezTo>
                    <a:pt x="668569" y="224136"/>
                    <a:pt x="640494" y="235766"/>
                    <a:pt x="611220" y="235766"/>
                  </a:cubicBezTo>
                  <a:lnTo>
                    <a:pt x="110378" y="235766"/>
                  </a:lnTo>
                  <a:cubicBezTo>
                    <a:pt x="81104" y="235766"/>
                    <a:pt x="53029" y="224136"/>
                    <a:pt x="32329" y="203437"/>
                  </a:cubicBezTo>
                  <a:cubicBezTo>
                    <a:pt x="11629" y="182737"/>
                    <a:pt x="0" y="154662"/>
                    <a:pt x="0" y="125388"/>
                  </a:cubicBezTo>
                  <a:lnTo>
                    <a:pt x="0" y="110378"/>
                  </a:lnTo>
                  <a:cubicBezTo>
                    <a:pt x="0" y="81104"/>
                    <a:pt x="11629" y="53029"/>
                    <a:pt x="32329" y="32329"/>
                  </a:cubicBezTo>
                  <a:cubicBezTo>
                    <a:pt x="53029" y="11629"/>
                    <a:pt x="81104" y="0"/>
                    <a:pt x="110378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721598" cy="273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fr-FR" sz="1400" dirty="0">
                  <a:latin typeface="Poppins" panose="020B0604020202020204" charset="0"/>
                  <a:cs typeface="Poppins" panose="020B0604020202020204" charset="0"/>
                </a:rPr>
                <a:t>Extraction mots-clés (</a:t>
              </a:r>
              <a:r>
                <a:rPr lang="fr-FR" sz="1400" dirty="0" err="1">
                  <a:latin typeface="Poppins" panose="020B0604020202020204" charset="0"/>
                  <a:cs typeface="Poppins" panose="020B0604020202020204" charset="0"/>
                </a:rPr>
                <a:t>KeyBERT</a:t>
              </a:r>
              <a:r>
                <a:rPr lang="fr-FR" sz="1400" dirty="0">
                  <a:latin typeface="Poppins" panose="020B0604020202020204" charset="0"/>
                  <a:cs typeface="Poppins" panose="020B0604020202020204" charset="0"/>
                </a:rPr>
                <a:t>)</a:t>
              </a:r>
              <a:endParaRPr lang="en-US" sz="1300" dirty="0">
                <a:solidFill>
                  <a:srgbClr val="000000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353441" y="3273379"/>
            <a:ext cx="2314628" cy="756251"/>
            <a:chOff x="0" y="0"/>
            <a:chExt cx="721598" cy="23576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21598" cy="235766"/>
            </a:xfrm>
            <a:custGeom>
              <a:avLst/>
              <a:gdLst/>
              <a:ahLst/>
              <a:cxnLst/>
              <a:rect l="l" t="t" r="r" b="b"/>
              <a:pathLst>
                <a:path w="721598" h="235766">
                  <a:moveTo>
                    <a:pt x="110378" y="0"/>
                  </a:moveTo>
                  <a:lnTo>
                    <a:pt x="611220" y="0"/>
                  </a:lnTo>
                  <a:cubicBezTo>
                    <a:pt x="640494" y="0"/>
                    <a:pt x="668569" y="11629"/>
                    <a:pt x="689269" y="32329"/>
                  </a:cubicBezTo>
                  <a:cubicBezTo>
                    <a:pt x="709969" y="53029"/>
                    <a:pt x="721598" y="81104"/>
                    <a:pt x="721598" y="110378"/>
                  </a:cubicBezTo>
                  <a:lnTo>
                    <a:pt x="721598" y="125388"/>
                  </a:lnTo>
                  <a:cubicBezTo>
                    <a:pt x="721598" y="154662"/>
                    <a:pt x="709969" y="182737"/>
                    <a:pt x="689269" y="203437"/>
                  </a:cubicBezTo>
                  <a:cubicBezTo>
                    <a:pt x="668569" y="224136"/>
                    <a:pt x="640494" y="235766"/>
                    <a:pt x="611220" y="235766"/>
                  </a:cubicBezTo>
                  <a:lnTo>
                    <a:pt x="110378" y="235766"/>
                  </a:lnTo>
                  <a:cubicBezTo>
                    <a:pt x="81104" y="235766"/>
                    <a:pt x="53029" y="224136"/>
                    <a:pt x="32329" y="203437"/>
                  </a:cubicBezTo>
                  <a:cubicBezTo>
                    <a:pt x="11629" y="182737"/>
                    <a:pt x="0" y="154662"/>
                    <a:pt x="0" y="125388"/>
                  </a:cubicBezTo>
                  <a:lnTo>
                    <a:pt x="0" y="110378"/>
                  </a:lnTo>
                  <a:cubicBezTo>
                    <a:pt x="0" y="81104"/>
                    <a:pt x="11629" y="53029"/>
                    <a:pt x="32329" y="32329"/>
                  </a:cubicBezTo>
                  <a:cubicBezTo>
                    <a:pt x="53029" y="11629"/>
                    <a:pt x="81104" y="0"/>
                    <a:pt x="110378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721598" cy="273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fr-FR" sz="1400" dirty="0">
                  <a:latin typeface="Poppins" panose="020B0604020202020204" charset="0"/>
                  <a:cs typeface="Poppins" panose="020B0604020202020204" charset="0"/>
                </a:rPr>
                <a:t>Génération </a:t>
              </a:r>
              <a:r>
                <a:rPr lang="fr-FR" sz="1400" dirty="0" err="1">
                  <a:latin typeface="Poppins" panose="020B0604020202020204" charset="0"/>
                  <a:cs typeface="Poppins" panose="020B0604020202020204" charset="0"/>
                </a:rPr>
                <a:t>embeddings</a:t>
              </a:r>
              <a:r>
                <a:rPr lang="fr-FR" sz="1400" dirty="0">
                  <a:latin typeface="Poppins" panose="020B0604020202020204" charset="0"/>
                  <a:cs typeface="Poppins" panose="020B0604020202020204" charset="0"/>
                </a:rPr>
                <a:t> (Sentence-BERT)</a:t>
              </a:r>
              <a:endParaRPr lang="en-US" sz="1300" dirty="0">
                <a:solidFill>
                  <a:srgbClr val="000000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160695" y="3300624"/>
            <a:ext cx="2314628" cy="756251"/>
            <a:chOff x="0" y="0"/>
            <a:chExt cx="721598" cy="23576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1598" cy="235766"/>
            </a:xfrm>
            <a:custGeom>
              <a:avLst/>
              <a:gdLst/>
              <a:ahLst/>
              <a:cxnLst/>
              <a:rect l="l" t="t" r="r" b="b"/>
              <a:pathLst>
                <a:path w="721598" h="235766">
                  <a:moveTo>
                    <a:pt x="110378" y="0"/>
                  </a:moveTo>
                  <a:lnTo>
                    <a:pt x="611220" y="0"/>
                  </a:lnTo>
                  <a:cubicBezTo>
                    <a:pt x="640494" y="0"/>
                    <a:pt x="668569" y="11629"/>
                    <a:pt x="689269" y="32329"/>
                  </a:cubicBezTo>
                  <a:cubicBezTo>
                    <a:pt x="709969" y="53029"/>
                    <a:pt x="721598" y="81104"/>
                    <a:pt x="721598" y="110378"/>
                  </a:cubicBezTo>
                  <a:lnTo>
                    <a:pt x="721598" y="125388"/>
                  </a:lnTo>
                  <a:cubicBezTo>
                    <a:pt x="721598" y="154662"/>
                    <a:pt x="709969" y="182737"/>
                    <a:pt x="689269" y="203437"/>
                  </a:cubicBezTo>
                  <a:cubicBezTo>
                    <a:pt x="668569" y="224136"/>
                    <a:pt x="640494" y="235766"/>
                    <a:pt x="611220" y="235766"/>
                  </a:cubicBezTo>
                  <a:lnTo>
                    <a:pt x="110378" y="235766"/>
                  </a:lnTo>
                  <a:cubicBezTo>
                    <a:pt x="81104" y="235766"/>
                    <a:pt x="53029" y="224136"/>
                    <a:pt x="32329" y="203437"/>
                  </a:cubicBezTo>
                  <a:cubicBezTo>
                    <a:pt x="11629" y="182737"/>
                    <a:pt x="0" y="154662"/>
                    <a:pt x="0" y="125388"/>
                  </a:cubicBezTo>
                  <a:lnTo>
                    <a:pt x="0" y="110378"/>
                  </a:lnTo>
                  <a:cubicBezTo>
                    <a:pt x="0" y="81104"/>
                    <a:pt x="11629" y="53029"/>
                    <a:pt x="32329" y="32329"/>
                  </a:cubicBezTo>
                  <a:cubicBezTo>
                    <a:pt x="53029" y="11629"/>
                    <a:pt x="81104" y="0"/>
                    <a:pt x="110378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721598" cy="273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fr-FR" sz="1400" dirty="0">
                  <a:latin typeface="Poppins" panose="020B0604020202020204" charset="0"/>
                  <a:cs typeface="Poppins" panose="020B0604020202020204" charset="0"/>
                </a:rPr>
                <a:t>Indexation FAISS + BM25</a:t>
              </a:r>
              <a:endParaRPr lang="en-US" sz="1300" dirty="0">
                <a:solidFill>
                  <a:srgbClr val="000000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endParaRPr>
            </a:p>
          </p:txBody>
        </p:sp>
      </p:grpSp>
      <p:sp>
        <p:nvSpPr>
          <p:cNvPr id="31" name="AutoShape 31"/>
          <p:cNvSpPr/>
          <p:nvPr/>
        </p:nvSpPr>
        <p:spPr>
          <a:xfrm flipV="1">
            <a:off x="11975647" y="3669225"/>
            <a:ext cx="377793" cy="0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32" name="AutoShape 32"/>
          <p:cNvSpPr/>
          <p:nvPr/>
        </p:nvSpPr>
        <p:spPr>
          <a:xfrm>
            <a:off x="14668068" y="3678750"/>
            <a:ext cx="492626" cy="0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33" name="Group 33"/>
          <p:cNvGrpSpPr/>
          <p:nvPr/>
        </p:nvGrpSpPr>
        <p:grpSpPr>
          <a:xfrm>
            <a:off x="9116482" y="4656504"/>
            <a:ext cx="8668216" cy="2543999"/>
            <a:chOff x="0" y="0"/>
            <a:chExt cx="2282987" cy="67002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82987" cy="670024"/>
            </a:xfrm>
            <a:custGeom>
              <a:avLst/>
              <a:gdLst/>
              <a:ahLst/>
              <a:cxnLst/>
              <a:rect l="l" t="t" r="r" b="b"/>
              <a:pathLst>
                <a:path w="2282987" h="670024">
                  <a:moveTo>
                    <a:pt x="29474" y="0"/>
                  </a:moveTo>
                  <a:lnTo>
                    <a:pt x="2253513" y="0"/>
                  </a:lnTo>
                  <a:cubicBezTo>
                    <a:pt x="2261330" y="0"/>
                    <a:pt x="2268827" y="3105"/>
                    <a:pt x="2274354" y="8633"/>
                  </a:cubicBezTo>
                  <a:cubicBezTo>
                    <a:pt x="2279882" y="14160"/>
                    <a:pt x="2282987" y="21657"/>
                    <a:pt x="2282987" y="29474"/>
                  </a:cubicBezTo>
                  <a:lnTo>
                    <a:pt x="2282987" y="640551"/>
                  </a:lnTo>
                  <a:cubicBezTo>
                    <a:pt x="2282987" y="648368"/>
                    <a:pt x="2279882" y="655864"/>
                    <a:pt x="2274354" y="661392"/>
                  </a:cubicBezTo>
                  <a:cubicBezTo>
                    <a:pt x="2268827" y="666919"/>
                    <a:pt x="2261330" y="670024"/>
                    <a:pt x="2253513" y="670024"/>
                  </a:cubicBezTo>
                  <a:lnTo>
                    <a:pt x="29474" y="670024"/>
                  </a:lnTo>
                  <a:cubicBezTo>
                    <a:pt x="21657" y="670024"/>
                    <a:pt x="14160" y="666919"/>
                    <a:pt x="8633" y="661392"/>
                  </a:cubicBezTo>
                  <a:cubicBezTo>
                    <a:pt x="3105" y="655864"/>
                    <a:pt x="0" y="648368"/>
                    <a:pt x="0" y="640551"/>
                  </a:cubicBezTo>
                  <a:lnTo>
                    <a:pt x="0" y="29474"/>
                  </a:lnTo>
                  <a:cubicBezTo>
                    <a:pt x="0" y="21657"/>
                    <a:pt x="3105" y="14160"/>
                    <a:pt x="8633" y="8633"/>
                  </a:cubicBezTo>
                  <a:cubicBezTo>
                    <a:pt x="14160" y="3105"/>
                    <a:pt x="21657" y="0"/>
                    <a:pt x="29474" y="0"/>
                  </a:cubicBezTo>
                  <a:close/>
                </a:path>
              </a:pathLst>
            </a:custGeom>
            <a:solidFill>
              <a:srgbClr val="F8F8F8"/>
            </a:solidFill>
            <a:ln w="38100" cap="rnd">
              <a:solidFill>
                <a:srgbClr val="000000"/>
              </a:solidFill>
              <a:prstDash val="sysDot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2282987" cy="727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/>
            </a:p>
            <a:p>
              <a:pPr algn="ctr">
                <a:lnSpc>
                  <a:spcPts val="2612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133545" y="7619603"/>
            <a:ext cx="6697801" cy="2378665"/>
            <a:chOff x="0" y="0"/>
            <a:chExt cx="1764030" cy="6264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764030" cy="626480"/>
            </a:xfrm>
            <a:custGeom>
              <a:avLst/>
              <a:gdLst/>
              <a:ahLst/>
              <a:cxnLst/>
              <a:rect l="l" t="t" r="r" b="b"/>
              <a:pathLst>
                <a:path w="1764030" h="626480">
                  <a:moveTo>
                    <a:pt x="38144" y="0"/>
                  </a:moveTo>
                  <a:lnTo>
                    <a:pt x="1725886" y="0"/>
                  </a:lnTo>
                  <a:cubicBezTo>
                    <a:pt x="1736002" y="0"/>
                    <a:pt x="1745704" y="4019"/>
                    <a:pt x="1752858" y="11172"/>
                  </a:cubicBezTo>
                  <a:cubicBezTo>
                    <a:pt x="1760011" y="18326"/>
                    <a:pt x="1764030" y="28028"/>
                    <a:pt x="1764030" y="38144"/>
                  </a:cubicBezTo>
                  <a:lnTo>
                    <a:pt x="1764030" y="588335"/>
                  </a:lnTo>
                  <a:cubicBezTo>
                    <a:pt x="1764030" y="598452"/>
                    <a:pt x="1760011" y="608154"/>
                    <a:pt x="1752858" y="615308"/>
                  </a:cubicBezTo>
                  <a:cubicBezTo>
                    <a:pt x="1745704" y="622461"/>
                    <a:pt x="1736002" y="626480"/>
                    <a:pt x="1725886" y="626480"/>
                  </a:cubicBezTo>
                  <a:lnTo>
                    <a:pt x="38144" y="626480"/>
                  </a:lnTo>
                  <a:cubicBezTo>
                    <a:pt x="28028" y="626480"/>
                    <a:pt x="18326" y="622461"/>
                    <a:pt x="11172" y="615308"/>
                  </a:cubicBezTo>
                  <a:cubicBezTo>
                    <a:pt x="4019" y="608154"/>
                    <a:pt x="0" y="598452"/>
                    <a:pt x="0" y="588335"/>
                  </a:cubicBezTo>
                  <a:lnTo>
                    <a:pt x="0" y="38144"/>
                  </a:lnTo>
                  <a:cubicBezTo>
                    <a:pt x="0" y="28028"/>
                    <a:pt x="4019" y="18326"/>
                    <a:pt x="11172" y="11172"/>
                  </a:cubicBezTo>
                  <a:cubicBezTo>
                    <a:pt x="18326" y="4019"/>
                    <a:pt x="28028" y="0"/>
                    <a:pt x="38144" y="0"/>
                  </a:cubicBezTo>
                  <a:close/>
                </a:path>
              </a:pathLst>
            </a:custGeom>
            <a:solidFill>
              <a:srgbClr val="F8F8F8"/>
            </a:solidFill>
            <a:ln w="38100" cap="rnd">
              <a:solidFill>
                <a:srgbClr val="000000"/>
              </a:solidFill>
              <a:prstDash val="sysDot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1764030" cy="683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661020" y="5278457"/>
            <a:ext cx="2314628" cy="756251"/>
            <a:chOff x="0" y="0"/>
            <a:chExt cx="721598" cy="23576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21598" cy="235766"/>
            </a:xfrm>
            <a:custGeom>
              <a:avLst/>
              <a:gdLst/>
              <a:ahLst/>
              <a:cxnLst/>
              <a:rect l="l" t="t" r="r" b="b"/>
              <a:pathLst>
                <a:path w="721598" h="235766">
                  <a:moveTo>
                    <a:pt x="110378" y="0"/>
                  </a:moveTo>
                  <a:lnTo>
                    <a:pt x="611220" y="0"/>
                  </a:lnTo>
                  <a:cubicBezTo>
                    <a:pt x="640494" y="0"/>
                    <a:pt x="668569" y="11629"/>
                    <a:pt x="689269" y="32329"/>
                  </a:cubicBezTo>
                  <a:cubicBezTo>
                    <a:pt x="709969" y="53029"/>
                    <a:pt x="721598" y="81104"/>
                    <a:pt x="721598" y="110378"/>
                  </a:cubicBezTo>
                  <a:lnTo>
                    <a:pt x="721598" y="125388"/>
                  </a:lnTo>
                  <a:cubicBezTo>
                    <a:pt x="721598" y="154662"/>
                    <a:pt x="709969" y="182737"/>
                    <a:pt x="689269" y="203437"/>
                  </a:cubicBezTo>
                  <a:cubicBezTo>
                    <a:pt x="668569" y="224136"/>
                    <a:pt x="640494" y="235766"/>
                    <a:pt x="611220" y="235766"/>
                  </a:cubicBezTo>
                  <a:lnTo>
                    <a:pt x="110378" y="235766"/>
                  </a:lnTo>
                  <a:cubicBezTo>
                    <a:pt x="81104" y="235766"/>
                    <a:pt x="53029" y="224136"/>
                    <a:pt x="32329" y="203437"/>
                  </a:cubicBezTo>
                  <a:cubicBezTo>
                    <a:pt x="11629" y="182737"/>
                    <a:pt x="0" y="154662"/>
                    <a:pt x="0" y="125388"/>
                  </a:cubicBezTo>
                  <a:lnTo>
                    <a:pt x="0" y="110378"/>
                  </a:lnTo>
                  <a:cubicBezTo>
                    <a:pt x="0" y="81104"/>
                    <a:pt x="11629" y="53029"/>
                    <a:pt x="32329" y="32329"/>
                  </a:cubicBezTo>
                  <a:cubicBezTo>
                    <a:pt x="53029" y="11629"/>
                    <a:pt x="81104" y="0"/>
                    <a:pt x="110378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721598" cy="273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fr-FR" sz="1400" dirty="0" err="1">
                  <a:latin typeface="Poppins" panose="020B0604020202020204" charset="0"/>
                  <a:cs typeface="Poppins" panose="020B0604020202020204" charset="0"/>
                </a:rPr>
                <a:t>Query</a:t>
              </a:r>
              <a:r>
                <a:rPr lang="fr-FR" sz="1400" dirty="0">
                  <a:latin typeface="Poppins" panose="020B0604020202020204" charset="0"/>
                  <a:cs typeface="Poppins" panose="020B0604020202020204" charset="0"/>
                </a:rPr>
                <a:t> Expansion (Mistral</a:t>
              </a:r>
              <a:r>
                <a:rPr lang="fr-FR" sz="1400" dirty="0"/>
                <a:t>)</a:t>
              </a:r>
              <a:endParaRPr lang="en-US" sz="13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746197" y="4792682"/>
            <a:ext cx="477766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i="1" dirty="0">
                <a:solidFill>
                  <a:srgbClr val="2B2D4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Phase 3:</a:t>
            </a:r>
            <a:r>
              <a:rPr lang="en-US" sz="2000" i="1" dirty="0">
                <a:solidFill>
                  <a:srgbClr val="2B2D4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Pipeline RAG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5160695" y="5156246"/>
            <a:ext cx="2314628" cy="878462"/>
            <a:chOff x="0" y="-38100"/>
            <a:chExt cx="721598" cy="273865"/>
          </a:xfrm>
        </p:grpSpPr>
        <p:sp>
          <p:nvSpPr>
            <p:cNvPr id="44" name="Freeform 44"/>
            <p:cNvSpPr/>
            <p:nvPr/>
          </p:nvSpPr>
          <p:spPr>
            <a:xfrm>
              <a:off x="0" y="-4717"/>
              <a:ext cx="721598" cy="235766"/>
            </a:xfrm>
            <a:custGeom>
              <a:avLst/>
              <a:gdLst/>
              <a:ahLst/>
              <a:cxnLst/>
              <a:rect l="l" t="t" r="r" b="b"/>
              <a:pathLst>
                <a:path w="721598" h="235766">
                  <a:moveTo>
                    <a:pt x="110378" y="0"/>
                  </a:moveTo>
                  <a:lnTo>
                    <a:pt x="611220" y="0"/>
                  </a:lnTo>
                  <a:cubicBezTo>
                    <a:pt x="640494" y="0"/>
                    <a:pt x="668569" y="11629"/>
                    <a:pt x="689269" y="32329"/>
                  </a:cubicBezTo>
                  <a:cubicBezTo>
                    <a:pt x="709969" y="53029"/>
                    <a:pt x="721598" y="81104"/>
                    <a:pt x="721598" y="110378"/>
                  </a:cubicBezTo>
                  <a:lnTo>
                    <a:pt x="721598" y="125388"/>
                  </a:lnTo>
                  <a:cubicBezTo>
                    <a:pt x="721598" y="154662"/>
                    <a:pt x="709969" y="182737"/>
                    <a:pt x="689269" y="203437"/>
                  </a:cubicBezTo>
                  <a:cubicBezTo>
                    <a:pt x="668569" y="224136"/>
                    <a:pt x="640494" y="235766"/>
                    <a:pt x="611220" y="235766"/>
                  </a:cubicBezTo>
                  <a:lnTo>
                    <a:pt x="110378" y="235766"/>
                  </a:lnTo>
                  <a:cubicBezTo>
                    <a:pt x="81104" y="235766"/>
                    <a:pt x="53029" y="224136"/>
                    <a:pt x="32329" y="203437"/>
                  </a:cubicBezTo>
                  <a:cubicBezTo>
                    <a:pt x="11629" y="182737"/>
                    <a:pt x="0" y="154662"/>
                    <a:pt x="0" y="125388"/>
                  </a:cubicBezTo>
                  <a:lnTo>
                    <a:pt x="0" y="110378"/>
                  </a:lnTo>
                  <a:cubicBezTo>
                    <a:pt x="0" y="81104"/>
                    <a:pt x="11629" y="53029"/>
                    <a:pt x="32329" y="32329"/>
                  </a:cubicBezTo>
                  <a:cubicBezTo>
                    <a:pt x="53029" y="11629"/>
                    <a:pt x="81104" y="0"/>
                    <a:pt x="110378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721598" cy="273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fr-FR" sz="1400" dirty="0">
                  <a:latin typeface="Poppins" panose="020B0604020202020204" charset="0"/>
                  <a:cs typeface="Poppins" panose="020B0604020202020204" charset="0"/>
                </a:rPr>
                <a:t>Multi-</a:t>
              </a:r>
              <a:r>
                <a:rPr lang="fr-FR" sz="1400" dirty="0" err="1">
                  <a:latin typeface="Poppins" panose="020B0604020202020204" charset="0"/>
                  <a:cs typeface="Poppins" panose="020B0604020202020204" charset="0"/>
                </a:rPr>
                <a:t>Retrieval</a:t>
              </a:r>
              <a:r>
                <a:rPr lang="fr-FR" sz="1400" dirty="0">
                  <a:latin typeface="Poppins" panose="020B0604020202020204" charset="0"/>
                  <a:cs typeface="Poppins" panose="020B0604020202020204" charset="0"/>
                </a:rPr>
                <a:t> (Hybride</a:t>
              </a:r>
            </a:p>
            <a:p>
              <a:pPr algn="ctr">
                <a:lnSpc>
                  <a:spcPts val="1820"/>
                </a:lnSpc>
              </a:pPr>
              <a:r>
                <a:rPr lang="fr-FR" sz="1400" dirty="0" err="1">
                  <a:solidFill>
                    <a:srgbClr val="000000"/>
                  </a:solidFill>
                  <a:latin typeface="Poppins" panose="020B0604020202020204" charset="0"/>
                  <a:ea typeface="Poppins"/>
                  <a:cs typeface="Poppins" panose="020B0604020202020204" charset="0"/>
                  <a:sym typeface="Poppins"/>
                </a:rPr>
                <a:t>Search</a:t>
              </a:r>
              <a:r>
                <a:rPr lang="fr-FR" sz="1400" dirty="0">
                  <a:solidFill>
                    <a:srgbClr val="000000"/>
                  </a:solidFill>
                  <a:latin typeface="Poppins" panose="020B0604020202020204" charset="0"/>
                  <a:ea typeface="Poppins"/>
                  <a:cs typeface="Poppins" panose="020B0604020202020204" charset="0"/>
                  <a:sym typeface="Poppins"/>
                </a:rPr>
                <a:t>)</a:t>
              </a:r>
              <a:endParaRPr lang="en-US" sz="1300" dirty="0">
                <a:solidFill>
                  <a:srgbClr val="000000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661020" y="6293020"/>
            <a:ext cx="2314628" cy="756251"/>
            <a:chOff x="0" y="0"/>
            <a:chExt cx="721598" cy="23576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21598" cy="235766"/>
            </a:xfrm>
            <a:custGeom>
              <a:avLst/>
              <a:gdLst/>
              <a:ahLst/>
              <a:cxnLst/>
              <a:rect l="l" t="t" r="r" b="b"/>
              <a:pathLst>
                <a:path w="721598" h="235766">
                  <a:moveTo>
                    <a:pt x="110378" y="0"/>
                  </a:moveTo>
                  <a:lnTo>
                    <a:pt x="611220" y="0"/>
                  </a:lnTo>
                  <a:cubicBezTo>
                    <a:pt x="640494" y="0"/>
                    <a:pt x="668569" y="11629"/>
                    <a:pt x="689269" y="32329"/>
                  </a:cubicBezTo>
                  <a:cubicBezTo>
                    <a:pt x="709969" y="53029"/>
                    <a:pt x="721598" y="81104"/>
                    <a:pt x="721598" y="110378"/>
                  </a:cubicBezTo>
                  <a:lnTo>
                    <a:pt x="721598" y="125388"/>
                  </a:lnTo>
                  <a:cubicBezTo>
                    <a:pt x="721598" y="154662"/>
                    <a:pt x="709969" y="182737"/>
                    <a:pt x="689269" y="203437"/>
                  </a:cubicBezTo>
                  <a:cubicBezTo>
                    <a:pt x="668569" y="224136"/>
                    <a:pt x="640494" y="235766"/>
                    <a:pt x="611220" y="235766"/>
                  </a:cubicBezTo>
                  <a:lnTo>
                    <a:pt x="110378" y="235766"/>
                  </a:lnTo>
                  <a:cubicBezTo>
                    <a:pt x="81104" y="235766"/>
                    <a:pt x="53029" y="224136"/>
                    <a:pt x="32329" y="203437"/>
                  </a:cubicBezTo>
                  <a:cubicBezTo>
                    <a:pt x="11629" y="182737"/>
                    <a:pt x="0" y="154662"/>
                    <a:pt x="0" y="125388"/>
                  </a:cubicBezTo>
                  <a:lnTo>
                    <a:pt x="0" y="110378"/>
                  </a:lnTo>
                  <a:cubicBezTo>
                    <a:pt x="0" y="81104"/>
                    <a:pt x="11629" y="53029"/>
                    <a:pt x="32329" y="32329"/>
                  </a:cubicBezTo>
                  <a:cubicBezTo>
                    <a:pt x="53029" y="11629"/>
                    <a:pt x="81104" y="0"/>
                    <a:pt x="110378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721598" cy="273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en-US" sz="1400" dirty="0">
                  <a:solidFill>
                    <a:srgbClr val="000000"/>
                  </a:solidFill>
                  <a:latin typeface="Poppins" panose="020B0604020202020204" charset="0"/>
                  <a:ea typeface="Poppins"/>
                  <a:cs typeface="Poppins" panose="020B0604020202020204" charset="0"/>
                  <a:sym typeface="Poppins"/>
                </a:rPr>
                <a:t>Cache </a:t>
              </a:r>
              <a:r>
                <a:rPr lang="en-US" sz="1400" dirty="0" err="1">
                  <a:solidFill>
                    <a:srgbClr val="000000"/>
                  </a:solidFill>
                  <a:latin typeface="Poppins" panose="020B0604020202020204" charset="0"/>
                  <a:ea typeface="Poppins"/>
                  <a:cs typeface="Poppins" panose="020B0604020202020204" charset="0"/>
                  <a:sym typeface="Poppins"/>
                </a:rPr>
                <a:t>Sémentique</a:t>
              </a:r>
              <a:endParaRPr lang="en-US" sz="1400" dirty="0">
                <a:solidFill>
                  <a:srgbClr val="000000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353441" y="6293020"/>
            <a:ext cx="2314628" cy="756251"/>
            <a:chOff x="0" y="0"/>
            <a:chExt cx="721598" cy="23576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21598" cy="235766"/>
            </a:xfrm>
            <a:custGeom>
              <a:avLst/>
              <a:gdLst/>
              <a:ahLst/>
              <a:cxnLst/>
              <a:rect l="l" t="t" r="r" b="b"/>
              <a:pathLst>
                <a:path w="721598" h="235766">
                  <a:moveTo>
                    <a:pt x="110378" y="0"/>
                  </a:moveTo>
                  <a:lnTo>
                    <a:pt x="611220" y="0"/>
                  </a:lnTo>
                  <a:cubicBezTo>
                    <a:pt x="640494" y="0"/>
                    <a:pt x="668569" y="11629"/>
                    <a:pt x="689269" y="32329"/>
                  </a:cubicBezTo>
                  <a:cubicBezTo>
                    <a:pt x="709969" y="53029"/>
                    <a:pt x="721598" y="81104"/>
                    <a:pt x="721598" y="110378"/>
                  </a:cubicBezTo>
                  <a:lnTo>
                    <a:pt x="721598" y="125388"/>
                  </a:lnTo>
                  <a:cubicBezTo>
                    <a:pt x="721598" y="154662"/>
                    <a:pt x="709969" y="182737"/>
                    <a:pt x="689269" y="203437"/>
                  </a:cubicBezTo>
                  <a:cubicBezTo>
                    <a:pt x="668569" y="224136"/>
                    <a:pt x="640494" y="235766"/>
                    <a:pt x="611220" y="235766"/>
                  </a:cubicBezTo>
                  <a:lnTo>
                    <a:pt x="110378" y="235766"/>
                  </a:lnTo>
                  <a:cubicBezTo>
                    <a:pt x="81104" y="235766"/>
                    <a:pt x="53029" y="224136"/>
                    <a:pt x="32329" y="203437"/>
                  </a:cubicBezTo>
                  <a:cubicBezTo>
                    <a:pt x="11629" y="182737"/>
                    <a:pt x="0" y="154662"/>
                    <a:pt x="0" y="125388"/>
                  </a:cubicBezTo>
                  <a:lnTo>
                    <a:pt x="0" y="110378"/>
                  </a:lnTo>
                  <a:cubicBezTo>
                    <a:pt x="0" y="81104"/>
                    <a:pt x="11629" y="53029"/>
                    <a:pt x="32329" y="32329"/>
                  </a:cubicBezTo>
                  <a:cubicBezTo>
                    <a:pt x="53029" y="11629"/>
                    <a:pt x="81104" y="0"/>
                    <a:pt x="110378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721598" cy="273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en-US" sz="1400" dirty="0">
                  <a:solidFill>
                    <a:srgbClr val="000000"/>
                  </a:solidFill>
                  <a:latin typeface="Poppins" panose="020B0604020202020204" charset="0"/>
                  <a:ea typeface="Poppins"/>
                  <a:cs typeface="Poppins" panose="020B0604020202020204" charset="0"/>
                  <a:sym typeface="Poppins"/>
                </a:rPr>
                <a:t>Top 3 chunks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5155906" y="6170809"/>
            <a:ext cx="2319417" cy="878462"/>
            <a:chOff x="-1493" y="-38100"/>
            <a:chExt cx="723091" cy="273865"/>
          </a:xfrm>
        </p:grpSpPr>
        <p:sp>
          <p:nvSpPr>
            <p:cNvPr id="53" name="Freeform 53"/>
            <p:cNvSpPr/>
            <p:nvPr/>
          </p:nvSpPr>
          <p:spPr>
            <a:xfrm>
              <a:off x="-1493" y="-4853"/>
              <a:ext cx="721598" cy="235766"/>
            </a:xfrm>
            <a:custGeom>
              <a:avLst/>
              <a:gdLst/>
              <a:ahLst/>
              <a:cxnLst/>
              <a:rect l="l" t="t" r="r" b="b"/>
              <a:pathLst>
                <a:path w="721598" h="235766">
                  <a:moveTo>
                    <a:pt x="110378" y="0"/>
                  </a:moveTo>
                  <a:lnTo>
                    <a:pt x="611220" y="0"/>
                  </a:lnTo>
                  <a:cubicBezTo>
                    <a:pt x="640494" y="0"/>
                    <a:pt x="668569" y="11629"/>
                    <a:pt x="689269" y="32329"/>
                  </a:cubicBezTo>
                  <a:cubicBezTo>
                    <a:pt x="709969" y="53029"/>
                    <a:pt x="721598" y="81104"/>
                    <a:pt x="721598" y="110378"/>
                  </a:cubicBezTo>
                  <a:lnTo>
                    <a:pt x="721598" y="125388"/>
                  </a:lnTo>
                  <a:cubicBezTo>
                    <a:pt x="721598" y="154662"/>
                    <a:pt x="709969" y="182737"/>
                    <a:pt x="689269" y="203437"/>
                  </a:cubicBezTo>
                  <a:cubicBezTo>
                    <a:pt x="668569" y="224136"/>
                    <a:pt x="640494" y="235766"/>
                    <a:pt x="611220" y="235766"/>
                  </a:cubicBezTo>
                  <a:lnTo>
                    <a:pt x="110378" y="235766"/>
                  </a:lnTo>
                  <a:cubicBezTo>
                    <a:pt x="81104" y="235766"/>
                    <a:pt x="53029" y="224136"/>
                    <a:pt x="32329" y="203437"/>
                  </a:cubicBezTo>
                  <a:cubicBezTo>
                    <a:pt x="11629" y="182737"/>
                    <a:pt x="0" y="154662"/>
                    <a:pt x="0" y="125388"/>
                  </a:cubicBezTo>
                  <a:lnTo>
                    <a:pt x="0" y="110378"/>
                  </a:lnTo>
                  <a:cubicBezTo>
                    <a:pt x="0" y="81104"/>
                    <a:pt x="11629" y="53029"/>
                    <a:pt x="32329" y="32329"/>
                  </a:cubicBezTo>
                  <a:cubicBezTo>
                    <a:pt x="53029" y="11629"/>
                    <a:pt x="81104" y="0"/>
                    <a:pt x="110378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721598" cy="273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fr-FR" sz="1400" dirty="0">
                  <a:latin typeface="Poppins" panose="020B0604020202020204" charset="0"/>
                  <a:cs typeface="Poppins" panose="020B0604020202020204" charset="0"/>
                </a:rPr>
                <a:t>BGE </a:t>
              </a:r>
              <a:r>
                <a:rPr lang="fr-FR" sz="1400" dirty="0" err="1">
                  <a:latin typeface="Poppins" panose="020B0604020202020204" charset="0"/>
                  <a:cs typeface="Poppins" panose="020B0604020202020204" charset="0"/>
                </a:rPr>
                <a:t>Reranker</a:t>
              </a:r>
              <a:r>
                <a:rPr lang="fr-FR" sz="1400" dirty="0">
                  <a:latin typeface="Poppins" panose="020B0604020202020204" charset="0"/>
                  <a:cs typeface="Poppins" panose="020B0604020202020204" charset="0"/>
                </a:rPr>
                <a:t> </a:t>
              </a:r>
              <a:endParaRPr lang="en-US" sz="1300" dirty="0">
                <a:solidFill>
                  <a:srgbClr val="000000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endParaRPr>
            </a:p>
          </p:txBody>
        </p:sp>
      </p:grpSp>
      <p:sp>
        <p:nvSpPr>
          <p:cNvPr id="55" name="AutoShape 55"/>
          <p:cNvSpPr/>
          <p:nvPr/>
        </p:nvSpPr>
        <p:spPr>
          <a:xfrm>
            <a:off x="11975647" y="5656582"/>
            <a:ext cx="3185048" cy="0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56" name="AutoShape 56"/>
          <p:cNvSpPr/>
          <p:nvPr/>
        </p:nvSpPr>
        <p:spPr>
          <a:xfrm flipH="1">
            <a:off x="11975647" y="6680670"/>
            <a:ext cx="377793" cy="0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57" name="AutoShape 57"/>
          <p:cNvSpPr/>
          <p:nvPr/>
        </p:nvSpPr>
        <p:spPr>
          <a:xfrm flipH="1">
            <a:off x="14668068" y="6671145"/>
            <a:ext cx="492626" cy="0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58" name="AutoShape 58"/>
          <p:cNvSpPr/>
          <p:nvPr/>
        </p:nvSpPr>
        <p:spPr>
          <a:xfrm>
            <a:off x="16318009" y="6034708"/>
            <a:ext cx="0" cy="258312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59" name="AutoShape 59"/>
          <p:cNvSpPr/>
          <p:nvPr/>
        </p:nvSpPr>
        <p:spPr>
          <a:xfrm>
            <a:off x="13450590" y="4172143"/>
            <a:ext cx="0" cy="484361"/>
          </a:xfrm>
          <a:prstGeom prst="line">
            <a:avLst/>
          </a:prstGeom>
          <a:ln w="85725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60" name="Group 60"/>
          <p:cNvGrpSpPr/>
          <p:nvPr/>
        </p:nvGrpSpPr>
        <p:grpSpPr>
          <a:xfrm>
            <a:off x="10383028" y="8159940"/>
            <a:ext cx="1888718" cy="596170"/>
            <a:chOff x="0" y="-11695"/>
            <a:chExt cx="588818" cy="18585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88818" cy="147759"/>
            </a:xfrm>
            <a:custGeom>
              <a:avLst/>
              <a:gdLst/>
              <a:ahLst/>
              <a:cxnLst/>
              <a:rect l="l" t="t" r="r" b="b"/>
              <a:pathLst>
                <a:path w="588818" h="147759">
                  <a:moveTo>
                    <a:pt x="73880" y="0"/>
                  </a:moveTo>
                  <a:lnTo>
                    <a:pt x="514939" y="0"/>
                  </a:lnTo>
                  <a:cubicBezTo>
                    <a:pt x="534533" y="0"/>
                    <a:pt x="553324" y="7784"/>
                    <a:pt x="567179" y="21639"/>
                  </a:cubicBezTo>
                  <a:cubicBezTo>
                    <a:pt x="581035" y="35494"/>
                    <a:pt x="588818" y="54286"/>
                    <a:pt x="588818" y="73880"/>
                  </a:cubicBezTo>
                  <a:lnTo>
                    <a:pt x="588818" y="73880"/>
                  </a:lnTo>
                  <a:cubicBezTo>
                    <a:pt x="588818" y="93474"/>
                    <a:pt x="581035" y="112265"/>
                    <a:pt x="567179" y="126120"/>
                  </a:cubicBezTo>
                  <a:cubicBezTo>
                    <a:pt x="553324" y="139976"/>
                    <a:pt x="534533" y="147759"/>
                    <a:pt x="514939" y="147759"/>
                  </a:cubicBezTo>
                  <a:lnTo>
                    <a:pt x="73880" y="147759"/>
                  </a:lnTo>
                  <a:cubicBezTo>
                    <a:pt x="54286" y="147759"/>
                    <a:pt x="35494" y="139976"/>
                    <a:pt x="21639" y="126120"/>
                  </a:cubicBezTo>
                  <a:cubicBezTo>
                    <a:pt x="7784" y="112265"/>
                    <a:pt x="0" y="93474"/>
                    <a:pt x="0" y="73880"/>
                  </a:cubicBezTo>
                  <a:lnTo>
                    <a:pt x="0" y="73880"/>
                  </a:lnTo>
                  <a:cubicBezTo>
                    <a:pt x="0" y="54286"/>
                    <a:pt x="7784" y="35494"/>
                    <a:pt x="21639" y="21639"/>
                  </a:cubicBezTo>
                  <a:cubicBezTo>
                    <a:pt x="35494" y="7784"/>
                    <a:pt x="54286" y="0"/>
                    <a:pt x="73880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1695"/>
              <a:ext cx="588818" cy="185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fr-FR" sz="1400" dirty="0">
                  <a:latin typeface="Poppins" panose="020B0604020202020204" charset="0"/>
                  <a:cs typeface="Poppins" panose="020B0604020202020204" charset="0"/>
                </a:rPr>
                <a:t>Calibration niveau étudiant</a:t>
              </a:r>
              <a:endParaRPr lang="en-US" sz="1300" dirty="0">
                <a:solidFill>
                  <a:srgbClr val="000000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688025" y="8510588"/>
            <a:ext cx="1888718" cy="502534"/>
            <a:chOff x="0" y="0"/>
            <a:chExt cx="588818" cy="15666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88818" cy="156668"/>
            </a:xfrm>
            <a:custGeom>
              <a:avLst/>
              <a:gdLst/>
              <a:ahLst/>
              <a:cxnLst/>
              <a:rect l="l" t="t" r="r" b="b"/>
              <a:pathLst>
                <a:path w="588818" h="156668">
                  <a:moveTo>
                    <a:pt x="78334" y="0"/>
                  </a:moveTo>
                  <a:lnTo>
                    <a:pt x="510484" y="0"/>
                  </a:lnTo>
                  <a:cubicBezTo>
                    <a:pt x="531260" y="0"/>
                    <a:pt x="551184" y="8253"/>
                    <a:pt x="565875" y="22943"/>
                  </a:cubicBezTo>
                  <a:cubicBezTo>
                    <a:pt x="580565" y="37634"/>
                    <a:pt x="588818" y="57558"/>
                    <a:pt x="588818" y="78334"/>
                  </a:cubicBezTo>
                  <a:lnTo>
                    <a:pt x="588818" y="78334"/>
                  </a:lnTo>
                  <a:cubicBezTo>
                    <a:pt x="588818" y="121596"/>
                    <a:pt x="553747" y="156668"/>
                    <a:pt x="510484" y="156668"/>
                  </a:cubicBezTo>
                  <a:lnTo>
                    <a:pt x="78334" y="156668"/>
                  </a:lnTo>
                  <a:cubicBezTo>
                    <a:pt x="35071" y="156668"/>
                    <a:pt x="0" y="121596"/>
                    <a:pt x="0" y="78334"/>
                  </a:cubicBezTo>
                  <a:lnTo>
                    <a:pt x="0" y="78334"/>
                  </a:lnTo>
                  <a:cubicBezTo>
                    <a:pt x="0" y="35071"/>
                    <a:pt x="35071" y="0"/>
                    <a:pt x="78334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588818" cy="1947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en-US" sz="13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Prompt Engineering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383028" y="8828486"/>
            <a:ext cx="1888718" cy="502534"/>
            <a:chOff x="0" y="0"/>
            <a:chExt cx="588818" cy="15666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88818" cy="156668"/>
            </a:xfrm>
            <a:custGeom>
              <a:avLst/>
              <a:gdLst/>
              <a:ahLst/>
              <a:cxnLst/>
              <a:rect l="l" t="t" r="r" b="b"/>
              <a:pathLst>
                <a:path w="588818" h="156668">
                  <a:moveTo>
                    <a:pt x="78334" y="0"/>
                  </a:moveTo>
                  <a:lnTo>
                    <a:pt x="510484" y="0"/>
                  </a:lnTo>
                  <a:cubicBezTo>
                    <a:pt x="531260" y="0"/>
                    <a:pt x="551184" y="8253"/>
                    <a:pt x="565875" y="22943"/>
                  </a:cubicBezTo>
                  <a:cubicBezTo>
                    <a:pt x="580565" y="37634"/>
                    <a:pt x="588818" y="57558"/>
                    <a:pt x="588818" y="78334"/>
                  </a:cubicBezTo>
                  <a:lnTo>
                    <a:pt x="588818" y="78334"/>
                  </a:lnTo>
                  <a:cubicBezTo>
                    <a:pt x="588818" y="121596"/>
                    <a:pt x="553747" y="156668"/>
                    <a:pt x="510484" y="156668"/>
                  </a:cubicBezTo>
                  <a:lnTo>
                    <a:pt x="78334" y="156668"/>
                  </a:lnTo>
                  <a:cubicBezTo>
                    <a:pt x="35071" y="156668"/>
                    <a:pt x="0" y="121596"/>
                    <a:pt x="0" y="78334"/>
                  </a:cubicBezTo>
                  <a:lnTo>
                    <a:pt x="0" y="78334"/>
                  </a:lnTo>
                  <a:cubicBezTo>
                    <a:pt x="0" y="35071"/>
                    <a:pt x="35071" y="0"/>
                    <a:pt x="78334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588818" cy="1947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en-US" sz="1400" dirty="0" err="1">
                  <a:solidFill>
                    <a:srgbClr val="000000"/>
                  </a:solidFill>
                  <a:latin typeface="Poppins" panose="020B0604020202020204" charset="0"/>
                  <a:ea typeface="Poppins"/>
                  <a:cs typeface="Poppins" panose="020B0604020202020204" charset="0"/>
                  <a:sym typeface="Poppins"/>
                </a:rPr>
                <a:t>Rôle</a:t>
              </a:r>
              <a:r>
                <a:rPr lang="en-US" sz="1400" dirty="0">
                  <a:solidFill>
                    <a:srgbClr val="000000"/>
                  </a:solidFill>
                  <a:latin typeface="Poppins" panose="020B0604020202020204" charset="0"/>
                  <a:ea typeface="Poppins"/>
                  <a:cs typeface="Poppins" panose="020B0604020202020204" charset="0"/>
                  <a:sym typeface="Poppins"/>
                </a:rPr>
                <a:t> et </a:t>
              </a:r>
              <a:r>
                <a:rPr lang="en-US" sz="1400" dirty="0" err="1">
                  <a:solidFill>
                    <a:srgbClr val="000000"/>
                  </a:solidFill>
                  <a:latin typeface="Poppins" panose="020B0604020202020204" charset="0"/>
                  <a:ea typeface="Poppins"/>
                  <a:cs typeface="Poppins" panose="020B0604020202020204" charset="0"/>
                  <a:sym typeface="Poppins"/>
                </a:rPr>
                <a:t>règles</a:t>
              </a:r>
              <a:endParaRPr lang="en-US" sz="1400" dirty="0">
                <a:solidFill>
                  <a:srgbClr val="000000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4740904" y="9365002"/>
            <a:ext cx="1888718" cy="521584"/>
            <a:chOff x="0" y="0"/>
            <a:chExt cx="588818" cy="162607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88818" cy="162607"/>
            </a:xfrm>
            <a:custGeom>
              <a:avLst/>
              <a:gdLst/>
              <a:ahLst/>
              <a:cxnLst/>
              <a:rect l="l" t="t" r="r" b="b"/>
              <a:pathLst>
                <a:path w="588818" h="162607">
                  <a:moveTo>
                    <a:pt x="81303" y="0"/>
                  </a:moveTo>
                  <a:lnTo>
                    <a:pt x="507515" y="0"/>
                  </a:lnTo>
                  <a:cubicBezTo>
                    <a:pt x="529078" y="0"/>
                    <a:pt x="549758" y="8566"/>
                    <a:pt x="565005" y="23813"/>
                  </a:cubicBezTo>
                  <a:cubicBezTo>
                    <a:pt x="580252" y="39061"/>
                    <a:pt x="588818" y="59740"/>
                    <a:pt x="588818" y="81303"/>
                  </a:cubicBezTo>
                  <a:lnTo>
                    <a:pt x="588818" y="81303"/>
                  </a:lnTo>
                  <a:cubicBezTo>
                    <a:pt x="588818" y="102866"/>
                    <a:pt x="580252" y="123546"/>
                    <a:pt x="565005" y="138793"/>
                  </a:cubicBezTo>
                  <a:cubicBezTo>
                    <a:pt x="549758" y="154041"/>
                    <a:pt x="529078" y="162607"/>
                    <a:pt x="507515" y="162607"/>
                  </a:cubicBezTo>
                  <a:lnTo>
                    <a:pt x="81303" y="162607"/>
                  </a:lnTo>
                  <a:cubicBezTo>
                    <a:pt x="59740" y="162607"/>
                    <a:pt x="39061" y="154041"/>
                    <a:pt x="23813" y="138793"/>
                  </a:cubicBezTo>
                  <a:cubicBezTo>
                    <a:pt x="8566" y="123546"/>
                    <a:pt x="0" y="102866"/>
                    <a:pt x="0" y="81303"/>
                  </a:cubicBezTo>
                  <a:lnTo>
                    <a:pt x="0" y="81303"/>
                  </a:lnTo>
                  <a:cubicBezTo>
                    <a:pt x="0" y="59740"/>
                    <a:pt x="8566" y="39061"/>
                    <a:pt x="23813" y="23813"/>
                  </a:cubicBezTo>
                  <a:cubicBezTo>
                    <a:pt x="39061" y="8566"/>
                    <a:pt x="59740" y="0"/>
                    <a:pt x="81303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588818" cy="200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en-US" sz="13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Cas </a:t>
              </a:r>
              <a:r>
                <a:rPr lang="en-US" sz="13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spèciale</a:t>
              </a:r>
              <a:endParaRPr lang="en-US" sz="13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635147" y="9384052"/>
            <a:ext cx="1888718" cy="502534"/>
            <a:chOff x="0" y="0"/>
            <a:chExt cx="588818" cy="15666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88818" cy="156668"/>
            </a:xfrm>
            <a:custGeom>
              <a:avLst/>
              <a:gdLst/>
              <a:ahLst/>
              <a:cxnLst/>
              <a:rect l="l" t="t" r="r" b="b"/>
              <a:pathLst>
                <a:path w="588818" h="156668">
                  <a:moveTo>
                    <a:pt x="78334" y="0"/>
                  </a:moveTo>
                  <a:lnTo>
                    <a:pt x="510484" y="0"/>
                  </a:lnTo>
                  <a:cubicBezTo>
                    <a:pt x="531260" y="0"/>
                    <a:pt x="551184" y="8253"/>
                    <a:pt x="565875" y="22943"/>
                  </a:cubicBezTo>
                  <a:cubicBezTo>
                    <a:pt x="580565" y="37634"/>
                    <a:pt x="588818" y="57558"/>
                    <a:pt x="588818" y="78334"/>
                  </a:cubicBezTo>
                  <a:lnTo>
                    <a:pt x="588818" y="78334"/>
                  </a:lnTo>
                  <a:cubicBezTo>
                    <a:pt x="588818" y="121596"/>
                    <a:pt x="553747" y="156668"/>
                    <a:pt x="510484" y="156668"/>
                  </a:cubicBezTo>
                  <a:lnTo>
                    <a:pt x="78334" y="156668"/>
                  </a:lnTo>
                  <a:cubicBezTo>
                    <a:pt x="35071" y="156668"/>
                    <a:pt x="0" y="121596"/>
                    <a:pt x="0" y="78334"/>
                  </a:cubicBezTo>
                  <a:lnTo>
                    <a:pt x="0" y="78334"/>
                  </a:lnTo>
                  <a:cubicBezTo>
                    <a:pt x="0" y="35071"/>
                    <a:pt x="35071" y="0"/>
                    <a:pt x="78334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588818" cy="1947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en-US" sz="13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Gestion de </a:t>
              </a:r>
              <a:r>
                <a:rPr lang="en-US" sz="13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blocage</a:t>
              </a:r>
              <a:endParaRPr lang="en-US" sz="13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5" name="AutoShape 75"/>
          <p:cNvSpPr/>
          <p:nvPr/>
        </p:nvSpPr>
        <p:spPr>
          <a:xfrm flipH="1">
            <a:off x="12271745" y="8434432"/>
            <a:ext cx="377793" cy="0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76" name="AutoShape 76"/>
          <p:cNvSpPr/>
          <p:nvPr/>
        </p:nvSpPr>
        <p:spPr>
          <a:xfrm flipH="1">
            <a:off x="12271745" y="9089278"/>
            <a:ext cx="377793" cy="0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77" name="AutoShape 77"/>
          <p:cNvSpPr/>
          <p:nvPr/>
        </p:nvSpPr>
        <p:spPr>
          <a:xfrm>
            <a:off x="13579505" y="9195618"/>
            <a:ext cx="0" cy="188434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78" name="AutoShape 78"/>
          <p:cNvSpPr/>
          <p:nvPr/>
        </p:nvSpPr>
        <p:spPr>
          <a:xfrm flipH="1">
            <a:off x="15685263" y="9195618"/>
            <a:ext cx="0" cy="169384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79" name="AutoShape 79"/>
          <p:cNvSpPr/>
          <p:nvPr/>
        </p:nvSpPr>
        <p:spPr>
          <a:xfrm>
            <a:off x="12649539" y="8434432"/>
            <a:ext cx="0" cy="654846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0" name="AutoShape 80"/>
          <p:cNvSpPr/>
          <p:nvPr/>
        </p:nvSpPr>
        <p:spPr>
          <a:xfrm flipV="1">
            <a:off x="12649539" y="8761855"/>
            <a:ext cx="1038486" cy="0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1" name="AutoShape 81"/>
          <p:cNvSpPr/>
          <p:nvPr/>
        </p:nvSpPr>
        <p:spPr>
          <a:xfrm>
            <a:off x="13579505" y="9195618"/>
            <a:ext cx="2105757" cy="0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2" name="AutoShape 82"/>
          <p:cNvSpPr/>
          <p:nvPr/>
        </p:nvSpPr>
        <p:spPr>
          <a:xfrm>
            <a:off x="14632384" y="9013122"/>
            <a:ext cx="0" cy="182496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3" name="AutoShape 83"/>
          <p:cNvSpPr/>
          <p:nvPr/>
        </p:nvSpPr>
        <p:spPr>
          <a:xfrm>
            <a:off x="13450590" y="7200503"/>
            <a:ext cx="31856" cy="419100"/>
          </a:xfrm>
          <a:prstGeom prst="line">
            <a:avLst/>
          </a:prstGeom>
          <a:ln w="85725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84" name="Group 84"/>
          <p:cNvGrpSpPr/>
          <p:nvPr/>
        </p:nvGrpSpPr>
        <p:grpSpPr>
          <a:xfrm>
            <a:off x="669926" y="4734380"/>
            <a:ext cx="7294030" cy="5234162"/>
            <a:chOff x="0" y="0"/>
            <a:chExt cx="1921061" cy="137854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921061" cy="1378545"/>
            </a:xfrm>
            <a:custGeom>
              <a:avLst/>
              <a:gdLst/>
              <a:ahLst/>
              <a:cxnLst/>
              <a:rect l="l" t="t" r="r" b="b"/>
              <a:pathLst>
                <a:path w="1921061" h="1378545">
                  <a:moveTo>
                    <a:pt x="35026" y="0"/>
                  </a:moveTo>
                  <a:lnTo>
                    <a:pt x="1886035" y="0"/>
                  </a:lnTo>
                  <a:cubicBezTo>
                    <a:pt x="1895325" y="0"/>
                    <a:pt x="1904234" y="3690"/>
                    <a:pt x="1910802" y="10259"/>
                  </a:cubicBezTo>
                  <a:cubicBezTo>
                    <a:pt x="1917371" y="16828"/>
                    <a:pt x="1921061" y="25737"/>
                    <a:pt x="1921061" y="35026"/>
                  </a:cubicBezTo>
                  <a:lnTo>
                    <a:pt x="1921061" y="1343518"/>
                  </a:lnTo>
                  <a:cubicBezTo>
                    <a:pt x="1921061" y="1362863"/>
                    <a:pt x="1905380" y="1378545"/>
                    <a:pt x="1886035" y="1378545"/>
                  </a:cubicBezTo>
                  <a:lnTo>
                    <a:pt x="35026" y="1378545"/>
                  </a:lnTo>
                  <a:cubicBezTo>
                    <a:pt x="15682" y="1378545"/>
                    <a:pt x="0" y="1362863"/>
                    <a:pt x="0" y="1343518"/>
                  </a:cubicBezTo>
                  <a:lnTo>
                    <a:pt x="0" y="35026"/>
                  </a:lnTo>
                  <a:cubicBezTo>
                    <a:pt x="0" y="15682"/>
                    <a:pt x="15682" y="0"/>
                    <a:pt x="35026" y="0"/>
                  </a:cubicBezTo>
                  <a:close/>
                </a:path>
              </a:pathLst>
            </a:custGeom>
            <a:solidFill>
              <a:srgbClr val="F8F8F8"/>
            </a:solidFill>
            <a:ln w="38100" cap="rnd">
              <a:solidFill>
                <a:srgbClr val="000000"/>
              </a:solidFill>
              <a:prstDash val="sysDot"/>
              <a:round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57150"/>
              <a:ext cx="1921061" cy="1435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028700" y="5405315"/>
            <a:ext cx="1888718" cy="502534"/>
            <a:chOff x="0" y="0"/>
            <a:chExt cx="588818" cy="156668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588818" cy="156668"/>
            </a:xfrm>
            <a:custGeom>
              <a:avLst/>
              <a:gdLst/>
              <a:ahLst/>
              <a:cxnLst/>
              <a:rect l="l" t="t" r="r" b="b"/>
              <a:pathLst>
                <a:path w="588818" h="156668">
                  <a:moveTo>
                    <a:pt x="78334" y="0"/>
                  </a:moveTo>
                  <a:lnTo>
                    <a:pt x="510484" y="0"/>
                  </a:lnTo>
                  <a:cubicBezTo>
                    <a:pt x="531260" y="0"/>
                    <a:pt x="551184" y="8253"/>
                    <a:pt x="565875" y="22943"/>
                  </a:cubicBezTo>
                  <a:cubicBezTo>
                    <a:pt x="580565" y="37634"/>
                    <a:pt x="588818" y="57558"/>
                    <a:pt x="588818" y="78334"/>
                  </a:cubicBezTo>
                  <a:lnTo>
                    <a:pt x="588818" y="78334"/>
                  </a:lnTo>
                  <a:cubicBezTo>
                    <a:pt x="588818" y="121596"/>
                    <a:pt x="553747" y="156668"/>
                    <a:pt x="510484" y="156668"/>
                  </a:cubicBezTo>
                  <a:lnTo>
                    <a:pt x="78334" y="156668"/>
                  </a:lnTo>
                  <a:cubicBezTo>
                    <a:pt x="35071" y="156668"/>
                    <a:pt x="0" y="121596"/>
                    <a:pt x="0" y="78334"/>
                  </a:cubicBezTo>
                  <a:lnTo>
                    <a:pt x="0" y="78334"/>
                  </a:lnTo>
                  <a:cubicBezTo>
                    <a:pt x="0" y="35071"/>
                    <a:pt x="35071" y="0"/>
                    <a:pt x="78334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588818" cy="1947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en-US" sz="1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API </a:t>
              </a:r>
              <a:r>
                <a:rPr lang="en-US" sz="1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FastAPI</a:t>
              </a:r>
              <a:endParaRPr lang="en-US" sz="1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3848746" y="5817716"/>
            <a:ext cx="2458421" cy="1801887"/>
            <a:chOff x="-813" y="-57150"/>
            <a:chExt cx="856891" cy="601675"/>
          </a:xfrm>
        </p:grpSpPr>
        <p:sp>
          <p:nvSpPr>
            <p:cNvPr id="94" name="Freeform 94"/>
            <p:cNvSpPr/>
            <p:nvPr/>
          </p:nvSpPr>
          <p:spPr>
            <a:xfrm>
              <a:off x="-813" y="240394"/>
              <a:ext cx="843193" cy="247147"/>
            </a:xfrm>
            <a:custGeom>
              <a:avLst/>
              <a:gdLst/>
              <a:ahLst/>
              <a:cxnLst/>
              <a:rect l="l" t="t" r="r" b="b"/>
              <a:pathLst>
                <a:path w="856078" h="544525">
                  <a:moveTo>
                    <a:pt x="78600" y="0"/>
                  </a:moveTo>
                  <a:lnTo>
                    <a:pt x="777478" y="0"/>
                  </a:lnTo>
                  <a:cubicBezTo>
                    <a:pt x="820887" y="0"/>
                    <a:pt x="856078" y="35190"/>
                    <a:pt x="856078" y="78600"/>
                  </a:cubicBezTo>
                  <a:lnTo>
                    <a:pt x="856078" y="465925"/>
                  </a:lnTo>
                  <a:cubicBezTo>
                    <a:pt x="856078" y="486771"/>
                    <a:pt x="847797" y="506764"/>
                    <a:pt x="833056" y="521504"/>
                  </a:cubicBezTo>
                  <a:cubicBezTo>
                    <a:pt x="818316" y="536244"/>
                    <a:pt x="798324" y="544525"/>
                    <a:pt x="777478" y="544525"/>
                  </a:cubicBezTo>
                  <a:lnTo>
                    <a:pt x="78600" y="544525"/>
                  </a:lnTo>
                  <a:cubicBezTo>
                    <a:pt x="57754" y="544525"/>
                    <a:pt x="37762" y="536244"/>
                    <a:pt x="23021" y="521504"/>
                  </a:cubicBezTo>
                  <a:cubicBezTo>
                    <a:pt x="8281" y="506764"/>
                    <a:pt x="0" y="486771"/>
                    <a:pt x="0" y="465925"/>
                  </a:cubicBezTo>
                  <a:lnTo>
                    <a:pt x="0" y="78600"/>
                  </a:lnTo>
                  <a:cubicBezTo>
                    <a:pt x="0" y="57754"/>
                    <a:pt x="8281" y="37762"/>
                    <a:pt x="23021" y="23021"/>
                  </a:cubicBezTo>
                  <a:cubicBezTo>
                    <a:pt x="37762" y="8281"/>
                    <a:pt x="57754" y="0"/>
                    <a:pt x="78600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/>
              <a:endParaRPr lang="fr-FR" sz="1400" dirty="0">
                <a:latin typeface="Poppins" panose="020B0604020202020204" charset="0"/>
                <a:cs typeface="Poppins" panose="020B0604020202020204" charset="0"/>
              </a:endParaRPr>
            </a:p>
            <a:p>
              <a:pPr algn="ctr"/>
              <a:r>
                <a:rPr lang="fr-FR" sz="1400" dirty="0">
                  <a:latin typeface="Poppins" panose="020B0604020202020204" charset="0"/>
                  <a:cs typeface="Poppins" panose="020B0604020202020204" charset="0"/>
                </a:rPr>
                <a:t> Interface </a:t>
              </a:r>
              <a:r>
                <a:rPr lang="fr-FR" sz="1400" dirty="0" err="1">
                  <a:latin typeface="Poppins" panose="020B0604020202020204" charset="0"/>
                  <a:cs typeface="Poppins" panose="020B0604020202020204" charset="0"/>
                </a:rPr>
                <a:t>React</a:t>
              </a:r>
              <a:endParaRPr lang="fr-FR" sz="1400" dirty="0">
                <a:latin typeface="Poppins" panose="020B0604020202020204" charset="0"/>
                <a:cs typeface="Poppins" panose="020B0604020202020204" charset="0"/>
              </a:endParaRPr>
            </a:p>
            <a:p>
              <a:endParaRPr lang="fr-FR" sz="1400" dirty="0">
                <a:latin typeface="Poppins" panose="020B0604020202020204" charset="0"/>
                <a:cs typeface="Poppins" panose="020B0604020202020204" charset="0"/>
              </a:endParaRPr>
            </a:p>
            <a:p>
              <a:r>
                <a:rPr lang="fr-FR" sz="1400" dirty="0">
                  <a:latin typeface="Poppins" panose="020B0604020202020204" charset="0"/>
                  <a:cs typeface="Poppins" panose="020B0604020202020204" charset="0"/>
                </a:rPr>
                <a:t>                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57150"/>
              <a:ext cx="856078" cy="601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/>
            </a:p>
          </p:txBody>
        </p:sp>
      </p:grpSp>
      <p:sp>
        <p:nvSpPr>
          <p:cNvPr id="104" name="TextBox 104"/>
          <p:cNvSpPr txBox="1"/>
          <p:nvPr/>
        </p:nvSpPr>
        <p:spPr>
          <a:xfrm>
            <a:off x="5586271" y="6655657"/>
            <a:ext cx="944359" cy="6095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20"/>
              </a:lnSpc>
            </a:pPr>
            <a:endParaRPr lang="en-US" sz="13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TextBox 110"/>
          <p:cNvSpPr txBox="1"/>
          <p:nvPr/>
        </p:nvSpPr>
        <p:spPr>
          <a:xfrm>
            <a:off x="5147758" y="8103817"/>
            <a:ext cx="1888718" cy="62474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20"/>
              </a:lnSpc>
            </a:pPr>
            <a:endParaRPr lang="en-US" sz="13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1" name="Group 111"/>
          <p:cNvGrpSpPr/>
          <p:nvPr/>
        </p:nvGrpSpPr>
        <p:grpSpPr>
          <a:xfrm>
            <a:off x="1028700" y="9185872"/>
            <a:ext cx="1888718" cy="502534"/>
            <a:chOff x="0" y="0"/>
            <a:chExt cx="588818" cy="156668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588818" cy="156668"/>
            </a:xfrm>
            <a:custGeom>
              <a:avLst/>
              <a:gdLst/>
              <a:ahLst/>
              <a:cxnLst/>
              <a:rect l="l" t="t" r="r" b="b"/>
              <a:pathLst>
                <a:path w="588818" h="156668">
                  <a:moveTo>
                    <a:pt x="78334" y="0"/>
                  </a:moveTo>
                  <a:lnTo>
                    <a:pt x="510484" y="0"/>
                  </a:lnTo>
                  <a:cubicBezTo>
                    <a:pt x="531260" y="0"/>
                    <a:pt x="551184" y="8253"/>
                    <a:pt x="565875" y="22943"/>
                  </a:cubicBezTo>
                  <a:cubicBezTo>
                    <a:pt x="580565" y="37634"/>
                    <a:pt x="588818" y="57558"/>
                    <a:pt x="588818" y="78334"/>
                  </a:cubicBezTo>
                  <a:lnTo>
                    <a:pt x="588818" y="78334"/>
                  </a:lnTo>
                  <a:cubicBezTo>
                    <a:pt x="588818" y="121596"/>
                    <a:pt x="553747" y="156668"/>
                    <a:pt x="510484" y="156668"/>
                  </a:cubicBezTo>
                  <a:lnTo>
                    <a:pt x="78334" y="156668"/>
                  </a:lnTo>
                  <a:cubicBezTo>
                    <a:pt x="35071" y="156668"/>
                    <a:pt x="0" y="121596"/>
                    <a:pt x="0" y="78334"/>
                  </a:cubicBezTo>
                  <a:lnTo>
                    <a:pt x="0" y="78334"/>
                  </a:lnTo>
                  <a:cubicBezTo>
                    <a:pt x="0" y="35071"/>
                    <a:pt x="35071" y="0"/>
                    <a:pt x="78334" y="0"/>
                  </a:cubicBezTo>
                  <a:close/>
                </a:path>
              </a:pathLst>
            </a:custGeom>
            <a:solidFill>
              <a:srgbClr val="F8F8F8"/>
            </a:solidFill>
            <a:ln w="19050" cap="rnd">
              <a:gradFill>
                <a:gsLst>
                  <a:gs pos="0">
                    <a:srgbClr val="5F249F">
                      <a:alpha val="100000"/>
                    </a:srgbClr>
                  </a:gs>
                  <a:gs pos="100000">
                    <a:srgbClr val="D9E4F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-38100"/>
              <a:ext cx="588818" cy="1947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en-US" sz="13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Evaluation</a:t>
              </a:r>
            </a:p>
          </p:txBody>
        </p:sp>
      </p:grpSp>
      <p:sp>
        <p:nvSpPr>
          <p:cNvPr id="114" name="AutoShape 114"/>
          <p:cNvSpPr/>
          <p:nvPr/>
        </p:nvSpPr>
        <p:spPr>
          <a:xfrm>
            <a:off x="3228776" y="9059704"/>
            <a:ext cx="480344" cy="0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115" name="AutoShape 115"/>
          <p:cNvSpPr/>
          <p:nvPr/>
        </p:nvSpPr>
        <p:spPr>
          <a:xfrm>
            <a:off x="3228776" y="9302519"/>
            <a:ext cx="480344" cy="0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AutoShape 116"/>
          <p:cNvSpPr/>
          <p:nvPr/>
        </p:nvSpPr>
        <p:spPr>
          <a:xfrm>
            <a:off x="3228776" y="9543184"/>
            <a:ext cx="480344" cy="0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117" name="AutoShape 117"/>
          <p:cNvSpPr/>
          <p:nvPr/>
        </p:nvSpPr>
        <p:spPr>
          <a:xfrm>
            <a:off x="3228776" y="9780236"/>
            <a:ext cx="480344" cy="0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118" name="AutoShape 118"/>
          <p:cNvSpPr/>
          <p:nvPr/>
        </p:nvSpPr>
        <p:spPr>
          <a:xfrm>
            <a:off x="3219251" y="9050179"/>
            <a:ext cx="9525" cy="730056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9" name="AutoShape 119"/>
          <p:cNvSpPr/>
          <p:nvPr/>
        </p:nvSpPr>
        <p:spPr>
          <a:xfrm flipV="1">
            <a:off x="2917418" y="9437139"/>
            <a:ext cx="311358" cy="0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0" name="Freeform 120"/>
          <p:cNvSpPr/>
          <p:nvPr/>
        </p:nvSpPr>
        <p:spPr>
          <a:xfrm>
            <a:off x="1589729" y="7870901"/>
            <a:ext cx="766660" cy="796530"/>
          </a:xfrm>
          <a:custGeom>
            <a:avLst/>
            <a:gdLst/>
            <a:ahLst/>
            <a:cxnLst/>
            <a:rect l="l" t="t" r="r" b="b"/>
            <a:pathLst>
              <a:path w="766660" h="796530">
                <a:moveTo>
                  <a:pt x="0" y="0"/>
                </a:moveTo>
                <a:lnTo>
                  <a:pt x="766660" y="0"/>
                </a:lnTo>
                <a:lnTo>
                  <a:pt x="766660" y="796529"/>
                </a:lnTo>
                <a:lnTo>
                  <a:pt x="0" y="7965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1" name="TextBox 121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204622" y="3208549"/>
            <a:ext cx="3736249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i="1" dirty="0">
                <a:solidFill>
                  <a:srgbClr val="2B2D4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Phase 1: </a:t>
            </a:r>
            <a:r>
              <a:rPr lang="en-US" sz="2000" i="1" dirty="0" err="1">
                <a:solidFill>
                  <a:srgbClr val="2B2D4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Collecte</a:t>
            </a:r>
            <a:r>
              <a:rPr lang="en-US" sz="2000" i="1" dirty="0">
                <a:solidFill>
                  <a:srgbClr val="2B2D4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de </a:t>
            </a:r>
            <a:r>
              <a:rPr lang="en-US" sz="2000" i="1" dirty="0" err="1">
                <a:solidFill>
                  <a:srgbClr val="2B2D4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donné</a:t>
            </a:r>
            <a:endParaRPr lang="en-US" sz="2000" i="1" dirty="0">
              <a:solidFill>
                <a:srgbClr val="2B2D42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124" name="TextBox 124"/>
          <p:cNvSpPr txBox="1"/>
          <p:nvPr/>
        </p:nvSpPr>
        <p:spPr>
          <a:xfrm>
            <a:off x="10383028" y="7733903"/>
            <a:ext cx="477766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b="1" i="1" dirty="0">
                <a:solidFill>
                  <a:srgbClr val="2B2D4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Phase 4:</a:t>
            </a:r>
            <a:r>
              <a:rPr lang="en-US" sz="2000" i="1" dirty="0">
                <a:solidFill>
                  <a:srgbClr val="2B2D4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fr-FR" sz="2000" dirty="0">
                <a:latin typeface="Poppins Italics" panose="020B0604020202020204" charset="0"/>
                <a:cs typeface="Poppins Italics" panose="020B0604020202020204" charset="0"/>
              </a:rPr>
              <a:t>Moteur Socratique</a:t>
            </a:r>
            <a:endParaRPr lang="en-US" sz="2000" i="1" dirty="0">
              <a:solidFill>
                <a:srgbClr val="2B2D42"/>
              </a:solidFill>
              <a:latin typeface="Poppins Italics" panose="020B0604020202020204" charset="0"/>
              <a:ea typeface="Poppins Italics"/>
              <a:cs typeface="Poppins Italics" panose="020B0604020202020204" charset="0"/>
              <a:sym typeface="Poppins Italics"/>
            </a:endParaRPr>
          </a:p>
        </p:txBody>
      </p:sp>
      <p:sp>
        <p:nvSpPr>
          <p:cNvPr id="125" name="TextBox 125"/>
          <p:cNvSpPr txBox="1"/>
          <p:nvPr/>
        </p:nvSpPr>
        <p:spPr>
          <a:xfrm>
            <a:off x="1028700" y="4910157"/>
            <a:ext cx="477766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i="1" dirty="0">
                <a:solidFill>
                  <a:srgbClr val="2B2D4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Phase 5:</a:t>
            </a:r>
            <a:endParaRPr lang="en-US" sz="2000" i="1" dirty="0"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126" name="TextBox 126"/>
          <p:cNvSpPr txBox="1"/>
          <p:nvPr/>
        </p:nvSpPr>
        <p:spPr>
          <a:xfrm>
            <a:off x="3709120" y="9626566"/>
            <a:ext cx="4065507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Problème</a:t>
            </a:r>
            <a:r>
              <a:rPr lang="en-US" sz="1400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de base de </a:t>
            </a:r>
            <a:r>
              <a:rPr lang="en-US" sz="1400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données</a:t>
            </a:r>
            <a:r>
              <a:rPr lang="en-US" sz="1400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n-US" sz="1400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sauvegarde</a:t>
            </a:r>
            <a:endParaRPr lang="en-US" sz="1400" dirty="0">
              <a:solidFill>
                <a:srgbClr val="2B2D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TextBox 127"/>
          <p:cNvSpPr txBox="1"/>
          <p:nvPr/>
        </p:nvSpPr>
        <p:spPr>
          <a:xfrm>
            <a:off x="3709120" y="9389514"/>
            <a:ext cx="3985964" cy="24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Evaluation </a:t>
            </a:r>
            <a:r>
              <a:rPr lang="en-US" sz="1400" dirty="0" err="1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humaine</a:t>
            </a:r>
            <a:endParaRPr lang="en-US" sz="1400" dirty="0">
              <a:solidFill>
                <a:srgbClr val="2B2D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TextBox 128"/>
          <p:cNvSpPr txBox="1"/>
          <p:nvPr/>
        </p:nvSpPr>
        <p:spPr>
          <a:xfrm>
            <a:off x="3709120" y="9148849"/>
            <a:ext cx="3985964" cy="24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Evaluation des performances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3709120" y="8906035"/>
            <a:ext cx="3985964" cy="24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 dirty="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Evaluation Pipeline RAG (RAGAS)</a:t>
            </a:r>
          </a:p>
        </p:txBody>
      </p:sp>
      <p:sp>
        <p:nvSpPr>
          <p:cNvPr id="131" name="AutoShape 131"/>
          <p:cNvSpPr/>
          <p:nvPr/>
        </p:nvSpPr>
        <p:spPr>
          <a:xfrm flipH="1">
            <a:off x="2158344" y="7068455"/>
            <a:ext cx="1697942" cy="802445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132" name="AutoShape 132"/>
          <p:cNvSpPr/>
          <p:nvPr/>
        </p:nvSpPr>
        <p:spPr>
          <a:xfrm flipV="1">
            <a:off x="1900257" y="5907849"/>
            <a:ext cx="72802" cy="1963052"/>
          </a:xfrm>
          <a:prstGeom prst="line">
            <a:avLst/>
          </a:prstGeom>
          <a:ln w="1905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triangle" w="lg" len="med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35" name="AutoShape 135"/>
          <p:cNvSpPr/>
          <p:nvPr/>
        </p:nvSpPr>
        <p:spPr>
          <a:xfrm flipH="1">
            <a:off x="8010447" y="8808936"/>
            <a:ext cx="2123098" cy="0"/>
          </a:xfrm>
          <a:prstGeom prst="line">
            <a:avLst/>
          </a:prstGeom>
          <a:ln w="85725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136" name="TextBox 136"/>
          <p:cNvSpPr txBox="1"/>
          <p:nvPr/>
        </p:nvSpPr>
        <p:spPr>
          <a:xfrm>
            <a:off x="17193297" y="8623810"/>
            <a:ext cx="1094703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10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8630E33-BEAF-4919-999C-CD2AA8C8B7C1}"/>
              </a:ext>
            </a:extLst>
          </p:cNvPr>
          <p:cNvSpPr/>
          <p:nvPr/>
        </p:nvSpPr>
        <p:spPr>
          <a:xfrm>
            <a:off x="2200172" y="4894258"/>
            <a:ext cx="31518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>
                <a:solidFill>
                  <a:srgbClr val="2B2D42"/>
                </a:solidFill>
                <a:latin typeface="Poppins Italics"/>
                <a:cs typeface="Poppins Italics"/>
                <a:sym typeface="Poppins Italics"/>
              </a:rPr>
              <a:t>Déploiement</a:t>
            </a:r>
            <a:r>
              <a:rPr lang="en-US" i="1" dirty="0">
                <a:solidFill>
                  <a:srgbClr val="2B2D42"/>
                </a:solidFill>
                <a:latin typeface="Poppins Italics"/>
                <a:cs typeface="Poppins Italics"/>
                <a:sym typeface="Poppins Italics"/>
              </a:rPr>
              <a:t> + Evaluation</a:t>
            </a:r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4312539"/>
            <a:ext cx="2002955" cy="2503694"/>
          </a:xfrm>
          <a:custGeom>
            <a:avLst/>
            <a:gdLst/>
            <a:ahLst/>
            <a:cxnLst/>
            <a:rect l="l" t="t" r="r" b="b"/>
            <a:pathLst>
              <a:path w="2002955" h="2503694">
                <a:moveTo>
                  <a:pt x="0" y="0"/>
                </a:moveTo>
                <a:lnTo>
                  <a:pt x="2002955" y="0"/>
                </a:lnTo>
                <a:lnTo>
                  <a:pt x="2002955" y="2503694"/>
                </a:lnTo>
                <a:lnTo>
                  <a:pt x="0" y="2503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solidFill>
              <a:schemeClr val="tx2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3.1. Méthodologie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b="1">
                <a:solidFill>
                  <a:srgbClr val="6732A7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&amp; Conception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57873" y="527899"/>
            <a:ext cx="3320336" cy="650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  <a:p>
            <a:pPr algn="ctr">
              <a:lnSpc>
                <a:spcPts val="2612"/>
              </a:lnSpc>
            </a:pPr>
            <a:endParaRPr lang="en-US" sz="1865" dirty="0">
              <a:solidFill>
                <a:srgbClr val="2B2D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58206" y="7471615"/>
            <a:ext cx="1808044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148"/>
              </a:lnSpc>
              <a:spcBef>
                <a:spcPct val="0"/>
              </a:spcBef>
            </a:pPr>
            <a:r>
              <a:rPr lang="en-US" sz="2249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400 Chunks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145000" y="8623810"/>
            <a:ext cx="1106242" cy="1343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11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84517" y="2621235"/>
            <a:ext cx="6091413" cy="52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1 : </a:t>
            </a:r>
            <a:r>
              <a:rPr lang="en-US" sz="3152" i="1" u="none" strike="noStrike">
                <a:solidFill>
                  <a:srgbClr val="2B2D42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Collecte des données </a:t>
            </a:r>
          </a:p>
        </p:txBody>
      </p:sp>
      <p:sp>
        <p:nvSpPr>
          <p:cNvPr id="23" name="AutoShape 23"/>
          <p:cNvSpPr/>
          <p:nvPr/>
        </p:nvSpPr>
        <p:spPr>
          <a:xfrm flipH="1">
            <a:off x="8397528" y="6702974"/>
            <a:ext cx="1182212" cy="1094079"/>
          </a:xfrm>
          <a:prstGeom prst="line">
            <a:avLst/>
          </a:prstGeom>
          <a:ln w="85725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 flipH="1">
            <a:off x="8255515" y="7656538"/>
            <a:ext cx="1324225" cy="1"/>
          </a:xfrm>
          <a:prstGeom prst="line">
            <a:avLst/>
          </a:prstGeom>
          <a:ln w="85725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5" name="AutoShape 25"/>
          <p:cNvSpPr/>
          <p:nvPr/>
        </p:nvSpPr>
        <p:spPr>
          <a:xfrm flipV="1">
            <a:off x="3219771" y="5672702"/>
            <a:ext cx="1785183" cy="2"/>
          </a:xfrm>
          <a:prstGeom prst="line">
            <a:avLst/>
          </a:prstGeom>
          <a:ln w="85725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26" name="AutoShape 26"/>
          <p:cNvSpPr/>
          <p:nvPr/>
        </p:nvSpPr>
        <p:spPr>
          <a:xfrm>
            <a:off x="6840928" y="5564386"/>
            <a:ext cx="1722622" cy="0"/>
          </a:xfrm>
          <a:prstGeom prst="line">
            <a:avLst/>
          </a:prstGeom>
          <a:ln w="85725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D84863A6-283B-2286-A1DB-6F1AC14DD2C6}"/>
              </a:ext>
            </a:extLst>
          </p:cNvPr>
          <p:cNvSpPr/>
          <p:nvPr/>
        </p:nvSpPr>
        <p:spPr>
          <a:xfrm>
            <a:off x="1474530" y="11408934"/>
            <a:ext cx="7443097" cy="5926566"/>
          </a:xfrm>
          <a:custGeom>
            <a:avLst/>
            <a:gdLst/>
            <a:ahLst/>
            <a:cxnLst/>
            <a:rect l="l" t="t" r="r" b="b"/>
            <a:pathLst>
              <a:path w="7443097" h="5926566">
                <a:moveTo>
                  <a:pt x="0" y="0"/>
                </a:moveTo>
                <a:lnTo>
                  <a:pt x="7443097" y="0"/>
                </a:lnTo>
                <a:lnTo>
                  <a:pt x="7443097" y="5926566"/>
                </a:lnTo>
                <a:lnTo>
                  <a:pt x="0" y="59265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67CEAE48-561F-7F74-F699-CFC04B051CCC}"/>
              </a:ext>
            </a:extLst>
          </p:cNvPr>
          <p:cNvSpPr txBox="1"/>
          <p:nvPr/>
        </p:nvSpPr>
        <p:spPr>
          <a:xfrm>
            <a:off x="1474530" y="-603363"/>
            <a:ext cx="6091413" cy="52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2 : </a:t>
            </a:r>
            <a:r>
              <a:rPr lang="en-US" sz="3152" i="1" u="none" strike="noStrike" dirty="0" err="1">
                <a:solidFill>
                  <a:srgbClr val="2B2D42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Labelisation</a:t>
            </a:r>
            <a:endParaRPr lang="en-US" sz="3152" i="1" u="none" strike="noStrike" dirty="0">
              <a:solidFill>
                <a:srgbClr val="2B2D42"/>
              </a:solidFill>
              <a:latin typeface="Cormorant Garamond Italics"/>
              <a:ea typeface="Cormorant Garamond Italics"/>
              <a:cs typeface="Cormorant Garamond Italics"/>
              <a:sym typeface="Cormorant Garamond Italics"/>
            </a:endParaRPr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5C841B49-798B-98A7-E209-EE95BD7FB3CF}"/>
              </a:ext>
            </a:extLst>
          </p:cNvPr>
          <p:cNvSpPr/>
          <p:nvPr/>
        </p:nvSpPr>
        <p:spPr>
          <a:xfrm>
            <a:off x="10735711" y="11577486"/>
            <a:ext cx="6723117" cy="5971982"/>
          </a:xfrm>
          <a:custGeom>
            <a:avLst/>
            <a:gdLst/>
            <a:ahLst/>
            <a:cxnLst/>
            <a:rect l="l" t="t" r="r" b="b"/>
            <a:pathLst>
              <a:path w="6723117" h="5971982">
                <a:moveTo>
                  <a:pt x="0" y="0"/>
                </a:moveTo>
                <a:lnTo>
                  <a:pt x="6723116" y="0"/>
                </a:lnTo>
                <a:lnTo>
                  <a:pt x="6723116" y="5971982"/>
                </a:lnTo>
                <a:lnTo>
                  <a:pt x="0" y="59719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2050" name="Picture 2" descr="Lecteur PDF App: Convertir PDF ‒ Applis sur Google Play">
            <a:extLst>
              <a:ext uri="{FF2B5EF4-FFF2-40B4-BE49-F238E27FC236}">
                <a16:creationId xmlns:a16="http://schemas.microsoft.com/office/drawing/2014/main" id="{7ABA8DE7-1876-4F3C-82CF-BBE2B60FE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236" y="4188173"/>
            <a:ext cx="2749108" cy="2749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Ellipse 19">
            <a:extLst>
              <a:ext uri="{FF2B5EF4-FFF2-40B4-BE49-F238E27FC236}">
                <a16:creationId xmlns:a16="http://schemas.microsoft.com/office/drawing/2014/main" id="{AE543BF9-4F08-406F-8EAA-DDC5A4F5FBB6}"/>
              </a:ext>
            </a:extLst>
          </p:cNvPr>
          <p:cNvSpPr/>
          <p:nvPr/>
        </p:nvSpPr>
        <p:spPr>
          <a:xfrm>
            <a:off x="8697892" y="4693292"/>
            <a:ext cx="2857097" cy="17255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CHUNKING</a:t>
            </a:r>
            <a:endParaRPr lang="fr-FR" sz="260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04116D4B-7321-4AE8-855E-5E51A12AD3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5173" y="2428811"/>
            <a:ext cx="4772691" cy="3505181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CD77F74F-C943-43DB-9BB7-A14198626D4E}"/>
              </a:ext>
            </a:extLst>
          </p:cNvPr>
          <p:cNvSpPr txBox="1"/>
          <p:nvPr/>
        </p:nvSpPr>
        <p:spPr>
          <a:xfrm>
            <a:off x="10158524" y="842976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38978B02-D437-4A5E-A7B4-AA8DBDF22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41DB0244-07F8-451C-8A30-7DF067B60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657D6A84-B07E-449E-9DFB-EE70F92129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5646" y="6903756"/>
            <a:ext cx="4277322" cy="10288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3.1. Méthodologie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b="1">
                <a:solidFill>
                  <a:srgbClr val="6732A7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&amp; Conception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56040" y="409717"/>
            <a:ext cx="3320336" cy="44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870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sz="1870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59300" y="8623810"/>
            <a:ext cx="1028700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12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84517" y="2621235"/>
            <a:ext cx="6091413" cy="53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2 : </a:t>
            </a:r>
            <a:r>
              <a:rPr lang="en-US" sz="3152" b="1" i="1" dirty="0" err="1">
                <a:solidFill>
                  <a:srgbClr val="2B2D42"/>
                </a:solidFill>
                <a:latin typeface="Cormorant Garamond Italics"/>
                <a:ea typeface="Cormorant Garamond Bold Italics"/>
                <a:cs typeface="Cormorant Garamond Bold Italics"/>
                <a:sym typeface="Cormorant Garamond Italics"/>
              </a:rPr>
              <a:t>Enrichissement</a:t>
            </a:r>
            <a:endParaRPr lang="en-US" sz="3152" i="1" u="none" strike="noStrike" dirty="0">
              <a:solidFill>
                <a:srgbClr val="2B2D42"/>
              </a:solidFill>
              <a:latin typeface="Cormorant Garamond Italics"/>
              <a:ea typeface="Cormorant Garamond Italics"/>
              <a:cs typeface="Cormorant Garamond Italics"/>
              <a:sym typeface="Cormorant Garamond Italics"/>
            </a:endParaRPr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3944845F-0494-E705-F788-8E43D46A12CD}"/>
              </a:ext>
            </a:extLst>
          </p:cNvPr>
          <p:cNvSpPr/>
          <p:nvPr/>
        </p:nvSpPr>
        <p:spPr>
          <a:xfrm>
            <a:off x="2291418" y="-3314700"/>
            <a:ext cx="1862273" cy="2327841"/>
          </a:xfrm>
          <a:custGeom>
            <a:avLst/>
            <a:gdLst/>
            <a:ahLst/>
            <a:cxnLst/>
            <a:rect l="l" t="t" r="r" b="b"/>
            <a:pathLst>
              <a:path w="1862273" h="2327841">
                <a:moveTo>
                  <a:pt x="0" y="0"/>
                </a:moveTo>
                <a:lnTo>
                  <a:pt x="1862272" y="0"/>
                </a:lnTo>
                <a:lnTo>
                  <a:pt x="1862272" y="2327841"/>
                </a:lnTo>
                <a:lnTo>
                  <a:pt x="0" y="23278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E2AE1AE3-16D2-07B2-DBB7-B03F07C32133}"/>
              </a:ext>
            </a:extLst>
          </p:cNvPr>
          <p:cNvSpPr/>
          <p:nvPr/>
        </p:nvSpPr>
        <p:spPr>
          <a:xfrm>
            <a:off x="10186541" y="-3314700"/>
            <a:ext cx="1862273" cy="2327841"/>
          </a:xfrm>
          <a:custGeom>
            <a:avLst/>
            <a:gdLst/>
            <a:ahLst/>
            <a:cxnLst/>
            <a:rect l="l" t="t" r="r" b="b"/>
            <a:pathLst>
              <a:path w="1862273" h="2327841">
                <a:moveTo>
                  <a:pt x="0" y="0"/>
                </a:moveTo>
                <a:lnTo>
                  <a:pt x="1862273" y="0"/>
                </a:lnTo>
                <a:lnTo>
                  <a:pt x="1862273" y="2327841"/>
                </a:lnTo>
                <a:lnTo>
                  <a:pt x="0" y="23278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1" name="Freeform 28">
            <a:extLst>
              <a:ext uri="{FF2B5EF4-FFF2-40B4-BE49-F238E27FC236}">
                <a16:creationId xmlns:a16="http://schemas.microsoft.com/office/drawing/2014/main" id="{3F84497D-CFAB-787C-CF7F-DB340428B695}"/>
              </a:ext>
            </a:extLst>
          </p:cNvPr>
          <p:cNvSpPr/>
          <p:nvPr/>
        </p:nvSpPr>
        <p:spPr>
          <a:xfrm>
            <a:off x="2774102" y="-3035351"/>
            <a:ext cx="896904" cy="884571"/>
          </a:xfrm>
          <a:custGeom>
            <a:avLst/>
            <a:gdLst/>
            <a:ahLst/>
            <a:cxnLst/>
            <a:rect l="l" t="t" r="r" b="b"/>
            <a:pathLst>
              <a:path w="896904" h="884571">
                <a:moveTo>
                  <a:pt x="0" y="0"/>
                </a:moveTo>
                <a:lnTo>
                  <a:pt x="896904" y="0"/>
                </a:lnTo>
                <a:lnTo>
                  <a:pt x="896904" y="884571"/>
                </a:lnTo>
                <a:lnTo>
                  <a:pt x="0" y="8845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FCBEB24-F991-157C-BCA7-F03E9BFE0831}"/>
              </a:ext>
            </a:extLst>
          </p:cNvPr>
          <p:cNvSpPr/>
          <p:nvPr/>
        </p:nvSpPr>
        <p:spPr>
          <a:xfrm>
            <a:off x="10599146" y="-2933632"/>
            <a:ext cx="941812" cy="634546"/>
          </a:xfrm>
          <a:custGeom>
            <a:avLst/>
            <a:gdLst/>
            <a:ahLst/>
            <a:cxnLst/>
            <a:rect l="l" t="t" r="r" b="b"/>
            <a:pathLst>
              <a:path w="941812" h="634546">
                <a:moveTo>
                  <a:pt x="0" y="0"/>
                </a:moveTo>
                <a:lnTo>
                  <a:pt x="941812" y="0"/>
                </a:lnTo>
                <a:lnTo>
                  <a:pt x="941812" y="634545"/>
                </a:lnTo>
                <a:lnTo>
                  <a:pt x="0" y="6345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B876C319-2795-4B5F-E01F-8577C09E0B80}"/>
              </a:ext>
            </a:extLst>
          </p:cNvPr>
          <p:cNvSpPr txBox="1"/>
          <p:nvPr/>
        </p:nvSpPr>
        <p:spPr>
          <a:xfrm>
            <a:off x="6416232" y="-1213872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Groupe 2</a:t>
            </a: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56F2B0C8-2D5A-6C52-2391-3D713105E430}"/>
              </a:ext>
            </a:extLst>
          </p:cNvPr>
          <p:cNvSpPr txBox="1"/>
          <p:nvPr/>
        </p:nvSpPr>
        <p:spPr>
          <a:xfrm>
            <a:off x="14277664" y="-1213872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Groupe 4</a:t>
            </a:r>
          </a:p>
        </p:txBody>
      </p:sp>
      <p:sp>
        <p:nvSpPr>
          <p:cNvPr id="25" name="TextBox 45">
            <a:extLst>
              <a:ext uri="{FF2B5EF4-FFF2-40B4-BE49-F238E27FC236}">
                <a16:creationId xmlns:a16="http://schemas.microsoft.com/office/drawing/2014/main" id="{0D3B3751-05AB-C079-48AC-C13B99D9D09A}"/>
              </a:ext>
            </a:extLst>
          </p:cNvPr>
          <p:cNvSpPr txBox="1"/>
          <p:nvPr/>
        </p:nvSpPr>
        <p:spPr>
          <a:xfrm>
            <a:off x="6190415" y="-2356237"/>
            <a:ext cx="1959402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Problèmes de Ressources Système</a:t>
            </a:r>
          </a:p>
        </p:txBody>
      </p:sp>
      <p:sp>
        <p:nvSpPr>
          <p:cNvPr id="26" name="TextBox 47">
            <a:extLst>
              <a:ext uri="{FF2B5EF4-FFF2-40B4-BE49-F238E27FC236}">
                <a16:creationId xmlns:a16="http://schemas.microsoft.com/office/drawing/2014/main" id="{6C4A5BD7-9D5B-5E41-5794-430BA6FF5B24}"/>
              </a:ext>
            </a:extLst>
          </p:cNvPr>
          <p:cNvSpPr txBox="1"/>
          <p:nvPr/>
        </p:nvSpPr>
        <p:spPr>
          <a:xfrm>
            <a:off x="14067256" y="-2356237"/>
            <a:ext cx="1959402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Problèmes de Base de Données</a:t>
            </a:r>
          </a:p>
        </p:txBody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7192579A-1BE9-D562-D2D8-6D6E62380519}"/>
              </a:ext>
            </a:extLst>
          </p:cNvPr>
          <p:cNvSpPr/>
          <p:nvPr/>
        </p:nvSpPr>
        <p:spPr>
          <a:xfrm rot="-10800000">
            <a:off x="6238979" y="11502459"/>
            <a:ext cx="1862273" cy="2327841"/>
          </a:xfrm>
          <a:custGeom>
            <a:avLst/>
            <a:gdLst/>
            <a:ahLst/>
            <a:cxnLst/>
            <a:rect l="l" t="t" r="r" b="b"/>
            <a:pathLst>
              <a:path w="1862273" h="2327841">
                <a:moveTo>
                  <a:pt x="0" y="0"/>
                </a:moveTo>
                <a:lnTo>
                  <a:pt x="1862273" y="0"/>
                </a:lnTo>
                <a:lnTo>
                  <a:pt x="1862273" y="2327841"/>
                </a:lnTo>
                <a:lnTo>
                  <a:pt x="0" y="23278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12">
            <a:extLst>
              <a:ext uri="{FF2B5EF4-FFF2-40B4-BE49-F238E27FC236}">
                <a16:creationId xmlns:a16="http://schemas.microsoft.com/office/drawing/2014/main" id="{773CA77E-2E47-D4C2-64BB-910924951E62}"/>
              </a:ext>
            </a:extLst>
          </p:cNvPr>
          <p:cNvSpPr/>
          <p:nvPr/>
        </p:nvSpPr>
        <p:spPr>
          <a:xfrm rot="-10800000">
            <a:off x="14134310" y="11502459"/>
            <a:ext cx="1862273" cy="2327841"/>
          </a:xfrm>
          <a:custGeom>
            <a:avLst/>
            <a:gdLst/>
            <a:ahLst/>
            <a:cxnLst/>
            <a:rect l="l" t="t" r="r" b="b"/>
            <a:pathLst>
              <a:path w="1862273" h="2327841">
                <a:moveTo>
                  <a:pt x="0" y="0"/>
                </a:moveTo>
                <a:lnTo>
                  <a:pt x="1862272" y="0"/>
                </a:lnTo>
                <a:lnTo>
                  <a:pt x="1862272" y="2327841"/>
                </a:lnTo>
                <a:lnTo>
                  <a:pt x="0" y="23278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234AB67A-E3C0-713F-91CB-8E68EDB14DCF}"/>
              </a:ext>
            </a:extLst>
          </p:cNvPr>
          <p:cNvSpPr/>
          <p:nvPr/>
        </p:nvSpPr>
        <p:spPr>
          <a:xfrm>
            <a:off x="6730725" y="12751298"/>
            <a:ext cx="927345" cy="832924"/>
          </a:xfrm>
          <a:custGeom>
            <a:avLst/>
            <a:gdLst/>
            <a:ahLst/>
            <a:cxnLst/>
            <a:rect l="l" t="t" r="r" b="b"/>
            <a:pathLst>
              <a:path w="927345" h="832924">
                <a:moveTo>
                  <a:pt x="0" y="0"/>
                </a:moveTo>
                <a:lnTo>
                  <a:pt x="927345" y="0"/>
                </a:lnTo>
                <a:lnTo>
                  <a:pt x="927345" y="832924"/>
                </a:lnTo>
                <a:lnTo>
                  <a:pt x="0" y="8329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1">
            <a:extLst>
              <a:ext uri="{FF2B5EF4-FFF2-40B4-BE49-F238E27FC236}">
                <a16:creationId xmlns:a16="http://schemas.microsoft.com/office/drawing/2014/main" id="{1C05C148-E749-0D65-C4F0-AC195AB24947}"/>
              </a:ext>
            </a:extLst>
          </p:cNvPr>
          <p:cNvSpPr/>
          <p:nvPr/>
        </p:nvSpPr>
        <p:spPr>
          <a:xfrm>
            <a:off x="14744146" y="12751298"/>
            <a:ext cx="750181" cy="801262"/>
          </a:xfrm>
          <a:custGeom>
            <a:avLst/>
            <a:gdLst/>
            <a:ahLst/>
            <a:cxnLst/>
            <a:rect l="l" t="t" r="r" b="b"/>
            <a:pathLst>
              <a:path w="750181" h="801262">
                <a:moveTo>
                  <a:pt x="0" y="0"/>
                </a:moveTo>
                <a:lnTo>
                  <a:pt x="750181" y="0"/>
                </a:lnTo>
                <a:lnTo>
                  <a:pt x="750181" y="801262"/>
                </a:lnTo>
                <a:lnTo>
                  <a:pt x="0" y="8012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TextBox 40">
            <a:extLst>
              <a:ext uri="{FF2B5EF4-FFF2-40B4-BE49-F238E27FC236}">
                <a16:creationId xmlns:a16="http://schemas.microsoft.com/office/drawing/2014/main" id="{75DC0778-5F57-E1BD-BA1B-5A82D2F4EAB6}"/>
              </a:ext>
            </a:extLst>
          </p:cNvPr>
          <p:cNvSpPr txBox="1"/>
          <p:nvPr/>
        </p:nvSpPr>
        <p:spPr>
          <a:xfrm>
            <a:off x="2453260" y="11284972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Groupe 1</a:t>
            </a:r>
          </a:p>
        </p:txBody>
      </p:sp>
      <p:sp>
        <p:nvSpPr>
          <p:cNvPr id="32" name="TextBox 42">
            <a:extLst>
              <a:ext uri="{FF2B5EF4-FFF2-40B4-BE49-F238E27FC236}">
                <a16:creationId xmlns:a16="http://schemas.microsoft.com/office/drawing/2014/main" id="{8D1B7F66-D878-C43C-681A-9B3D378D98DB}"/>
              </a:ext>
            </a:extLst>
          </p:cNvPr>
          <p:cNvSpPr txBox="1"/>
          <p:nvPr/>
        </p:nvSpPr>
        <p:spPr>
          <a:xfrm>
            <a:off x="10348384" y="11284972"/>
            <a:ext cx="153858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B2D42"/>
                </a:solidFill>
                <a:latin typeface="Poppins Bold"/>
                <a:ea typeface="Poppins Bold"/>
                <a:cs typeface="Poppins Bold"/>
                <a:sym typeface="Poppins Bold"/>
              </a:rPr>
              <a:t>Groupe 3</a:t>
            </a:r>
          </a:p>
        </p:txBody>
      </p:sp>
      <p:sp>
        <p:nvSpPr>
          <p:cNvPr id="33" name="TextBox 44">
            <a:extLst>
              <a:ext uri="{FF2B5EF4-FFF2-40B4-BE49-F238E27FC236}">
                <a16:creationId xmlns:a16="http://schemas.microsoft.com/office/drawing/2014/main" id="{2B49D7DF-3E48-C3A0-7963-5AC3086E13CB}"/>
              </a:ext>
            </a:extLst>
          </p:cNvPr>
          <p:cNvSpPr txBox="1"/>
          <p:nvPr/>
        </p:nvSpPr>
        <p:spPr>
          <a:xfrm>
            <a:off x="2242853" y="11796147"/>
            <a:ext cx="1959402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Services et Processus Non Fonctionnels</a:t>
            </a:r>
          </a:p>
        </p:txBody>
      </p:sp>
      <p:sp>
        <p:nvSpPr>
          <p:cNvPr id="34" name="TextBox 46">
            <a:extLst>
              <a:ext uri="{FF2B5EF4-FFF2-40B4-BE49-F238E27FC236}">
                <a16:creationId xmlns:a16="http://schemas.microsoft.com/office/drawing/2014/main" id="{2C872A61-3809-CD92-D083-96B9A177F8DB}"/>
              </a:ext>
            </a:extLst>
          </p:cNvPr>
          <p:cNvSpPr txBox="1"/>
          <p:nvPr/>
        </p:nvSpPr>
        <p:spPr>
          <a:xfrm>
            <a:off x="10186541" y="11796147"/>
            <a:ext cx="1959402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Problèmes de Réseau et Interface</a:t>
            </a:r>
          </a:p>
        </p:txBody>
      </p:sp>
      <p:grpSp>
        <p:nvGrpSpPr>
          <p:cNvPr id="35" name="Group 13">
            <a:extLst>
              <a:ext uri="{FF2B5EF4-FFF2-40B4-BE49-F238E27FC236}">
                <a16:creationId xmlns:a16="http://schemas.microsoft.com/office/drawing/2014/main" id="{ED611ED9-914B-AECC-B6CB-6447D35B7AD7}"/>
              </a:ext>
            </a:extLst>
          </p:cNvPr>
          <p:cNvGrpSpPr/>
          <p:nvPr/>
        </p:nvGrpSpPr>
        <p:grpSpPr>
          <a:xfrm>
            <a:off x="-13289629" y="6122730"/>
            <a:ext cx="113702" cy="113702"/>
            <a:chOff x="0" y="0"/>
            <a:chExt cx="812800" cy="812800"/>
          </a:xfrm>
        </p:grpSpPr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5BE634FD-096D-0B79-0D6D-3CD734E34F5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811C8E73-7404-39B3-0B34-68CECF840BE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38" name="Group 16">
            <a:extLst>
              <a:ext uri="{FF2B5EF4-FFF2-40B4-BE49-F238E27FC236}">
                <a16:creationId xmlns:a16="http://schemas.microsoft.com/office/drawing/2014/main" id="{EA7D8435-5CED-C0AE-2081-4430223A3103}"/>
              </a:ext>
            </a:extLst>
          </p:cNvPr>
          <p:cNvGrpSpPr/>
          <p:nvPr/>
        </p:nvGrpSpPr>
        <p:grpSpPr>
          <a:xfrm>
            <a:off x="-5394506" y="6122730"/>
            <a:ext cx="113702" cy="113702"/>
            <a:chOff x="0" y="0"/>
            <a:chExt cx="812800" cy="812800"/>
          </a:xfrm>
        </p:grpSpPr>
        <p:sp>
          <p:nvSpPr>
            <p:cNvPr id="39" name="Freeform 17">
              <a:extLst>
                <a:ext uri="{FF2B5EF4-FFF2-40B4-BE49-F238E27FC236}">
                  <a16:creationId xmlns:a16="http://schemas.microsoft.com/office/drawing/2014/main" id="{CED8945B-FDB4-C5F4-B4EE-1E4F3AA0B47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Box 18">
              <a:extLst>
                <a:ext uri="{FF2B5EF4-FFF2-40B4-BE49-F238E27FC236}">
                  <a16:creationId xmlns:a16="http://schemas.microsoft.com/office/drawing/2014/main" id="{399C8280-789C-0FC9-6FE0-D6D1827813F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41" name="Group 19">
            <a:extLst>
              <a:ext uri="{FF2B5EF4-FFF2-40B4-BE49-F238E27FC236}">
                <a16:creationId xmlns:a16="http://schemas.microsoft.com/office/drawing/2014/main" id="{2C5C8EF9-DFDD-63E5-2D16-8251DB73A7B3}"/>
              </a:ext>
            </a:extLst>
          </p:cNvPr>
          <p:cNvGrpSpPr/>
          <p:nvPr/>
        </p:nvGrpSpPr>
        <p:grpSpPr>
          <a:xfrm>
            <a:off x="-9342067" y="6125291"/>
            <a:ext cx="113702" cy="113702"/>
            <a:chOff x="0" y="0"/>
            <a:chExt cx="812800" cy="812800"/>
          </a:xfrm>
        </p:grpSpPr>
        <p:sp>
          <p:nvSpPr>
            <p:cNvPr id="42" name="Freeform 20">
              <a:extLst>
                <a:ext uri="{FF2B5EF4-FFF2-40B4-BE49-F238E27FC236}">
                  <a16:creationId xmlns:a16="http://schemas.microsoft.com/office/drawing/2014/main" id="{A94F8BA8-69CD-9214-9F54-4382824AF4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TextBox 21">
              <a:extLst>
                <a:ext uri="{FF2B5EF4-FFF2-40B4-BE49-F238E27FC236}">
                  <a16:creationId xmlns:a16="http://schemas.microsoft.com/office/drawing/2014/main" id="{EBD08BB1-B317-F761-37A6-1D73E04E6BA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44" name="Group 22">
            <a:extLst>
              <a:ext uri="{FF2B5EF4-FFF2-40B4-BE49-F238E27FC236}">
                <a16:creationId xmlns:a16="http://schemas.microsoft.com/office/drawing/2014/main" id="{A4620C29-45F2-D6A3-F9D9-20FD4D64BB3C}"/>
              </a:ext>
            </a:extLst>
          </p:cNvPr>
          <p:cNvGrpSpPr/>
          <p:nvPr/>
        </p:nvGrpSpPr>
        <p:grpSpPr>
          <a:xfrm>
            <a:off x="-1446737" y="6122730"/>
            <a:ext cx="113702" cy="113702"/>
            <a:chOff x="0" y="0"/>
            <a:chExt cx="812800" cy="812800"/>
          </a:xfrm>
        </p:grpSpPr>
        <p:sp>
          <p:nvSpPr>
            <p:cNvPr id="45" name="Freeform 23">
              <a:extLst>
                <a:ext uri="{FF2B5EF4-FFF2-40B4-BE49-F238E27FC236}">
                  <a16:creationId xmlns:a16="http://schemas.microsoft.com/office/drawing/2014/main" id="{D47F12C4-02A6-61A8-94D0-667BFB1D2D8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E4F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Box 24">
              <a:extLst>
                <a:ext uri="{FF2B5EF4-FFF2-40B4-BE49-F238E27FC236}">
                  <a16:creationId xmlns:a16="http://schemas.microsoft.com/office/drawing/2014/main" id="{8659E249-A4B4-2EB9-7738-90E78C012F5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47" name="AutoShape 25">
            <a:extLst>
              <a:ext uri="{FF2B5EF4-FFF2-40B4-BE49-F238E27FC236}">
                <a16:creationId xmlns:a16="http://schemas.microsoft.com/office/drawing/2014/main" id="{A0CA1629-BF3F-747E-7378-0E494FF675B1}"/>
              </a:ext>
            </a:extLst>
          </p:cNvPr>
          <p:cNvSpPr/>
          <p:nvPr/>
        </p:nvSpPr>
        <p:spPr>
          <a:xfrm>
            <a:off x="-11831053" y="6180454"/>
            <a:ext cx="1144113" cy="815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8" name="AutoShape 26">
            <a:extLst>
              <a:ext uri="{FF2B5EF4-FFF2-40B4-BE49-F238E27FC236}">
                <a16:creationId xmlns:a16="http://schemas.microsoft.com/office/drawing/2014/main" id="{92670941-059A-53E0-4F1A-B5D4A2924154}"/>
              </a:ext>
            </a:extLst>
          </p:cNvPr>
          <p:cNvSpPr/>
          <p:nvPr/>
        </p:nvSpPr>
        <p:spPr>
          <a:xfrm>
            <a:off x="-3935861" y="6179581"/>
            <a:ext cx="1144180" cy="0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9" name="AutoShape 27">
            <a:extLst>
              <a:ext uri="{FF2B5EF4-FFF2-40B4-BE49-F238E27FC236}">
                <a16:creationId xmlns:a16="http://schemas.microsoft.com/office/drawing/2014/main" id="{60E817C6-94FA-F9CE-489D-C3C25BC3A971}"/>
              </a:ext>
            </a:extLst>
          </p:cNvPr>
          <p:cNvSpPr/>
          <p:nvPr/>
        </p:nvSpPr>
        <p:spPr>
          <a:xfrm flipV="1">
            <a:off x="-7883492" y="6180454"/>
            <a:ext cx="1144113" cy="815"/>
          </a:xfrm>
          <a:prstGeom prst="line">
            <a:avLst/>
          </a:prstGeom>
          <a:ln w="19050" cap="rnd">
            <a:solidFill>
              <a:srgbClr val="A5A5A5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pic>
        <p:nvPicPr>
          <p:cNvPr id="3074" name="Picture 2" descr="Step-by-Step Guide to Choosing the Best Embedding Model for Your  Application | Weaviate">
            <a:extLst>
              <a:ext uri="{FF2B5EF4-FFF2-40B4-BE49-F238E27FC236}">
                <a16:creationId xmlns:a16="http://schemas.microsoft.com/office/drawing/2014/main" id="{70592BDB-B5D8-4BEE-88DC-FB996C014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806" y="4094559"/>
            <a:ext cx="7556102" cy="360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F4A935DF-8CA4-4ABD-95D7-D66A06066687}"/>
              </a:ext>
            </a:extLst>
          </p:cNvPr>
          <p:cNvCxnSpPr>
            <a:cxnSpLocks/>
          </p:cNvCxnSpPr>
          <p:nvPr/>
        </p:nvCxnSpPr>
        <p:spPr>
          <a:xfrm>
            <a:off x="8991600" y="4094559"/>
            <a:ext cx="0" cy="34545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utoShape 5" descr="Image générée : Diagramme de processus avec KeyBERT">
            <a:extLst>
              <a:ext uri="{FF2B5EF4-FFF2-40B4-BE49-F238E27FC236}">
                <a16:creationId xmlns:a16="http://schemas.microsoft.com/office/drawing/2014/main" id="{4E76FC95-1916-4E07-A0C7-49D1FA3894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4" name="AutoShape 7" descr="Image générée : Diagramme de processus avec KeyBERT">
            <a:extLst>
              <a:ext uri="{FF2B5EF4-FFF2-40B4-BE49-F238E27FC236}">
                <a16:creationId xmlns:a16="http://schemas.microsoft.com/office/drawing/2014/main" id="{22117BB7-252D-4117-B9DD-92E24476B2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0176" y="5143500"/>
            <a:ext cx="8793597" cy="879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AF12EBD6-8517-4EA8-9143-2F1AECBC367D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42" y="4148086"/>
            <a:ext cx="7282391" cy="3608502"/>
          </a:xfrm>
          <a:prstGeom prst="rect">
            <a:avLst/>
          </a:prstGeom>
        </p:spPr>
      </p:pic>
      <p:sp>
        <p:nvSpPr>
          <p:cNvPr id="57" name="ZoneTexte 56">
            <a:extLst>
              <a:ext uri="{FF2B5EF4-FFF2-40B4-BE49-F238E27FC236}">
                <a16:creationId xmlns:a16="http://schemas.microsoft.com/office/drawing/2014/main" id="{BFBE1EFC-9EB8-47D1-8486-8F1243BB7155}"/>
              </a:ext>
            </a:extLst>
          </p:cNvPr>
          <p:cNvSpPr txBox="1"/>
          <p:nvPr/>
        </p:nvSpPr>
        <p:spPr>
          <a:xfrm>
            <a:off x="2567769" y="3579059"/>
            <a:ext cx="3855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Poppins Italics" panose="020B0604020202020204" charset="0"/>
                <a:cs typeface="Poppins Italics" panose="020B0604020202020204" charset="0"/>
              </a:rPr>
              <a:t>Extraction Mots clés via KEYBERT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0B76213-518F-461B-8004-63204E02201A}"/>
              </a:ext>
            </a:extLst>
          </p:cNvPr>
          <p:cNvSpPr/>
          <p:nvPr/>
        </p:nvSpPr>
        <p:spPr>
          <a:xfrm>
            <a:off x="10800799" y="3511138"/>
            <a:ext cx="40254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>
                <a:latin typeface="Poppins Italics" panose="020B0604020202020204" charset="0"/>
                <a:cs typeface="Poppins Italics" panose="020B0604020202020204" charset="0"/>
              </a:rPr>
              <a:t>Embedding</a:t>
            </a:r>
            <a:r>
              <a:rPr lang="fr-FR" dirty="0">
                <a:latin typeface="Poppins Italics" panose="020B0604020202020204" charset="0"/>
                <a:cs typeface="Poppins Italics" panose="020B0604020202020204" charset="0"/>
              </a:rPr>
              <a:t> des </a:t>
            </a:r>
            <a:r>
              <a:rPr lang="fr-FR" dirty="0" err="1">
                <a:latin typeface="Poppins Italics" panose="020B0604020202020204" charset="0"/>
                <a:cs typeface="Poppins Italics" panose="020B0604020202020204" charset="0"/>
              </a:rPr>
              <a:t>chunks</a:t>
            </a:r>
            <a:r>
              <a:rPr lang="fr-FR" dirty="0">
                <a:latin typeface="Poppins Italics" panose="020B0604020202020204" charset="0"/>
                <a:cs typeface="Poppins Italics" panose="020B0604020202020204" charset="0"/>
              </a:rPr>
              <a:t> via SBERT</a:t>
            </a:r>
          </a:p>
        </p:txBody>
      </p: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83895AF9-900F-42E4-BBAD-1050F1DAF9B5}"/>
              </a:ext>
            </a:extLst>
          </p:cNvPr>
          <p:cNvCxnSpPr>
            <a:cxnSpLocks/>
            <a:stCxn id="56" idx="2"/>
            <a:endCxn id="3078" idx="1"/>
          </p:cNvCxnSpPr>
          <p:nvPr/>
        </p:nvCxnSpPr>
        <p:spPr>
          <a:xfrm>
            <a:off x="4683238" y="7756588"/>
            <a:ext cx="2974833" cy="1422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2" name="Connecteur droit avec flèche 3071">
            <a:extLst>
              <a:ext uri="{FF2B5EF4-FFF2-40B4-BE49-F238E27FC236}">
                <a16:creationId xmlns:a16="http://schemas.microsoft.com/office/drawing/2014/main" id="{02450787-6004-4C5F-8EBA-C15D8774E81D}"/>
              </a:ext>
            </a:extLst>
          </p:cNvPr>
          <p:cNvCxnSpPr>
            <a:cxnSpLocks/>
            <a:endCxn id="3078" idx="3"/>
          </p:cNvCxnSpPr>
          <p:nvPr/>
        </p:nvCxnSpPr>
        <p:spPr>
          <a:xfrm flipH="1">
            <a:off x="10186541" y="7696301"/>
            <a:ext cx="3056668" cy="1483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5" name="Rectangle 8">
            <a:extLst>
              <a:ext uri="{FF2B5EF4-FFF2-40B4-BE49-F238E27FC236}">
                <a16:creationId xmlns:a16="http://schemas.microsoft.com/office/drawing/2014/main" id="{773BA833-2E97-4BA6-9851-E93DCDCA1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Recherche Hybride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76" name="ZoneTexte 3075">
            <a:extLst>
              <a:ext uri="{FF2B5EF4-FFF2-40B4-BE49-F238E27FC236}">
                <a16:creationId xmlns:a16="http://schemas.microsoft.com/office/drawing/2014/main" id="{8A01B1D1-B26B-47D2-A315-28473AC8FF1B}"/>
              </a:ext>
            </a:extLst>
          </p:cNvPr>
          <p:cNvSpPr txBox="1"/>
          <p:nvPr/>
        </p:nvSpPr>
        <p:spPr>
          <a:xfrm>
            <a:off x="7816982" y="8979312"/>
            <a:ext cx="2369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Poppins Italics" panose="020B0604020202020204" charset="0"/>
                <a:cs typeface="Poppins Italics" panose="020B0604020202020204" charset="0"/>
              </a:rPr>
              <a:t>Recherche Hybride</a:t>
            </a:r>
          </a:p>
        </p:txBody>
      </p:sp>
      <p:sp>
        <p:nvSpPr>
          <p:cNvPr id="3078" name="Rectangle 3077">
            <a:extLst>
              <a:ext uri="{FF2B5EF4-FFF2-40B4-BE49-F238E27FC236}">
                <a16:creationId xmlns:a16="http://schemas.microsoft.com/office/drawing/2014/main" id="{339ABDB6-9D77-4F75-8A98-5C39722F88EF}"/>
              </a:ext>
            </a:extLst>
          </p:cNvPr>
          <p:cNvSpPr/>
          <p:nvPr/>
        </p:nvSpPr>
        <p:spPr>
          <a:xfrm>
            <a:off x="7658071" y="8752002"/>
            <a:ext cx="2528470" cy="85505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  <a:latin typeface="Poppins Italics" panose="020B0604020202020204" charset="0"/>
                <a:cs typeface="Poppins Italics" panose="020B0604020202020204" charset="0"/>
              </a:rPr>
              <a:t>Recherche Hybride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3.1. Méthodologie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b="1">
                <a:solidFill>
                  <a:srgbClr val="6732A7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&amp; Conception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54127" y="399609"/>
            <a:ext cx="3320336" cy="44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870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sz="1870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259300" y="8623810"/>
            <a:ext cx="1028700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13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84517" y="2621235"/>
            <a:ext cx="6091413" cy="53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2 : </a:t>
            </a:r>
            <a:r>
              <a:rPr lang="en-US" sz="3152" b="1" i="1" dirty="0">
                <a:solidFill>
                  <a:srgbClr val="2B2D42"/>
                </a:solidFill>
                <a:latin typeface="Cormorant Garamond Italics"/>
                <a:ea typeface="Cormorant Garamond Bold Italics"/>
                <a:cs typeface="Cormorant Garamond Bold Italics"/>
                <a:sym typeface="Cormorant Garamond Italics"/>
              </a:rPr>
              <a:t>Indexation FAISS (</a:t>
            </a:r>
            <a:r>
              <a:rPr lang="en-US" sz="3152" b="1" i="1" dirty="0" err="1">
                <a:solidFill>
                  <a:srgbClr val="2B2D42"/>
                </a:solidFill>
                <a:latin typeface="Cormorant Garamond Italics"/>
                <a:ea typeface="Cormorant Garamond Bold Italics"/>
                <a:cs typeface="Cormorant Garamond Bold Italics"/>
                <a:sym typeface="Cormorant Garamond Italics"/>
              </a:rPr>
              <a:t>sémentique</a:t>
            </a:r>
            <a:r>
              <a:rPr lang="en-US" sz="3152" b="1" i="1" dirty="0">
                <a:solidFill>
                  <a:srgbClr val="2B2D42"/>
                </a:solidFill>
                <a:latin typeface="Cormorant Garamond Italics"/>
                <a:ea typeface="Cormorant Garamond Bold Italics"/>
                <a:cs typeface="Cormorant Garamond Bold Italics"/>
                <a:sym typeface="Cormorant Garamond Italics"/>
              </a:rPr>
              <a:t>)</a:t>
            </a:r>
            <a:endParaRPr lang="en-US" sz="3152" i="1" u="none" strike="noStrike" dirty="0">
              <a:solidFill>
                <a:srgbClr val="2B2D42"/>
              </a:solidFill>
              <a:latin typeface="Cormorant Garamond Italics"/>
              <a:ea typeface="Cormorant Garamond Italics"/>
              <a:cs typeface="Cormorant Garamond Italics"/>
              <a:sym typeface="Cormorant Garamond Italic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0348384" y="6496010"/>
            <a:ext cx="153858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b="1" dirty="0">
              <a:solidFill>
                <a:srgbClr val="2B2D42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4277664" y="5432562"/>
            <a:ext cx="153858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b="1" dirty="0">
              <a:solidFill>
                <a:srgbClr val="2B2D42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4067256" y="4290197"/>
            <a:ext cx="1959402" cy="32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endParaRPr lang="en-US" sz="1900" dirty="0">
              <a:solidFill>
                <a:srgbClr val="2B2D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" name="Rectangle 1">
            <a:extLst>
              <a:ext uri="{FF2B5EF4-FFF2-40B4-BE49-F238E27FC236}">
                <a16:creationId xmlns:a16="http://schemas.microsoft.com/office/drawing/2014/main" id="{F5C139F2-B75F-4B84-A828-F85E0A8DB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4C6C2DE9-C88E-4408-8EA4-FDDB9C87A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77" y="6449241"/>
            <a:ext cx="5791231" cy="1458973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8B304236-A984-422F-9CA5-AEBAF6D39B46}"/>
              </a:ext>
            </a:extLst>
          </p:cNvPr>
          <p:cNvSpPr/>
          <p:nvPr/>
        </p:nvSpPr>
        <p:spPr>
          <a:xfrm>
            <a:off x="978711" y="8101375"/>
            <a:ext cx="4793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chemeClr val="tx2"/>
                </a:solidFill>
                <a:latin typeface="Poppins Italics" panose="020B0604020202020204" charset="0"/>
                <a:cs typeface="Poppins Italics" panose="020B0604020202020204" charset="0"/>
              </a:rPr>
              <a:t>-L2 → cherche </a:t>
            </a:r>
            <a:r>
              <a:rPr lang="fr-FR" b="1" dirty="0">
                <a:solidFill>
                  <a:schemeClr val="tx2"/>
                </a:solidFill>
                <a:latin typeface="Poppins Italics" panose="020B0604020202020204" charset="0"/>
                <a:cs typeface="Poppins Italics" panose="020B0604020202020204" charset="0"/>
              </a:rPr>
              <a:t>les distances minimales</a:t>
            </a:r>
            <a:r>
              <a:rPr lang="fr-FR" dirty="0">
                <a:solidFill>
                  <a:schemeClr val="tx2"/>
                </a:solidFill>
                <a:latin typeface="Poppins Italics" panose="020B0604020202020204" charset="0"/>
                <a:cs typeface="Poppins Italics" panose="020B0604020202020204" charset="0"/>
              </a:rPr>
              <a:t> </a:t>
            </a:r>
          </a:p>
        </p:txBody>
      </p:sp>
      <p:pic>
        <p:nvPicPr>
          <p:cNvPr id="57" name="Image 56">
            <a:extLst>
              <a:ext uri="{FF2B5EF4-FFF2-40B4-BE49-F238E27FC236}">
                <a16:creationId xmlns:a16="http://schemas.microsoft.com/office/drawing/2014/main" id="{52672D06-1899-43DE-A50C-0E5D875EA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645" y="6449241"/>
            <a:ext cx="5450967" cy="1295722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91D54833-7562-4891-9928-7230C510CF82}"/>
              </a:ext>
            </a:extLst>
          </p:cNvPr>
          <p:cNvSpPr/>
          <p:nvPr/>
        </p:nvSpPr>
        <p:spPr>
          <a:xfrm>
            <a:off x="6882658" y="7938024"/>
            <a:ext cx="9144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chemeClr val="tx2"/>
                </a:solidFill>
                <a:latin typeface="Poppins Italics" panose="020B0604020202020204" charset="0"/>
                <a:cs typeface="Poppins Italics" panose="020B0604020202020204" charset="0"/>
              </a:rPr>
              <a:t>-IP (Produit Scalaire) →</a:t>
            </a:r>
            <a:r>
              <a:rPr lang="fr-FR" b="1" dirty="0">
                <a:solidFill>
                  <a:schemeClr val="tx2"/>
                </a:solidFill>
                <a:latin typeface="Poppins Italics" panose="020B0604020202020204" charset="0"/>
                <a:cs typeface="Poppins Italics" panose="020B0604020202020204" charset="0"/>
              </a:rPr>
              <a:t> cherche les</a:t>
            </a:r>
            <a:endParaRPr lang="fr-FR" dirty="0">
              <a:solidFill>
                <a:schemeClr val="tx2"/>
              </a:solidFill>
              <a:latin typeface="Poppins Italics" panose="020B0604020202020204" charset="0"/>
              <a:cs typeface="Poppins Italics" panose="020B0604020202020204" charset="0"/>
            </a:endParaRPr>
          </a:p>
          <a:p>
            <a:r>
              <a:rPr lang="fr-FR" b="1" dirty="0">
                <a:solidFill>
                  <a:schemeClr val="tx2"/>
                </a:solidFill>
                <a:latin typeface="Poppins Italics" panose="020B0604020202020204" charset="0"/>
                <a:cs typeface="Poppins Italics" panose="020B0604020202020204" charset="0"/>
              </a:rPr>
              <a:t>scores maximaux</a:t>
            </a:r>
            <a:endParaRPr lang="fr-FR" dirty="0">
              <a:solidFill>
                <a:schemeClr val="tx2"/>
              </a:solidFill>
              <a:effectLst/>
              <a:latin typeface="Poppins Italics" panose="020B0604020202020204" charset="0"/>
              <a:cs typeface="Poppins Italics" panose="020B0604020202020204" charset="0"/>
            </a:endParaRPr>
          </a:p>
        </p:txBody>
      </p: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D09C6952-C17F-48FF-AB12-F2E25DD1DF43}"/>
              </a:ext>
            </a:extLst>
          </p:cNvPr>
          <p:cNvCxnSpPr>
            <a:cxnSpLocks/>
          </p:cNvCxnSpPr>
          <p:nvPr/>
        </p:nvCxnSpPr>
        <p:spPr>
          <a:xfrm>
            <a:off x="6416232" y="5624147"/>
            <a:ext cx="0" cy="2716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Image 60">
            <a:extLst>
              <a:ext uri="{FF2B5EF4-FFF2-40B4-BE49-F238E27FC236}">
                <a16:creationId xmlns:a16="http://schemas.microsoft.com/office/drawing/2014/main" id="{5B9DCB16-F987-43B1-B552-B33B1A80C6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8209" y="6311829"/>
            <a:ext cx="5386799" cy="1343188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87252608-AC26-4CB2-B540-10BC8126EE62}"/>
              </a:ext>
            </a:extLst>
          </p:cNvPr>
          <p:cNvSpPr/>
          <p:nvPr/>
        </p:nvSpPr>
        <p:spPr>
          <a:xfrm>
            <a:off x="12448209" y="7908214"/>
            <a:ext cx="49971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2"/>
                </a:solidFill>
                <a:latin typeface="Poppins Italics" panose="020B0604020202020204" charset="0"/>
                <a:cs typeface="Poppins Italics" panose="020B0604020202020204" charset="0"/>
              </a:rPr>
              <a:t>-Au moment de la requête </a:t>
            </a:r>
            <a:r>
              <a:rPr lang="fr-FR" b="1" dirty="0">
                <a:solidFill>
                  <a:schemeClr val="tx2"/>
                </a:solidFill>
                <a:latin typeface="Poppins Italics" panose="020B0604020202020204" charset="0"/>
                <a:cs typeface="Poppins Italics" panose="020B0604020202020204" charset="0"/>
              </a:rPr>
              <a:t>: trouve les k clusters les plus proches</a:t>
            </a:r>
            <a:r>
              <a:rPr lang="fr-FR" dirty="0">
                <a:solidFill>
                  <a:schemeClr val="tx2"/>
                </a:solidFill>
                <a:latin typeface="Poppins Italics" panose="020B0604020202020204" charset="0"/>
                <a:cs typeface="Poppins Italics" panose="020B0604020202020204" charset="0"/>
              </a:rPr>
              <a:t> de q (vecteur de requête), cherche uniquement à l'intérieur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6D2FF67-ECDA-4830-B2CF-072A5304B85D}"/>
              </a:ext>
            </a:extLst>
          </p:cNvPr>
          <p:cNvSpPr/>
          <p:nvPr/>
        </p:nvSpPr>
        <p:spPr>
          <a:xfrm>
            <a:off x="2330112" y="5673079"/>
            <a:ext cx="16802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Bold" panose="020B0604020202020204" charset="0"/>
                <a:cs typeface="Poppins Bold" panose="020B0604020202020204" charset="0"/>
              </a:rPr>
              <a:t>IndexFlatL2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D4ACD54-A2B8-4942-8963-E899DAB3EFB9}"/>
              </a:ext>
            </a:extLst>
          </p:cNvPr>
          <p:cNvSpPr/>
          <p:nvPr/>
        </p:nvSpPr>
        <p:spPr>
          <a:xfrm>
            <a:off x="8623770" y="5673079"/>
            <a:ext cx="16482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u="sng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Bold" panose="020B0604020202020204" charset="0"/>
                <a:cs typeface="Poppins Bold" panose="020B0604020202020204" charset="0"/>
              </a:rPr>
              <a:t>IndexFlatIP</a:t>
            </a:r>
            <a:endParaRPr lang="fr-FR" sz="2000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Bold" panose="020B0604020202020204" charset="0"/>
              <a:cs typeface="Poppins Bold" panose="020B060402020202020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6E7C595-FED6-4E87-A8DF-2B281CDEAF1D}"/>
              </a:ext>
            </a:extLst>
          </p:cNvPr>
          <p:cNvSpPr/>
          <p:nvPr/>
        </p:nvSpPr>
        <p:spPr>
          <a:xfrm>
            <a:off x="14118017" y="5648277"/>
            <a:ext cx="1696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u="sng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Italics" panose="020B0604020202020204" charset="0"/>
                <a:cs typeface="Poppins Italics" panose="020B0604020202020204" charset="0"/>
              </a:rPr>
              <a:t>IndexIVFFlat</a:t>
            </a:r>
            <a:endParaRPr lang="fr-FR" sz="2000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Italics" panose="020B0604020202020204" charset="0"/>
              <a:cs typeface="Poppins Italics" panose="020B0604020202020204" charset="0"/>
            </a:endParaRP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2492DBDD-CA99-4CF1-9A8C-0CF60D7064B0}"/>
              </a:ext>
            </a:extLst>
          </p:cNvPr>
          <p:cNvCxnSpPr>
            <a:cxnSpLocks/>
          </p:cNvCxnSpPr>
          <p:nvPr/>
        </p:nvCxnSpPr>
        <p:spPr>
          <a:xfrm>
            <a:off x="12114295" y="5603121"/>
            <a:ext cx="0" cy="2857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2F9FCF2D-1EB8-428E-BD93-E9EE1B3D62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3423712"/>
            <a:ext cx="2942113" cy="1765268"/>
          </a:xfrm>
          <a:prstGeom prst="rect">
            <a:avLst/>
          </a:prstGeom>
        </p:spPr>
      </p:pic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9B9E0CED-C861-4B98-8F81-2176FF84B7C7}"/>
              </a:ext>
            </a:extLst>
          </p:cNvPr>
          <p:cNvSpPr/>
          <p:nvPr/>
        </p:nvSpPr>
        <p:spPr>
          <a:xfrm>
            <a:off x="4466113" y="4076700"/>
            <a:ext cx="2416545" cy="5861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D6BB310-4B43-48D4-BC53-14D8AB4FD1E7}"/>
              </a:ext>
            </a:extLst>
          </p:cNvPr>
          <p:cNvSpPr txBox="1"/>
          <p:nvPr/>
        </p:nvSpPr>
        <p:spPr>
          <a:xfrm>
            <a:off x="6962867" y="3968654"/>
            <a:ext cx="98011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>
                <a:latin typeface="Poppins" panose="020B0604020202020204" charset="0"/>
                <a:cs typeface="Poppins" panose="020B0604020202020204" charset="0"/>
              </a:rPr>
              <a:t>Bibliothéque</a:t>
            </a:r>
            <a:r>
              <a:rPr lang="fr-FR" sz="2400" dirty="0">
                <a:latin typeface="Poppins" panose="020B0604020202020204" charset="0"/>
                <a:cs typeface="Poppins" panose="020B0604020202020204" charset="0"/>
              </a:rPr>
              <a:t> open source développé par </a:t>
            </a:r>
            <a:r>
              <a:rPr lang="fr-FR" sz="2400" dirty="0" err="1">
                <a:latin typeface="Poppins" panose="020B0604020202020204" charset="0"/>
                <a:cs typeface="Poppins" panose="020B0604020202020204" charset="0"/>
              </a:rPr>
              <a:t>MetaIA</a:t>
            </a:r>
            <a:r>
              <a:rPr lang="fr-FR" sz="2400" dirty="0">
                <a:latin typeface="Poppins" panose="020B0604020202020204" charset="0"/>
                <a:cs typeface="Poppins" panose="020B0604020202020204" charset="0"/>
              </a:rPr>
              <a:t> pour faire la</a:t>
            </a:r>
          </a:p>
          <a:p>
            <a:r>
              <a:rPr lang="fr-FR" sz="2400" dirty="0">
                <a:latin typeface="Poppins" panose="020B0604020202020204" charset="0"/>
                <a:cs typeface="Poppins" panose="020B0604020202020204" charset="0"/>
              </a:rPr>
              <a:t>recherche rapide.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3.1. Méthodologie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b="1">
                <a:solidFill>
                  <a:srgbClr val="6732A7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&amp; Conception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06909" y="420087"/>
            <a:ext cx="3320336" cy="44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870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sz="1870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97604" y="8623810"/>
            <a:ext cx="1190396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14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84517" y="2621235"/>
            <a:ext cx="6091413" cy="53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413"/>
              </a:lnSpc>
              <a:spcBef>
                <a:spcPct val="0"/>
              </a:spcBef>
            </a:pPr>
            <a:r>
              <a:rPr lang="en-US" sz="3152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2 : </a:t>
            </a:r>
            <a:r>
              <a:rPr lang="en-US" sz="3152" b="1" i="1" dirty="0">
                <a:solidFill>
                  <a:srgbClr val="2B2D42"/>
                </a:solidFill>
                <a:latin typeface="Cormorant Garamond Italics"/>
                <a:ea typeface="Cormorant Garamond Bold Italics"/>
                <a:cs typeface="Cormorant Garamond Bold Italics"/>
                <a:sym typeface="Cormorant Garamond Italics"/>
              </a:rPr>
              <a:t>Recherche BM25 (</a:t>
            </a:r>
            <a:r>
              <a:rPr lang="en-US" sz="3152" b="1" i="1" dirty="0" err="1">
                <a:solidFill>
                  <a:srgbClr val="2B2D42"/>
                </a:solidFill>
                <a:latin typeface="Cormorant Garamond Italics"/>
                <a:ea typeface="Cormorant Garamond Bold Italics"/>
                <a:cs typeface="Cormorant Garamond Bold Italics"/>
                <a:sym typeface="Cormorant Garamond Italics"/>
              </a:rPr>
              <a:t>lexicale</a:t>
            </a:r>
            <a:r>
              <a:rPr lang="en-US" sz="3152" b="1" i="1" dirty="0">
                <a:solidFill>
                  <a:srgbClr val="2B2D42"/>
                </a:solidFill>
                <a:latin typeface="Cormorant Garamond Italics"/>
                <a:ea typeface="Cormorant Garamond Bold Italics"/>
                <a:cs typeface="Cormorant Garamond Bold Italics"/>
                <a:sym typeface="Cormorant Garamond Italics"/>
              </a:rPr>
              <a:t>)</a:t>
            </a:r>
            <a:endParaRPr lang="en-US" sz="3152" i="1" dirty="0">
              <a:solidFill>
                <a:srgbClr val="2B2D42"/>
              </a:solidFill>
              <a:latin typeface="Cormorant Garamond Italics"/>
              <a:ea typeface="Cormorant Garamond Italics"/>
              <a:cs typeface="Cormorant Garamond Italics"/>
              <a:sym typeface="Cormorant Garamond Itali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021656" y="4179459"/>
            <a:ext cx="5394577" cy="1325128"/>
            <a:chOff x="0" y="0"/>
            <a:chExt cx="7192769" cy="17668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78462" cy="1766838"/>
            </a:xfrm>
            <a:custGeom>
              <a:avLst/>
              <a:gdLst/>
              <a:ahLst/>
              <a:cxnLst/>
              <a:rect l="l" t="t" r="r" b="b"/>
              <a:pathLst>
                <a:path w="3478462" h="1766838">
                  <a:moveTo>
                    <a:pt x="0" y="0"/>
                  </a:moveTo>
                  <a:lnTo>
                    <a:pt x="3478462" y="0"/>
                  </a:lnTo>
                  <a:lnTo>
                    <a:pt x="3478462" y="1766838"/>
                  </a:lnTo>
                  <a:lnTo>
                    <a:pt x="0" y="1766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32793"/>
              </a:stretch>
            </a:blip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3405748" y="0"/>
              <a:ext cx="3787021" cy="1766838"/>
            </a:xfrm>
            <a:custGeom>
              <a:avLst/>
              <a:gdLst/>
              <a:ahLst/>
              <a:cxnLst/>
              <a:rect l="l" t="t" r="r" b="b"/>
              <a:pathLst>
                <a:path w="3787021" h="1766838">
                  <a:moveTo>
                    <a:pt x="0" y="0"/>
                  </a:moveTo>
                  <a:lnTo>
                    <a:pt x="3787021" y="0"/>
                  </a:lnTo>
                  <a:lnTo>
                    <a:pt x="3787021" y="1766838"/>
                  </a:lnTo>
                  <a:lnTo>
                    <a:pt x="0" y="1766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21974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10401" y="4436634"/>
            <a:ext cx="5217085" cy="40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endParaRPr lang="en-US" sz="2355" dirty="0">
              <a:solidFill>
                <a:srgbClr val="2B2D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1028700" y="5876062"/>
            <a:ext cx="5394577" cy="1325128"/>
            <a:chOff x="0" y="0"/>
            <a:chExt cx="7192769" cy="17668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478462" cy="1766838"/>
            </a:xfrm>
            <a:custGeom>
              <a:avLst/>
              <a:gdLst/>
              <a:ahLst/>
              <a:cxnLst/>
              <a:rect l="l" t="t" r="r" b="b"/>
              <a:pathLst>
                <a:path w="3478462" h="1766838">
                  <a:moveTo>
                    <a:pt x="0" y="0"/>
                  </a:moveTo>
                  <a:lnTo>
                    <a:pt x="3478462" y="0"/>
                  </a:lnTo>
                  <a:lnTo>
                    <a:pt x="3478462" y="1766838"/>
                  </a:lnTo>
                  <a:lnTo>
                    <a:pt x="0" y="1766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32793"/>
              </a:stretch>
            </a:blip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3405748" y="0"/>
              <a:ext cx="3787021" cy="1766838"/>
            </a:xfrm>
            <a:custGeom>
              <a:avLst/>
              <a:gdLst/>
              <a:ahLst/>
              <a:cxnLst/>
              <a:rect l="l" t="t" r="r" b="b"/>
              <a:pathLst>
                <a:path w="3787021" h="1766838">
                  <a:moveTo>
                    <a:pt x="0" y="0"/>
                  </a:moveTo>
                  <a:lnTo>
                    <a:pt x="3787021" y="0"/>
                  </a:lnTo>
                  <a:lnTo>
                    <a:pt x="3787021" y="1766838"/>
                  </a:lnTo>
                  <a:lnTo>
                    <a:pt x="0" y="1766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21974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17446" y="6133237"/>
            <a:ext cx="5217085" cy="82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fr-FR" sz="2400" dirty="0">
                <a:latin typeface="Poppins" panose="020B0604020202020204" charset="0"/>
                <a:cs typeface="Poppins" panose="020B0604020202020204" charset="0"/>
              </a:rPr>
              <a:t>Poids renforcé sur les termes techniques</a:t>
            </a:r>
            <a:endParaRPr lang="en-US" sz="2355" dirty="0">
              <a:solidFill>
                <a:srgbClr val="2B2D42"/>
              </a:solidFill>
              <a:latin typeface="Poppins" panose="020B0604020202020204" charset="0"/>
              <a:ea typeface="Poppins"/>
              <a:cs typeface="Poppins" panose="020B0604020202020204" charset="0"/>
              <a:sym typeface="Poppin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0FDAA3-4E10-4615-A955-1E6DA44E01D6}"/>
              </a:ext>
            </a:extLst>
          </p:cNvPr>
          <p:cNvSpPr/>
          <p:nvPr/>
        </p:nvSpPr>
        <p:spPr>
          <a:xfrm>
            <a:off x="1375825" y="4637619"/>
            <a:ext cx="47003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latin typeface="Poppins" panose="020B0604020202020204" charset="0"/>
                <a:cs typeface="Poppins" panose="020B0604020202020204" charset="0"/>
              </a:rPr>
              <a:t>Recherche par termes exacts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529119EA-736E-4792-96C8-93A7927F23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515" y="2890315"/>
            <a:ext cx="6992326" cy="2191056"/>
          </a:xfrm>
          <a:prstGeom prst="rect">
            <a:avLst/>
          </a:prstGeom>
        </p:spPr>
      </p:pic>
      <p:sp>
        <p:nvSpPr>
          <p:cNvPr id="31" name="Flèche : bas 30">
            <a:extLst>
              <a:ext uri="{FF2B5EF4-FFF2-40B4-BE49-F238E27FC236}">
                <a16:creationId xmlns:a16="http://schemas.microsoft.com/office/drawing/2014/main" id="{43E15BCF-4527-4E80-833B-29B02EDC2EBD}"/>
              </a:ext>
            </a:extLst>
          </p:cNvPr>
          <p:cNvSpPr/>
          <p:nvPr/>
        </p:nvSpPr>
        <p:spPr>
          <a:xfrm>
            <a:off x="11224069" y="5205630"/>
            <a:ext cx="1295400" cy="15239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52F6F4E7-118F-45BF-81E1-1AD738AC0449}"/>
              </a:ext>
            </a:extLst>
          </p:cNvPr>
          <p:cNvSpPr/>
          <p:nvPr/>
        </p:nvSpPr>
        <p:spPr>
          <a:xfrm>
            <a:off x="9585769" y="6729624"/>
            <a:ext cx="4572000" cy="2799099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1"/>
                </a:solidFill>
                <a:latin typeface="Poppins" panose="020B0604020202020204" charset="0"/>
                <a:cs typeface="Poppins" panose="020B0604020202020204" charset="0"/>
              </a:rPr>
              <a:t>L’index BM25 est construit sur le contenu des </a:t>
            </a:r>
            <a:r>
              <a:rPr lang="fr-FR" dirty="0" err="1">
                <a:solidFill>
                  <a:schemeClr val="accent1"/>
                </a:solidFill>
                <a:latin typeface="Poppins" panose="020B0604020202020204" charset="0"/>
                <a:cs typeface="Poppins" panose="020B0604020202020204" charset="0"/>
              </a:rPr>
              <a:t>chunks</a:t>
            </a:r>
            <a:r>
              <a:rPr lang="fr-FR" dirty="0">
                <a:solidFill>
                  <a:schemeClr val="accent1"/>
                </a:solidFill>
                <a:latin typeface="Poppins" panose="020B0604020202020204" charset="0"/>
                <a:cs typeface="Poppins" panose="020B0604020202020204" charset="0"/>
              </a:rPr>
              <a:t> enrichi des keywords </a:t>
            </a:r>
            <a:r>
              <a:rPr lang="fr-FR" dirty="0" err="1">
                <a:solidFill>
                  <a:schemeClr val="accent1"/>
                </a:solidFill>
                <a:latin typeface="Poppins" panose="020B0604020202020204" charset="0"/>
                <a:cs typeface="Poppins" panose="020B0604020202020204" charset="0"/>
              </a:rPr>
              <a:t>KeyBERT</a:t>
            </a:r>
            <a:r>
              <a:rPr lang="fr-FR" dirty="0">
                <a:solidFill>
                  <a:schemeClr val="accent1"/>
                </a:solidFill>
                <a:latin typeface="Poppins" panose="020B0604020202020204" charset="0"/>
                <a:cs typeface="Poppins" panose="020B0604020202020204" charset="0"/>
              </a:rPr>
              <a:t>, afin de renforcer le poids des termes techniques :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3.1. Méthodologie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b="1">
                <a:solidFill>
                  <a:srgbClr val="6732A7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&amp; Conception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25049" y="381673"/>
            <a:ext cx="3320336" cy="44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259301" y="8623810"/>
            <a:ext cx="1027484" cy="1343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15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84517" y="2621235"/>
            <a:ext cx="6091413" cy="53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2 : </a:t>
            </a:r>
            <a:r>
              <a:rPr lang="en-US" sz="3152" i="1" u="none" strike="noStrike" dirty="0">
                <a:solidFill>
                  <a:srgbClr val="2B2D42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Recherche </a:t>
            </a:r>
            <a:r>
              <a:rPr lang="en-US" sz="3152" i="1" u="none" strike="noStrike" dirty="0" err="1">
                <a:solidFill>
                  <a:srgbClr val="2B2D42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Hybride</a:t>
            </a:r>
            <a:endParaRPr lang="en-US" sz="3152" i="1" u="none" strike="noStrike" dirty="0">
              <a:solidFill>
                <a:srgbClr val="2B2D42"/>
              </a:solidFill>
              <a:latin typeface="Cormorant Garamond Italics"/>
              <a:ea typeface="Cormorant Garamond Italics"/>
              <a:cs typeface="Cormorant Garamond Italics"/>
              <a:sym typeface="Cormorant Garamond Italics"/>
            </a:endParaRPr>
          </a:p>
        </p:txBody>
      </p:sp>
      <p:sp>
        <p:nvSpPr>
          <p:cNvPr id="20" name="AutoShape 2" descr="Schéma de pipeline d'indexation sémantique">
            <a:extLst>
              <a:ext uri="{FF2B5EF4-FFF2-40B4-BE49-F238E27FC236}">
                <a16:creationId xmlns:a16="http://schemas.microsoft.com/office/drawing/2014/main" id="{C24F7B6F-3975-4F3A-A698-E4BDE7C82C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08CB6A03-DF1D-44A8-8364-2E0867C46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318977"/>
            <a:ext cx="9525000" cy="635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6B2DF7F2-E6C5-4C1B-ACE9-50C043429274}"/>
                  </a:ext>
                </a:extLst>
              </p:cNvPr>
              <p:cNvSpPr txBox="1"/>
              <p:nvPr/>
            </p:nvSpPr>
            <p:spPr>
              <a:xfrm>
                <a:off x="11762919" y="3848100"/>
                <a:ext cx="403057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sz="3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36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fr-FR" sz="3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60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6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fr-FR" sz="36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fr-FR" sz="360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60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sz="3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6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fr-FR" sz="360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fr-FR" sz="3600" dirty="0"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6B2DF7F2-E6C5-4C1B-ACE9-50C043429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2919" y="3848100"/>
                <a:ext cx="403057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ZoneTexte 23">
            <a:extLst>
              <a:ext uri="{FF2B5EF4-FFF2-40B4-BE49-F238E27FC236}">
                <a16:creationId xmlns:a16="http://schemas.microsoft.com/office/drawing/2014/main" id="{6A88EFA1-977E-4844-9146-6A358BF1BA94}"/>
              </a:ext>
            </a:extLst>
          </p:cNvPr>
          <p:cNvSpPr txBox="1"/>
          <p:nvPr/>
        </p:nvSpPr>
        <p:spPr>
          <a:xfrm>
            <a:off x="10591800" y="5053502"/>
            <a:ext cx="7539243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000" b="1" dirty="0">
              <a:solidFill>
                <a:schemeClr val="tx2"/>
              </a:solidFill>
              <a:latin typeface="Poppins" panose="020B0604020202020204" charset="0"/>
              <a:cs typeface="Poppins" panose="020B0604020202020204" charset="0"/>
            </a:endParaRPr>
          </a:p>
          <a:p>
            <a:r>
              <a:rPr lang="fr-FR" sz="2000" b="1" dirty="0">
                <a:solidFill>
                  <a:schemeClr val="tx2"/>
                </a:solidFill>
                <a:latin typeface="Poppins" panose="020B0604020202020204" charset="0"/>
                <a:cs typeface="Poppins" panose="020B0604020202020204" charset="0"/>
              </a:rPr>
              <a:t>Requête étudiant</a:t>
            </a:r>
            <a:r>
              <a:rPr lang="fr-FR" sz="2000" dirty="0">
                <a:solidFill>
                  <a:schemeClr val="tx2"/>
                </a:solidFill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→ se divise en deux chemins parallèles</a:t>
            </a:r>
          </a:p>
          <a:p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 </a:t>
            </a:r>
          </a:p>
          <a:p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→ les scores sont normalisés entre 0 et 1 </a:t>
            </a:r>
          </a:p>
          <a:p>
            <a:endParaRPr lang="fr-FR" sz="2000" dirty="0">
              <a:latin typeface="Poppins" panose="020B0604020202020204" charset="0"/>
              <a:cs typeface="Poppins" panose="020B0604020202020204" charset="0"/>
            </a:endParaRPr>
          </a:p>
          <a:p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→ fusionnés avec α=0.5</a:t>
            </a:r>
          </a:p>
          <a:p>
            <a:endParaRPr lang="fr-FR" sz="2000" dirty="0">
              <a:latin typeface="Poppins" panose="020B0604020202020204" charset="0"/>
              <a:cs typeface="Poppins" panose="020B0604020202020204" charset="0"/>
            </a:endParaRPr>
          </a:p>
          <a:p>
            <a:endParaRPr lang="fr-FR" sz="2000" dirty="0">
              <a:latin typeface="Poppins" panose="020B0604020202020204" charset="0"/>
              <a:cs typeface="Poppins" panose="020B0604020202020204" charset="0"/>
            </a:endParaRPr>
          </a:p>
          <a:p>
            <a:r>
              <a:rPr lang="fr-FR" sz="2400" dirty="0">
                <a:solidFill>
                  <a:schemeClr val="tx2"/>
                </a:solidFill>
                <a:latin typeface="Poppins Bold" panose="020B0604020202020204" charset="0"/>
                <a:cs typeface="Poppins Bold" panose="020B0604020202020204" charset="0"/>
              </a:rPr>
              <a:t>Les </a:t>
            </a:r>
            <a:r>
              <a:rPr lang="fr-FR" sz="2400" dirty="0" err="1">
                <a:solidFill>
                  <a:schemeClr val="tx2"/>
                </a:solidFill>
                <a:latin typeface="Poppins Bold" panose="020B0604020202020204" charset="0"/>
                <a:cs typeface="Poppins Bold" panose="020B0604020202020204" charset="0"/>
              </a:rPr>
              <a:t>chunks</a:t>
            </a:r>
            <a:r>
              <a:rPr lang="fr-FR" sz="2400" dirty="0">
                <a:solidFill>
                  <a:schemeClr val="tx2"/>
                </a:solidFill>
                <a:latin typeface="Poppins Bold" panose="020B0604020202020204" charset="0"/>
                <a:cs typeface="Poppins Bold" panose="020B0604020202020204" charset="0"/>
              </a:rPr>
              <a:t> sont ensuite triés par score </a:t>
            </a:r>
          </a:p>
          <a:p>
            <a:r>
              <a:rPr lang="fr-FR" sz="2400" dirty="0">
                <a:solidFill>
                  <a:schemeClr val="tx2"/>
                </a:solidFill>
                <a:latin typeface="Poppins Bold" panose="020B0604020202020204" charset="0"/>
                <a:cs typeface="Poppins Bold" panose="020B0604020202020204" charset="0"/>
              </a:rPr>
              <a:t>décroissant et les k meilleurs  sont retenus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 : coins arrondis 24">
                <a:extLst>
                  <a:ext uri="{FF2B5EF4-FFF2-40B4-BE49-F238E27FC236}">
                    <a16:creationId xmlns:a16="http://schemas.microsoft.com/office/drawing/2014/main" id="{367ACD5C-A328-42CC-B3C0-05B1CF55114B}"/>
                  </a:ext>
                </a:extLst>
              </p:cNvPr>
              <p:cNvSpPr/>
              <p:nvPr/>
            </p:nvSpPr>
            <p:spPr>
              <a:xfrm>
                <a:off x="10972800" y="2781300"/>
                <a:ext cx="5791200" cy="213358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sz="4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4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fr-FR" sz="4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4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sz="4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4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fr-FR" sz="4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fr-FR" sz="4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sz="4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4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sz="4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sz="4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4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fr-FR" sz="4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fr-FR" sz="4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5" name="Rectangle : coins arrondis 24">
                <a:extLst>
                  <a:ext uri="{FF2B5EF4-FFF2-40B4-BE49-F238E27FC236}">
                    <a16:creationId xmlns:a16="http://schemas.microsoft.com/office/drawing/2014/main" id="{367ACD5C-A328-42CC-B3C0-05B1CF5511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0" y="2781300"/>
                <a:ext cx="5791200" cy="213358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16200000">
            <a:off x="1344980" y="3540584"/>
            <a:ext cx="1506338" cy="2339068"/>
          </a:xfrm>
          <a:custGeom>
            <a:avLst/>
            <a:gdLst/>
            <a:ahLst/>
            <a:cxnLst/>
            <a:rect l="l" t="t" r="r" b="b"/>
            <a:pathLst>
              <a:path w="660400" h="1025481">
                <a:moveTo>
                  <a:pt x="220252" y="19070"/>
                </a:moveTo>
                <a:cubicBezTo>
                  <a:pt x="254000" y="7556"/>
                  <a:pt x="292600" y="0"/>
                  <a:pt x="330378" y="0"/>
                </a:cubicBezTo>
                <a:cubicBezTo>
                  <a:pt x="368157" y="0"/>
                  <a:pt x="404509" y="6476"/>
                  <a:pt x="438009" y="17990"/>
                </a:cubicBezTo>
                <a:cubicBezTo>
                  <a:pt x="438723" y="18350"/>
                  <a:pt x="439435" y="18350"/>
                  <a:pt x="440148" y="18710"/>
                </a:cubicBezTo>
                <a:cubicBezTo>
                  <a:pt x="565955" y="64765"/>
                  <a:pt x="658618" y="186379"/>
                  <a:pt x="660400" y="333226"/>
                </a:cubicBezTo>
                <a:lnTo>
                  <a:pt x="660400" y="1025481"/>
                </a:lnTo>
                <a:lnTo>
                  <a:pt x="0" y="1025481"/>
                </a:lnTo>
                <a:lnTo>
                  <a:pt x="0" y="333740"/>
                </a:lnTo>
                <a:cubicBezTo>
                  <a:pt x="1782" y="185660"/>
                  <a:pt x="93019" y="64045"/>
                  <a:pt x="220252" y="1907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 rot="-5400000">
            <a:off x="12748030" y="3503723"/>
            <a:ext cx="1506338" cy="2339068"/>
            <a:chOff x="0" y="0"/>
            <a:chExt cx="660400" cy="10254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1025481"/>
            </a:xfrm>
            <a:custGeom>
              <a:avLst/>
              <a:gdLst/>
              <a:ahLst/>
              <a:cxnLst/>
              <a:rect l="l" t="t" r="r" b="b"/>
              <a:pathLst>
                <a:path w="660400" h="102548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3226"/>
                  </a:cubicBezTo>
                  <a:lnTo>
                    <a:pt x="660400" y="1025481"/>
                  </a:lnTo>
                  <a:lnTo>
                    <a:pt x="0" y="1025481"/>
                  </a:lnTo>
                  <a:lnTo>
                    <a:pt x="0" y="33374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9804"/>
              </a:scheme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9375"/>
              <a:ext cx="660400" cy="946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16200000">
            <a:off x="1344980" y="6443490"/>
            <a:ext cx="1506338" cy="2339068"/>
          </a:xfrm>
          <a:custGeom>
            <a:avLst/>
            <a:gdLst/>
            <a:ahLst/>
            <a:cxnLst/>
            <a:rect l="l" t="t" r="r" b="b"/>
            <a:pathLst>
              <a:path w="660400" h="1025481">
                <a:moveTo>
                  <a:pt x="220252" y="19070"/>
                </a:moveTo>
                <a:cubicBezTo>
                  <a:pt x="254000" y="7556"/>
                  <a:pt x="292600" y="0"/>
                  <a:pt x="330378" y="0"/>
                </a:cubicBezTo>
                <a:cubicBezTo>
                  <a:pt x="368157" y="0"/>
                  <a:pt x="404509" y="6476"/>
                  <a:pt x="438009" y="17990"/>
                </a:cubicBezTo>
                <a:cubicBezTo>
                  <a:pt x="438723" y="18350"/>
                  <a:pt x="439435" y="18350"/>
                  <a:pt x="440148" y="18710"/>
                </a:cubicBezTo>
                <a:cubicBezTo>
                  <a:pt x="565955" y="64765"/>
                  <a:pt x="658618" y="186379"/>
                  <a:pt x="660400" y="333226"/>
                </a:cubicBezTo>
                <a:lnTo>
                  <a:pt x="660400" y="1025481"/>
                </a:lnTo>
                <a:lnTo>
                  <a:pt x="0" y="1025481"/>
                </a:lnTo>
                <a:lnTo>
                  <a:pt x="0" y="333740"/>
                </a:lnTo>
                <a:cubicBezTo>
                  <a:pt x="1782" y="185660"/>
                  <a:pt x="93019" y="64045"/>
                  <a:pt x="220252" y="1907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endParaRPr lang="fr-FR"/>
          </a:p>
        </p:txBody>
      </p:sp>
      <p:sp>
        <p:nvSpPr>
          <p:cNvPr id="18" name="Freeform 18"/>
          <p:cNvSpPr/>
          <p:nvPr/>
        </p:nvSpPr>
        <p:spPr>
          <a:xfrm>
            <a:off x="2455485" y="7747867"/>
            <a:ext cx="3500530" cy="811081"/>
          </a:xfrm>
          <a:custGeom>
            <a:avLst/>
            <a:gdLst/>
            <a:ahLst/>
            <a:cxnLst/>
            <a:rect l="l" t="t" r="r" b="b"/>
            <a:pathLst>
              <a:path w="3500530" h="811081">
                <a:moveTo>
                  <a:pt x="0" y="0"/>
                </a:moveTo>
                <a:lnTo>
                  <a:pt x="3500530" y="0"/>
                </a:lnTo>
                <a:lnTo>
                  <a:pt x="3500530" y="811081"/>
                </a:lnTo>
                <a:lnTo>
                  <a:pt x="0" y="811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4654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" name="Freeform 20"/>
          <p:cNvSpPr/>
          <p:nvPr/>
        </p:nvSpPr>
        <p:spPr>
          <a:xfrm rot="16200000">
            <a:off x="12929080" y="6392590"/>
            <a:ext cx="1506338" cy="2339068"/>
          </a:xfrm>
          <a:custGeom>
            <a:avLst/>
            <a:gdLst/>
            <a:ahLst/>
            <a:cxnLst/>
            <a:rect l="l" t="t" r="r" b="b"/>
            <a:pathLst>
              <a:path w="660400" h="1025481">
                <a:moveTo>
                  <a:pt x="220252" y="19070"/>
                </a:moveTo>
                <a:cubicBezTo>
                  <a:pt x="254000" y="7556"/>
                  <a:pt x="292600" y="0"/>
                  <a:pt x="330378" y="0"/>
                </a:cubicBezTo>
                <a:cubicBezTo>
                  <a:pt x="368157" y="0"/>
                  <a:pt x="404509" y="6476"/>
                  <a:pt x="438009" y="17990"/>
                </a:cubicBezTo>
                <a:cubicBezTo>
                  <a:pt x="438723" y="18350"/>
                  <a:pt x="439435" y="18350"/>
                  <a:pt x="440148" y="18710"/>
                </a:cubicBezTo>
                <a:cubicBezTo>
                  <a:pt x="565955" y="64765"/>
                  <a:pt x="658618" y="186379"/>
                  <a:pt x="660400" y="333226"/>
                </a:cubicBezTo>
                <a:lnTo>
                  <a:pt x="660400" y="1025481"/>
                </a:lnTo>
                <a:lnTo>
                  <a:pt x="0" y="1025481"/>
                </a:lnTo>
                <a:lnTo>
                  <a:pt x="0" y="333740"/>
                </a:lnTo>
                <a:cubicBezTo>
                  <a:pt x="1782" y="185660"/>
                  <a:pt x="93019" y="64045"/>
                  <a:pt x="220252" y="1907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13758449" y="7747867"/>
            <a:ext cx="3500530" cy="754111"/>
          </a:xfrm>
          <a:custGeom>
            <a:avLst/>
            <a:gdLst/>
            <a:ahLst/>
            <a:cxnLst/>
            <a:rect l="l" t="t" r="r" b="b"/>
            <a:pathLst>
              <a:path w="3500530" h="754111">
                <a:moveTo>
                  <a:pt x="0" y="0"/>
                </a:moveTo>
                <a:lnTo>
                  <a:pt x="3500530" y="0"/>
                </a:lnTo>
                <a:lnTo>
                  <a:pt x="3500530" y="754112"/>
                </a:lnTo>
                <a:lnTo>
                  <a:pt x="0" y="7541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651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2494292" y="4793861"/>
            <a:ext cx="3462043" cy="796688"/>
          </a:xfrm>
          <a:custGeom>
            <a:avLst/>
            <a:gdLst/>
            <a:ahLst/>
            <a:cxnLst/>
            <a:rect l="l" t="t" r="r" b="b"/>
            <a:pathLst>
              <a:path w="3462043" h="796688">
                <a:moveTo>
                  <a:pt x="0" y="0"/>
                </a:moveTo>
                <a:lnTo>
                  <a:pt x="3462044" y="0"/>
                </a:lnTo>
                <a:lnTo>
                  <a:pt x="3462044" y="796687"/>
                </a:lnTo>
                <a:lnTo>
                  <a:pt x="0" y="7966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4823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2455485" y="4179193"/>
            <a:ext cx="3500851" cy="988128"/>
          </a:xfrm>
          <a:custGeom>
            <a:avLst/>
            <a:gdLst/>
            <a:ahLst/>
            <a:cxnLst/>
            <a:rect l="l" t="t" r="r" b="b"/>
            <a:pathLst>
              <a:path w="426875" h="120487">
                <a:moveTo>
                  <a:pt x="60244" y="0"/>
                </a:moveTo>
                <a:lnTo>
                  <a:pt x="366631" y="0"/>
                </a:lnTo>
                <a:cubicBezTo>
                  <a:pt x="399903" y="0"/>
                  <a:pt x="426875" y="26972"/>
                  <a:pt x="426875" y="60244"/>
                </a:cubicBezTo>
                <a:lnTo>
                  <a:pt x="426875" y="60244"/>
                </a:lnTo>
                <a:cubicBezTo>
                  <a:pt x="426875" y="93515"/>
                  <a:pt x="399903" y="120487"/>
                  <a:pt x="366631" y="120487"/>
                </a:cubicBezTo>
                <a:lnTo>
                  <a:pt x="60244" y="120487"/>
                </a:lnTo>
                <a:cubicBezTo>
                  <a:pt x="26972" y="120487"/>
                  <a:pt x="0" y="93515"/>
                  <a:pt x="0" y="60244"/>
                </a:cubicBezTo>
                <a:lnTo>
                  <a:pt x="0" y="60244"/>
                </a:lnTo>
                <a:cubicBezTo>
                  <a:pt x="0" y="26972"/>
                  <a:pt x="26972" y="0"/>
                  <a:pt x="60244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13758449" y="4856303"/>
            <a:ext cx="3500530" cy="862799"/>
          </a:xfrm>
          <a:custGeom>
            <a:avLst/>
            <a:gdLst/>
            <a:ahLst/>
            <a:cxnLst/>
            <a:rect l="l" t="t" r="r" b="b"/>
            <a:pathLst>
              <a:path w="3500530" h="862799">
                <a:moveTo>
                  <a:pt x="0" y="0"/>
                </a:moveTo>
                <a:lnTo>
                  <a:pt x="3500530" y="0"/>
                </a:lnTo>
                <a:lnTo>
                  <a:pt x="3500530" y="862799"/>
                </a:lnTo>
                <a:lnTo>
                  <a:pt x="0" y="8627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3176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13758449" y="4179193"/>
            <a:ext cx="3500851" cy="988128"/>
          </a:xfrm>
          <a:custGeom>
            <a:avLst/>
            <a:gdLst/>
            <a:ahLst/>
            <a:cxnLst/>
            <a:rect l="l" t="t" r="r" b="b"/>
            <a:pathLst>
              <a:path w="426875" h="120487">
                <a:moveTo>
                  <a:pt x="60244" y="0"/>
                </a:moveTo>
                <a:lnTo>
                  <a:pt x="366631" y="0"/>
                </a:lnTo>
                <a:cubicBezTo>
                  <a:pt x="399903" y="0"/>
                  <a:pt x="426875" y="26972"/>
                  <a:pt x="426875" y="60244"/>
                </a:cubicBezTo>
                <a:lnTo>
                  <a:pt x="426875" y="60244"/>
                </a:lnTo>
                <a:cubicBezTo>
                  <a:pt x="426875" y="93515"/>
                  <a:pt x="399903" y="120487"/>
                  <a:pt x="366631" y="120487"/>
                </a:cubicBezTo>
                <a:lnTo>
                  <a:pt x="60244" y="120487"/>
                </a:lnTo>
                <a:cubicBezTo>
                  <a:pt x="26972" y="120487"/>
                  <a:pt x="0" y="93515"/>
                  <a:pt x="0" y="60244"/>
                </a:cubicBezTo>
                <a:lnTo>
                  <a:pt x="0" y="60244"/>
                </a:lnTo>
                <a:cubicBezTo>
                  <a:pt x="0" y="26972"/>
                  <a:pt x="26972" y="0"/>
                  <a:pt x="60244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fr-FR"/>
          </a:p>
        </p:txBody>
      </p:sp>
      <p:sp>
        <p:nvSpPr>
          <p:cNvPr id="32" name="Freeform 32"/>
          <p:cNvSpPr/>
          <p:nvPr/>
        </p:nvSpPr>
        <p:spPr>
          <a:xfrm>
            <a:off x="2455485" y="7087109"/>
            <a:ext cx="3500851" cy="988128"/>
          </a:xfrm>
          <a:custGeom>
            <a:avLst/>
            <a:gdLst/>
            <a:ahLst/>
            <a:cxnLst/>
            <a:rect l="l" t="t" r="r" b="b"/>
            <a:pathLst>
              <a:path w="426875" h="120487">
                <a:moveTo>
                  <a:pt x="60244" y="0"/>
                </a:moveTo>
                <a:lnTo>
                  <a:pt x="366631" y="0"/>
                </a:lnTo>
                <a:cubicBezTo>
                  <a:pt x="399903" y="0"/>
                  <a:pt x="426875" y="26972"/>
                  <a:pt x="426875" y="60244"/>
                </a:cubicBezTo>
                <a:lnTo>
                  <a:pt x="426875" y="60244"/>
                </a:lnTo>
                <a:cubicBezTo>
                  <a:pt x="426875" y="93515"/>
                  <a:pt x="399903" y="120487"/>
                  <a:pt x="366631" y="120487"/>
                </a:cubicBezTo>
                <a:lnTo>
                  <a:pt x="60244" y="120487"/>
                </a:lnTo>
                <a:cubicBezTo>
                  <a:pt x="26972" y="120487"/>
                  <a:pt x="0" y="93515"/>
                  <a:pt x="0" y="60244"/>
                </a:cubicBezTo>
                <a:lnTo>
                  <a:pt x="0" y="60244"/>
                </a:lnTo>
                <a:cubicBezTo>
                  <a:pt x="0" y="26972"/>
                  <a:pt x="26972" y="0"/>
                  <a:pt x="60244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fr-FR"/>
          </a:p>
        </p:txBody>
      </p:sp>
      <p:sp>
        <p:nvSpPr>
          <p:cNvPr id="37" name="Freeform 37"/>
          <p:cNvSpPr/>
          <p:nvPr/>
        </p:nvSpPr>
        <p:spPr>
          <a:xfrm>
            <a:off x="6716838" y="3667241"/>
            <a:ext cx="4854325" cy="4550930"/>
          </a:xfrm>
          <a:custGeom>
            <a:avLst/>
            <a:gdLst/>
            <a:ahLst/>
            <a:cxnLst/>
            <a:rect l="l" t="t" r="r" b="b"/>
            <a:pathLst>
              <a:path w="4854325" h="4550930">
                <a:moveTo>
                  <a:pt x="0" y="0"/>
                </a:moveTo>
                <a:lnTo>
                  <a:pt x="4854324" y="0"/>
                </a:lnTo>
                <a:lnTo>
                  <a:pt x="4854324" y="4550929"/>
                </a:lnTo>
                <a:lnTo>
                  <a:pt x="0" y="45509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1" name="Freeform 41"/>
          <p:cNvSpPr/>
          <p:nvPr/>
        </p:nvSpPr>
        <p:spPr>
          <a:xfrm>
            <a:off x="1452254" y="7186508"/>
            <a:ext cx="789330" cy="789330"/>
          </a:xfrm>
          <a:custGeom>
            <a:avLst/>
            <a:gdLst/>
            <a:ahLst/>
            <a:cxnLst/>
            <a:rect l="l" t="t" r="r" b="b"/>
            <a:pathLst>
              <a:path w="789330" h="789330">
                <a:moveTo>
                  <a:pt x="0" y="0"/>
                </a:moveTo>
                <a:lnTo>
                  <a:pt x="789330" y="0"/>
                </a:lnTo>
                <a:lnTo>
                  <a:pt x="789330" y="789329"/>
                </a:lnTo>
                <a:lnTo>
                  <a:pt x="0" y="7893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2" name="TextBox 42"/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3.1. Méthodologie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b="1">
                <a:solidFill>
                  <a:srgbClr val="6732A7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&amp; Conception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344635" y="399609"/>
            <a:ext cx="3320336" cy="44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870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sz="1870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7077200" y="8623810"/>
            <a:ext cx="1210800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16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784517" y="2621235"/>
            <a:ext cx="6091413" cy="53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3 : </a:t>
            </a:r>
            <a:r>
              <a:rPr lang="en-US" sz="3152" i="1" dirty="0">
                <a:solidFill>
                  <a:srgbClr val="2B2D42"/>
                </a:solidFill>
                <a:latin typeface="Cormorant Garamond Italics"/>
                <a:ea typeface="Cormorant Garamond Bold Italics"/>
                <a:cs typeface="Cormorant Garamond Bold Italics"/>
                <a:sym typeface="Cormorant Garamond Italics"/>
              </a:rPr>
              <a:t>Pipeline RAG</a:t>
            </a:r>
            <a:r>
              <a:rPr lang="en-US" sz="3152" i="1" u="none" strike="noStrike" dirty="0">
                <a:solidFill>
                  <a:srgbClr val="2B2D42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712360" y="4468463"/>
            <a:ext cx="2987101" cy="35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923"/>
              </a:lnSpc>
            </a:pPr>
            <a:r>
              <a:rPr lang="en-US" sz="2249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Query Expansion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212172" y="4330357"/>
            <a:ext cx="2593405" cy="102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8"/>
              </a:lnSpc>
            </a:pPr>
            <a:r>
              <a:rPr lang="en-US" sz="2249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Multi Query</a:t>
            </a:r>
          </a:p>
          <a:p>
            <a:pPr algn="ctr">
              <a:lnSpc>
                <a:spcPts val="2698"/>
              </a:lnSpc>
            </a:pPr>
            <a:r>
              <a:rPr lang="en-US" sz="2249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Retrieval</a:t>
            </a:r>
          </a:p>
          <a:p>
            <a:pPr marL="0" lvl="1" indent="0" algn="ctr">
              <a:lnSpc>
                <a:spcPts val="2698"/>
              </a:lnSpc>
            </a:pPr>
            <a:endParaRPr lang="en-US" sz="2249" b="1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2712360" y="7376380"/>
            <a:ext cx="2987101" cy="35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923"/>
              </a:lnSpc>
            </a:pPr>
            <a:r>
              <a:rPr lang="en-US" sz="2249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BGE </a:t>
            </a:r>
            <a:r>
              <a:rPr lang="en-US" sz="2249" b="1" dirty="0" err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Reranker</a:t>
            </a:r>
            <a:endParaRPr lang="en-US" sz="2249" b="1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4015324" y="7376380"/>
            <a:ext cx="2987101" cy="371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923"/>
              </a:lnSpc>
            </a:pPr>
            <a:r>
              <a:rPr lang="en-US" sz="2249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Gaussian Naïve Bayes </a:t>
            </a:r>
          </a:p>
        </p:txBody>
      </p:sp>
      <p:sp>
        <p:nvSpPr>
          <p:cNvPr id="56" name="Freeform 41">
            <a:extLst>
              <a:ext uri="{FF2B5EF4-FFF2-40B4-BE49-F238E27FC236}">
                <a16:creationId xmlns:a16="http://schemas.microsoft.com/office/drawing/2014/main" id="{FE343F1C-4C36-48FD-8040-0284DED84B69}"/>
              </a:ext>
            </a:extLst>
          </p:cNvPr>
          <p:cNvSpPr/>
          <p:nvPr/>
        </p:nvSpPr>
        <p:spPr>
          <a:xfrm>
            <a:off x="1432012" y="4291386"/>
            <a:ext cx="789330" cy="789330"/>
          </a:xfrm>
          <a:custGeom>
            <a:avLst/>
            <a:gdLst/>
            <a:ahLst/>
            <a:cxnLst/>
            <a:rect l="l" t="t" r="r" b="b"/>
            <a:pathLst>
              <a:path w="789330" h="789330">
                <a:moveTo>
                  <a:pt x="0" y="0"/>
                </a:moveTo>
                <a:lnTo>
                  <a:pt x="789330" y="0"/>
                </a:lnTo>
                <a:lnTo>
                  <a:pt x="789330" y="789329"/>
                </a:lnTo>
                <a:lnTo>
                  <a:pt x="0" y="7893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57" name="Freeform 41">
            <a:extLst>
              <a:ext uri="{FF2B5EF4-FFF2-40B4-BE49-F238E27FC236}">
                <a16:creationId xmlns:a16="http://schemas.microsoft.com/office/drawing/2014/main" id="{10BBA57C-0047-4A28-8E07-144B3B8EA5C1}"/>
              </a:ext>
            </a:extLst>
          </p:cNvPr>
          <p:cNvSpPr/>
          <p:nvPr/>
        </p:nvSpPr>
        <p:spPr>
          <a:xfrm>
            <a:off x="12837303" y="4278591"/>
            <a:ext cx="789330" cy="789330"/>
          </a:xfrm>
          <a:custGeom>
            <a:avLst/>
            <a:gdLst/>
            <a:ahLst/>
            <a:cxnLst/>
            <a:rect l="l" t="t" r="r" b="b"/>
            <a:pathLst>
              <a:path w="789330" h="789330">
                <a:moveTo>
                  <a:pt x="0" y="0"/>
                </a:moveTo>
                <a:lnTo>
                  <a:pt x="789330" y="0"/>
                </a:lnTo>
                <a:lnTo>
                  <a:pt x="789330" y="789329"/>
                </a:lnTo>
                <a:lnTo>
                  <a:pt x="0" y="7893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8" name="Freeform 41">
            <a:extLst>
              <a:ext uri="{FF2B5EF4-FFF2-40B4-BE49-F238E27FC236}">
                <a16:creationId xmlns:a16="http://schemas.microsoft.com/office/drawing/2014/main" id="{8434017B-4D9C-44AF-8D37-BA8DEC1BE0A4}"/>
              </a:ext>
            </a:extLst>
          </p:cNvPr>
          <p:cNvSpPr/>
          <p:nvPr/>
        </p:nvSpPr>
        <p:spPr>
          <a:xfrm>
            <a:off x="12875641" y="7157244"/>
            <a:ext cx="789330" cy="789330"/>
          </a:xfrm>
          <a:custGeom>
            <a:avLst/>
            <a:gdLst/>
            <a:ahLst/>
            <a:cxnLst/>
            <a:rect l="l" t="t" r="r" b="b"/>
            <a:pathLst>
              <a:path w="789330" h="789330">
                <a:moveTo>
                  <a:pt x="0" y="0"/>
                </a:moveTo>
                <a:lnTo>
                  <a:pt x="789330" y="0"/>
                </a:lnTo>
                <a:lnTo>
                  <a:pt x="789330" y="789329"/>
                </a:lnTo>
                <a:lnTo>
                  <a:pt x="0" y="7893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9" name="Freeform 29">
            <a:extLst>
              <a:ext uri="{FF2B5EF4-FFF2-40B4-BE49-F238E27FC236}">
                <a16:creationId xmlns:a16="http://schemas.microsoft.com/office/drawing/2014/main" id="{D3D10302-E996-4AF0-B6B3-8F0819DDBD41}"/>
              </a:ext>
            </a:extLst>
          </p:cNvPr>
          <p:cNvSpPr/>
          <p:nvPr/>
        </p:nvSpPr>
        <p:spPr>
          <a:xfrm>
            <a:off x="13825214" y="7104415"/>
            <a:ext cx="3500851" cy="988128"/>
          </a:xfrm>
          <a:custGeom>
            <a:avLst/>
            <a:gdLst/>
            <a:ahLst/>
            <a:cxnLst/>
            <a:rect l="l" t="t" r="r" b="b"/>
            <a:pathLst>
              <a:path w="426875" h="120487">
                <a:moveTo>
                  <a:pt x="60244" y="0"/>
                </a:moveTo>
                <a:lnTo>
                  <a:pt x="366631" y="0"/>
                </a:lnTo>
                <a:cubicBezTo>
                  <a:pt x="399903" y="0"/>
                  <a:pt x="426875" y="26972"/>
                  <a:pt x="426875" y="60244"/>
                </a:cubicBezTo>
                <a:lnTo>
                  <a:pt x="426875" y="60244"/>
                </a:lnTo>
                <a:cubicBezTo>
                  <a:pt x="426875" y="93515"/>
                  <a:pt x="399903" y="120487"/>
                  <a:pt x="366631" y="120487"/>
                </a:cubicBezTo>
                <a:lnTo>
                  <a:pt x="60244" y="120487"/>
                </a:lnTo>
                <a:cubicBezTo>
                  <a:pt x="26972" y="120487"/>
                  <a:pt x="0" y="93515"/>
                  <a:pt x="0" y="60244"/>
                </a:cubicBezTo>
                <a:lnTo>
                  <a:pt x="0" y="60244"/>
                </a:lnTo>
                <a:cubicBezTo>
                  <a:pt x="0" y="26972"/>
                  <a:pt x="26972" y="0"/>
                  <a:pt x="60244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pPr algn="ctr">
              <a:lnSpc>
                <a:spcPts val="2698"/>
              </a:lnSpc>
            </a:pPr>
            <a:r>
              <a:rPr lang="en-US" sz="225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Prompt</a:t>
            </a:r>
          </a:p>
          <a:p>
            <a:pPr algn="ctr">
              <a:lnSpc>
                <a:spcPts val="2698"/>
              </a:lnSpc>
            </a:pPr>
            <a:r>
              <a:rPr lang="en-US" sz="225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Engineering </a:t>
            </a:r>
            <a:r>
              <a:rPr lang="en-US" sz="2250" b="1" dirty="0" err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avancé</a:t>
            </a:r>
            <a:endParaRPr lang="en-US" sz="2250" b="1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3.1. Méthodologie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b="1">
                <a:solidFill>
                  <a:srgbClr val="6732A7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&amp; Conception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74825" y="399609"/>
            <a:ext cx="3320336" cy="44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097604" y="8623810"/>
            <a:ext cx="1190396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17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84517" y="2621235"/>
            <a:ext cx="6091413" cy="53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3 : </a:t>
            </a:r>
            <a:r>
              <a:rPr lang="en-US" sz="3152" i="1" u="none" strike="noStrike" dirty="0">
                <a:solidFill>
                  <a:srgbClr val="2B2D42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Pipeline RAG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24B7F2FC-6DAD-4D2A-A930-2A38A71E7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0" y="3305561"/>
            <a:ext cx="10287000" cy="64700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reeform 37">
            <a:extLst>
              <a:ext uri="{FF2B5EF4-FFF2-40B4-BE49-F238E27FC236}">
                <a16:creationId xmlns:a16="http://schemas.microsoft.com/office/drawing/2014/main" id="{78A9EA32-AF69-BBA0-B1B4-759A9F6DF8FA}"/>
              </a:ext>
            </a:extLst>
          </p:cNvPr>
          <p:cNvSpPr/>
          <p:nvPr/>
        </p:nvSpPr>
        <p:spPr>
          <a:xfrm>
            <a:off x="6781800" y="5284741"/>
            <a:ext cx="114807" cy="99499"/>
          </a:xfrm>
          <a:custGeom>
            <a:avLst/>
            <a:gdLst/>
            <a:ahLst/>
            <a:cxnLst/>
            <a:rect l="l" t="t" r="r" b="b"/>
            <a:pathLst>
              <a:path w="4854325" h="4550930">
                <a:moveTo>
                  <a:pt x="0" y="0"/>
                </a:moveTo>
                <a:lnTo>
                  <a:pt x="4854324" y="0"/>
                </a:lnTo>
                <a:lnTo>
                  <a:pt x="4854324" y="4550929"/>
                </a:lnTo>
                <a:lnTo>
                  <a:pt x="0" y="45509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3.1. Méthodologie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b="1">
                <a:solidFill>
                  <a:srgbClr val="6732A7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&amp; Conception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56040" y="408627"/>
            <a:ext cx="3320336" cy="44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118008" y="8623810"/>
            <a:ext cx="1169992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18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84517" y="2621235"/>
            <a:ext cx="6091413" cy="53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4 : </a:t>
            </a:r>
            <a:r>
              <a:rPr lang="en-US" sz="3152" i="1" u="none" strike="noStrike" dirty="0" err="1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Moteur</a:t>
            </a:r>
            <a:r>
              <a:rPr lang="en-US" sz="3152" i="1" u="none" strike="noStrike" dirty="0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  <a:r>
              <a:rPr lang="en-US" sz="3152" i="1" u="none" strike="noStrike" dirty="0" err="1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Socratique</a:t>
            </a:r>
            <a:endParaRPr lang="en-US" sz="3152" i="1" u="none" strike="noStrike" dirty="0">
              <a:solidFill>
                <a:srgbClr val="2B2D42"/>
              </a:solidFill>
              <a:latin typeface="Cormorant Garamond Italics" panose="020B0604020202020204" charset="0"/>
              <a:ea typeface="Cormorant Garamond Italics"/>
              <a:cs typeface="Cormorant Garamond Italics"/>
              <a:sym typeface="Cormorant Garamond Italics"/>
            </a:endParaRPr>
          </a:p>
        </p:txBody>
      </p:sp>
      <p:grpSp>
        <p:nvGrpSpPr>
          <p:cNvPr id="36" name="Group 12">
            <a:extLst>
              <a:ext uri="{FF2B5EF4-FFF2-40B4-BE49-F238E27FC236}">
                <a16:creationId xmlns:a16="http://schemas.microsoft.com/office/drawing/2014/main" id="{4981FEE8-A102-DA06-332A-6E2ACFCD14A8}"/>
              </a:ext>
            </a:extLst>
          </p:cNvPr>
          <p:cNvGrpSpPr/>
          <p:nvPr/>
        </p:nvGrpSpPr>
        <p:grpSpPr>
          <a:xfrm rot="-5400000">
            <a:off x="19872730" y="3503723"/>
            <a:ext cx="1506338" cy="2339068"/>
            <a:chOff x="0" y="0"/>
            <a:chExt cx="660400" cy="1025481"/>
          </a:xfrm>
        </p:grpSpPr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69D55D25-EC23-087F-0D3B-84C640652CE3}"/>
                </a:ext>
              </a:extLst>
            </p:cNvPr>
            <p:cNvSpPr/>
            <p:nvPr/>
          </p:nvSpPr>
          <p:spPr>
            <a:xfrm>
              <a:off x="0" y="0"/>
              <a:ext cx="660400" cy="1025481"/>
            </a:xfrm>
            <a:custGeom>
              <a:avLst/>
              <a:gdLst/>
              <a:ahLst/>
              <a:cxnLst/>
              <a:rect l="l" t="t" r="r" b="b"/>
              <a:pathLst>
                <a:path w="660400" h="102548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3226"/>
                  </a:cubicBezTo>
                  <a:lnTo>
                    <a:pt x="660400" y="1025481"/>
                  </a:lnTo>
                  <a:lnTo>
                    <a:pt x="0" y="1025481"/>
                  </a:lnTo>
                  <a:lnTo>
                    <a:pt x="0" y="33374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B38DF1">
                <a:alpha val="4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TextBox 14">
              <a:extLst>
                <a:ext uri="{FF2B5EF4-FFF2-40B4-BE49-F238E27FC236}">
                  <a16:creationId xmlns:a16="http://schemas.microsoft.com/office/drawing/2014/main" id="{E91B1041-457F-6A8F-97EF-5321BC318996}"/>
                </a:ext>
              </a:extLst>
            </p:cNvPr>
            <p:cNvSpPr txBox="1"/>
            <p:nvPr/>
          </p:nvSpPr>
          <p:spPr>
            <a:xfrm>
              <a:off x="0" y="79375"/>
              <a:ext cx="660400" cy="946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39" name="Group 19">
            <a:extLst>
              <a:ext uri="{FF2B5EF4-FFF2-40B4-BE49-F238E27FC236}">
                <a16:creationId xmlns:a16="http://schemas.microsoft.com/office/drawing/2014/main" id="{105D2066-FDCF-9CB5-1AC3-6FEFC64E12F6}"/>
              </a:ext>
            </a:extLst>
          </p:cNvPr>
          <p:cNvGrpSpPr/>
          <p:nvPr/>
        </p:nvGrpSpPr>
        <p:grpSpPr>
          <a:xfrm rot="-5400000">
            <a:off x="19872730" y="6411639"/>
            <a:ext cx="1506338" cy="2339068"/>
            <a:chOff x="0" y="0"/>
            <a:chExt cx="660400" cy="1025481"/>
          </a:xfrm>
        </p:grpSpPr>
        <p:sp>
          <p:nvSpPr>
            <p:cNvPr id="40" name="Freeform 20">
              <a:extLst>
                <a:ext uri="{FF2B5EF4-FFF2-40B4-BE49-F238E27FC236}">
                  <a16:creationId xmlns:a16="http://schemas.microsoft.com/office/drawing/2014/main" id="{7E2B146A-003D-3082-1CBD-8F6D6A37C675}"/>
                </a:ext>
              </a:extLst>
            </p:cNvPr>
            <p:cNvSpPr/>
            <p:nvPr/>
          </p:nvSpPr>
          <p:spPr>
            <a:xfrm>
              <a:off x="0" y="0"/>
              <a:ext cx="660400" cy="1025481"/>
            </a:xfrm>
            <a:custGeom>
              <a:avLst/>
              <a:gdLst/>
              <a:ahLst/>
              <a:cxnLst/>
              <a:rect l="l" t="t" r="r" b="b"/>
              <a:pathLst>
                <a:path w="660400" h="102548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3226"/>
                  </a:cubicBezTo>
                  <a:lnTo>
                    <a:pt x="660400" y="1025481"/>
                  </a:lnTo>
                  <a:lnTo>
                    <a:pt x="0" y="1025481"/>
                  </a:lnTo>
                  <a:lnTo>
                    <a:pt x="0" y="33374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D9E4F5">
                <a:alpha val="4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Box 21">
              <a:extLst>
                <a:ext uri="{FF2B5EF4-FFF2-40B4-BE49-F238E27FC236}">
                  <a16:creationId xmlns:a16="http://schemas.microsoft.com/office/drawing/2014/main" id="{DDF516B8-312C-7601-2C26-7ED61A188E75}"/>
                </a:ext>
              </a:extLst>
            </p:cNvPr>
            <p:cNvSpPr txBox="1"/>
            <p:nvPr/>
          </p:nvSpPr>
          <p:spPr>
            <a:xfrm>
              <a:off x="0" y="79375"/>
              <a:ext cx="660400" cy="946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42" name="Freeform 22">
            <a:extLst>
              <a:ext uri="{FF2B5EF4-FFF2-40B4-BE49-F238E27FC236}">
                <a16:creationId xmlns:a16="http://schemas.microsoft.com/office/drawing/2014/main" id="{C44248E8-D45A-6ECB-D544-B1E1B9279B3C}"/>
              </a:ext>
            </a:extLst>
          </p:cNvPr>
          <p:cNvSpPr/>
          <p:nvPr/>
        </p:nvSpPr>
        <p:spPr>
          <a:xfrm>
            <a:off x="20883149" y="7747867"/>
            <a:ext cx="3500530" cy="754111"/>
          </a:xfrm>
          <a:custGeom>
            <a:avLst/>
            <a:gdLst/>
            <a:ahLst/>
            <a:cxnLst/>
            <a:rect l="l" t="t" r="r" b="b"/>
            <a:pathLst>
              <a:path w="3500530" h="754111">
                <a:moveTo>
                  <a:pt x="0" y="0"/>
                </a:moveTo>
                <a:lnTo>
                  <a:pt x="3500530" y="0"/>
                </a:lnTo>
                <a:lnTo>
                  <a:pt x="3500530" y="754112"/>
                </a:lnTo>
                <a:lnTo>
                  <a:pt x="0" y="7541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651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43" name="Freeform 27">
            <a:extLst>
              <a:ext uri="{FF2B5EF4-FFF2-40B4-BE49-F238E27FC236}">
                <a16:creationId xmlns:a16="http://schemas.microsoft.com/office/drawing/2014/main" id="{1B4E3EC9-0069-4412-0CE9-7573CC523827}"/>
              </a:ext>
            </a:extLst>
          </p:cNvPr>
          <p:cNvSpPr/>
          <p:nvPr/>
        </p:nvSpPr>
        <p:spPr>
          <a:xfrm>
            <a:off x="20883149" y="4856303"/>
            <a:ext cx="3500530" cy="862799"/>
          </a:xfrm>
          <a:custGeom>
            <a:avLst/>
            <a:gdLst/>
            <a:ahLst/>
            <a:cxnLst/>
            <a:rect l="l" t="t" r="r" b="b"/>
            <a:pathLst>
              <a:path w="3500530" h="862799">
                <a:moveTo>
                  <a:pt x="0" y="0"/>
                </a:moveTo>
                <a:lnTo>
                  <a:pt x="3500530" y="0"/>
                </a:lnTo>
                <a:lnTo>
                  <a:pt x="3500530" y="862799"/>
                </a:lnTo>
                <a:lnTo>
                  <a:pt x="0" y="8627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3176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44" name="Group 28">
            <a:extLst>
              <a:ext uri="{FF2B5EF4-FFF2-40B4-BE49-F238E27FC236}">
                <a16:creationId xmlns:a16="http://schemas.microsoft.com/office/drawing/2014/main" id="{96B3CD01-6277-A58B-D109-F22012A88CCF}"/>
              </a:ext>
            </a:extLst>
          </p:cNvPr>
          <p:cNvGrpSpPr/>
          <p:nvPr/>
        </p:nvGrpSpPr>
        <p:grpSpPr>
          <a:xfrm>
            <a:off x="20883149" y="4179193"/>
            <a:ext cx="3500851" cy="988128"/>
            <a:chOff x="0" y="0"/>
            <a:chExt cx="426875" cy="120487"/>
          </a:xfrm>
        </p:grpSpPr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1508FAFB-DF5C-E327-DF6A-84142D2594AF}"/>
                </a:ext>
              </a:extLst>
            </p:cNvPr>
            <p:cNvSpPr/>
            <p:nvPr/>
          </p:nvSpPr>
          <p:spPr>
            <a:xfrm>
              <a:off x="0" y="0"/>
              <a:ext cx="426875" cy="120487"/>
            </a:xfrm>
            <a:custGeom>
              <a:avLst/>
              <a:gdLst/>
              <a:ahLst/>
              <a:cxnLst/>
              <a:rect l="l" t="t" r="r" b="b"/>
              <a:pathLst>
                <a:path w="426875" h="120487">
                  <a:moveTo>
                    <a:pt x="60244" y="0"/>
                  </a:moveTo>
                  <a:lnTo>
                    <a:pt x="366631" y="0"/>
                  </a:lnTo>
                  <a:cubicBezTo>
                    <a:pt x="399903" y="0"/>
                    <a:pt x="426875" y="26972"/>
                    <a:pt x="426875" y="60244"/>
                  </a:cubicBezTo>
                  <a:lnTo>
                    <a:pt x="426875" y="60244"/>
                  </a:lnTo>
                  <a:cubicBezTo>
                    <a:pt x="426875" y="93515"/>
                    <a:pt x="399903" y="120487"/>
                    <a:pt x="366631" y="120487"/>
                  </a:cubicBezTo>
                  <a:lnTo>
                    <a:pt x="60244" y="120487"/>
                  </a:lnTo>
                  <a:cubicBezTo>
                    <a:pt x="26972" y="120487"/>
                    <a:pt x="0" y="93515"/>
                    <a:pt x="0" y="60244"/>
                  </a:cubicBezTo>
                  <a:lnTo>
                    <a:pt x="0" y="60244"/>
                  </a:lnTo>
                  <a:cubicBezTo>
                    <a:pt x="0" y="26972"/>
                    <a:pt x="26972" y="0"/>
                    <a:pt x="60244" y="0"/>
                  </a:cubicBezTo>
                  <a:close/>
                </a:path>
              </a:pathLst>
            </a:custGeom>
            <a:solidFill>
              <a:srgbClr val="5F249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Box 30">
              <a:extLst>
                <a:ext uri="{FF2B5EF4-FFF2-40B4-BE49-F238E27FC236}">
                  <a16:creationId xmlns:a16="http://schemas.microsoft.com/office/drawing/2014/main" id="{C8885D18-03E3-17EB-268B-F2A95DC09B35}"/>
                </a:ext>
              </a:extLst>
            </p:cNvPr>
            <p:cNvSpPr txBox="1"/>
            <p:nvPr/>
          </p:nvSpPr>
          <p:spPr>
            <a:xfrm>
              <a:off x="0" y="-47625"/>
              <a:ext cx="426875" cy="168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47" name="Group 34">
            <a:extLst>
              <a:ext uri="{FF2B5EF4-FFF2-40B4-BE49-F238E27FC236}">
                <a16:creationId xmlns:a16="http://schemas.microsoft.com/office/drawing/2014/main" id="{2B3F638C-A0DE-92BB-5C01-05EB61011E60}"/>
              </a:ext>
            </a:extLst>
          </p:cNvPr>
          <p:cNvGrpSpPr/>
          <p:nvPr/>
        </p:nvGrpSpPr>
        <p:grpSpPr>
          <a:xfrm>
            <a:off x="20883149" y="7087109"/>
            <a:ext cx="3500851" cy="988128"/>
            <a:chOff x="0" y="0"/>
            <a:chExt cx="426875" cy="120487"/>
          </a:xfrm>
        </p:grpSpPr>
        <p:sp>
          <p:nvSpPr>
            <p:cNvPr id="48" name="Freeform 35">
              <a:extLst>
                <a:ext uri="{FF2B5EF4-FFF2-40B4-BE49-F238E27FC236}">
                  <a16:creationId xmlns:a16="http://schemas.microsoft.com/office/drawing/2014/main" id="{ADBBFDF9-020B-E0A1-C1ED-468929361B8D}"/>
                </a:ext>
              </a:extLst>
            </p:cNvPr>
            <p:cNvSpPr/>
            <p:nvPr/>
          </p:nvSpPr>
          <p:spPr>
            <a:xfrm>
              <a:off x="0" y="0"/>
              <a:ext cx="426875" cy="120487"/>
            </a:xfrm>
            <a:custGeom>
              <a:avLst/>
              <a:gdLst/>
              <a:ahLst/>
              <a:cxnLst/>
              <a:rect l="l" t="t" r="r" b="b"/>
              <a:pathLst>
                <a:path w="426875" h="120487">
                  <a:moveTo>
                    <a:pt x="60244" y="0"/>
                  </a:moveTo>
                  <a:lnTo>
                    <a:pt x="366631" y="0"/>
                  </a:lnTo>
                  <a:cubicBezTo>
                    <a:pt x="399903" y="0"/>
                    <a:pt x="426875" y="26972"/>
                    <a:pt x="426875" y="60244"/>
                  </a:cubicBezTo>
                  <a:lnTo>
                    <a:pt x="426875" y="60244"/>
                  </a:lnTo>
                  <a:cubicBezTo>
                    <a:pt x="426875" y="93515"/>
                    <a:pt x="399903" y="120487"/>
                    <a:pt x="366631" y="120487"/>
                  </a:cubicBezTo>
                  <a:lnTo>
                    <a:pt x="60244" y="120487"/>
                  </a:lnTo>
                  <a:cubicBezTo>
                    <a:pt x="26972" y="120487"/>
                    <a:pt x="0" y="93515"/>
                    <a:pt x="0" y="60244"/>
                  </a:cubicBezTo>
                  <a:lnTo>
                    <a:pt x="0" y="60244"/>
                  </a:lnTo>
                  <a:cubicBezTo>
                    <a:pt x="0" y="26972"/>
                    <a:pt x="26972" y="0"/>
                    <a:pt x="60244" y="0"/>
                  </a:cubicBezTo>
                  <a:close/>
                </a:path>
              </a:pathLst>
            </a:custGeom>
            <a:solidFill>
              <a:srgbClr val="5F249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TextBox 36">
              <a:extLst>
                <a:ext uri="{FF2B5EF4-FFF2-40B4-BE49-F238E27FC236}">
                  <a16:creationId xmlns:a16="http://schemas.microsoft.com/office/drawing/2014/main" id="{F7629DAE-2865-E95E-944E-44920CFBEAE4}"/>
                </a:ext>
              </a:extLst>
            </p:cNvPr>
            <p:cNvSpPr txBox="1"/>
            <p:nvPr/>
          </p:nvSpPr>
          <p:spPr>
            <a:xfrm>
              <a:off x="0" y="-47625"/>
              <a:ext cx="426875" cy="168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50" name="Freeform 39">
            <a:extLst>
              <a:ext uri="{FF2B5EF4-FFF2-40B4-BE49-F238E27FC236}">
                <a16:creationId xmlns:a16="http://schemas.microsoft.com/office/drawing/2014/main" id="{54DB7B9A-B6A3-3828-4856-C787C36572DF}"/>
              </a:ext>
            </a:extLst>
          </p:cNvPr>
          <p:cNvSpPr/>
          <p:nvPr/>
        </p:nvSpPr>
        <p:spPr>
          <a:xfrm>
            <a:off x="19923005" y="4272204"/>
            <a:ext cx="789330" cy="789330"/>
          </a:xfrm>
          <a:custGeom>
            <a:avLst/>
            <a:gdLst/>
            <a:ahLst/>
            <a:cxnLst/>
            <a:rect l="l" t="t" r="r" b="b"/>
            <a:pathLst>
              <a:path w="789330" h="789330">
                <a:moveTo>
                  <a:pt x="0" y="0"/>
                </a:moveTo>
                <a:lnTo>
                  <a:pt x="789330" y="0"/>
                </a:lnTo>
                <a:lnTo>
                  <a:pt x="789330" y="789330"/>
                </a:lnTo>
                <a:lnTo>
                  <a:pt x="0" y="789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1" name="Freeform 40">
            <a:extLst>
              <a:ext uri="{FF2B5EF4-FFF2-40B4-BE49-F238E27FC236}">
                <a16:creationId xmlns:a16="http://schemas.microsoft.com/office/drawing/2014/main" id="{4E986027-775E-FB0D-0CCE-EAA10F62C8E5}"/>
              </a:ext>
            </a:extLst>
          </p:cNvPr>
          <p:cNvSpPr/>
          <p:nvPr/>
        </p:nvSpPr>
        <p:spPr>
          <a:xfrm>
            <a:off x="19860231" y="7130024"/>
            <a:ext cx="914878" cy="902299"/>
          </a:xfrm>
          <a:custGeom>
            <a:avLst/>
            <a:gdLst/>
            <a:ahLst/>
            <a:cxnLst/>
            <a:rect l="l" t="t" r="r" b="b"/>
            <a:pathLst>
              <a:path w="914878" h="902299">
                <a:moveTo>
                  <a:pt x="0" y="0"/>
                </a:moveTo>
                <a:lnTo>
                  <a:pt x="914878" y="0"/>
                </a:lnTo>
                <a:lnTo>
                  <a:pt x="914878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4" name="Group 9">
            <a:extLst>
              <a:ext uri="{FF2B5EF4-FFF2-40B4-BE49-F238E27FC236}">
                <a16:creationId xmlns:a16="http://schemas.microsoft.com/office/drawing/2014/main" id="{9876A4C2-7A12-0C57-3A9E-E50FA4044063}"/>
              </a:ext>
            </a:extLst>
          </p:cNvPr>
          <p:cNvGrpSpPr/>
          <p:nvPr/>
        </p:nvGrpSpPr>
        <p:grpSpPr>
          <a:xfrm rot="-5400000">
            <a:off x="-6060635" y="3503723"/>
            <a:ext cx="1506338" cy="2339068"/>
            <a:chOff x="0" y="0"/>
            <a:chExt cx="660400" cy="1025481"/>
          </a:xfrm>
        </p:grpSpPr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273FD3D2-5049-FD03-2C22-F359D61B456D}"/>
                </a:ext>
              </a:extLst>
            </p:cNvPr>
            <p:cNvSpPr/>
            <p:nvPr/>
          </p:nvSpPr>
          <p:spPr>
            <a:xfrm>
              <a:off x="0" y="0"/>
              <a:ext cx="660400" cy="1025481"/>
            </a:xfrm>
            <a:custGeom>
              <a:avLst/>
              <a:gdLst/>
              <a:ahLst/>
              <a:cxnLst/>
              <a:rect l="l" t="t" r="r" b="b"/>
              <a:pathLst>
                <a:path w="660400" h="102548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3226"/>
                  </a:cubicBezTo>
                  <a:lnTo>
                    <a:pt x="660400" y="1025481"/>
                  </a:lnTo>
                  <a:lnTo>
                    <a:pt x="0" y="1025481"/>
                  </a:lnTo>
                  <a:lnTo>
                    <a:pt x="0" y="33374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D9E4F5">
                <a:alpha val="4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TextBox 11">
              <a:extLst>
                <a:ext uri="{FF2B5EF4-FFF2-40B4-BE49-F238E27FC236}">
                  <a16:creationId xmlns:a16="http://schemas.microsoft.com/office/drawing/2014/main" id="{A4C5FF86-76FC-224D-2C32-F83FD20ECB18}"/>
                </a:ext>
              </a:extLst>
            </p:cNvPr>
            <p:cNvSpPr txBox="1"/>
            <p:nvPr/>
          </p:nvSpPr>
          <p:spPr>
            <a:xfrm>
              <a:off x="0" y="79375"/>
              <a:ext cx="660400" cy="946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57" name="Group 15">
            <a:extLst>
              <a:ext uri="{FF2B5EF4-FFF2-40B4-BE49-F238E27FC236}">
                <a16:creationId xmlns:a16="http://schemas.microsoft.com/office/drawing/2014/main" id="{C859DA12-8B5D-7B58-EE51-4C42D8269C4A}"/>
              </a:ext>
            </a:extLst>
          </p:cNvPr>
          <p:cNvGrpSpPr/>
          <p:nvPr/>
        </p:nvGrpSpPr>
        <p:grpSpPr>
          <a:xfrm rot="-5400000">
            <a:off x="-6060635" y="6411639"/>
            <a:ext cx="1506338" cy="2339068"/>
            <a:chOff x="0" y="0"/>
            <a:chExt cx="660400" cy="1025481"/>
          </a:xfrm>
        </p:grpSpPr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B512455C-5735-35A5-1A05-CF46B35B213B}"/>
                </a:ext>
              </a:extLst>
            </p:cNvPr>
            <p:cNvSpPr/>
            <p:nvPr/>
          </p:nvSpPr>
          <p:spPr>
            <a:xfrm>
              <a:off x="0" y="0"/>
              <a:ext cx="660400" cy="1025481"/>
            </a:xfrm>
            <a:custGeom>
              <a:avLst/>
              <a:gdLst/>
              <a:ahLst/>
              <a:cxnLst/>
              <a:rect l="l" t="t" r="r" b="b"/>
              <a:pathLst>
                <a:path w="660400" h="102548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3226"/>
                  </a:cubicBezTo>
                  <a:lnTo>
                    <a:pt x="660400" y="1025481"/>
                  </a:lnTo>
                  <a:lnTo>
                    <a:pt x="0" y="1025481"/>
                  </a:lnTo>
                  <a:lnTo>
                    <a:pt x="0" y="33374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B38DF1">
                <a:alpha val="4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TextBox 17">
              <a:extLst>
                <a:ext uri="{FF2B5EF4-FFF2-40B4-BE49-F238E27FC236}">
                  <a16:creationId xmlns:a16="http://schemas.microsoft.com/office/drawing/2014/main" id="{18A3BDD2-AA99-D9BB-952B-E9BA2E40346C}"/>
                </a:ext>
              </a:extLst>
            </p:cNvPr>
            <p:cNvSpPr txBox="1"/>
            <p:nvPr/>
          </p:nvSpPr>
          <p:spPr>
            <a:xfrm>
              <a:off x="0" y="79375"/>
              <a:ext cx="660400" cy="946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60" name="Freeform 18">
            <a:extLst>
              <a:ext uri="{FF2B5EF4-FFF2-40B4-BE49-F238E27FC236}">
                <a16:creationId xmlns:a16="http://schemas.microsoft.com/office/drawing/2014/main" id="{AE6805AF-0289-891F-A2F8-99A8285C5C88}"/>
              </a:ext>
            </a:extLst>
          </p:cNvPr>
          <p:cNvSpPr/>
          <p:nvPr/>
        </p:nvSpPr>
        <p:spPr>
          <a:xfrm>
            <a:off x="-5050215" y="7747867"/>
            <a:ext cx="3500530" cy="811081"/>
          </a:xfrm>
          <a:custGeom>
            <a:avLst/>
            <a:gdLst/>
            <a:ahLst/>
            <a:cxnLst/>
            <a:rect l="l" t="t" r="r" b="b"/>
            <a:pathLst>
              <a:path w="3500530" h="811081">
                <a:moveTo>
                  <a:pt x="0" y="0"/>
                </a:moveTo>
                <a:lnTo>
                  <a:pt x="3500530" y="0"/>
                </a:lnTo>
                <a:lnTo>
                  <a:pt x="3500530" y="811081"/>
                </a:lnTo>
                <a:lnTo>
                  <a:pt x="0" y="8110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4654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61" name="Freeform 23">
            <a:extLst>
              <a:ext uri="{FF2B5EF4-FFF2-40B4-BE49-F238E27FC236}">
                <a16:creationId xmlns:a16="http://schemas.microsoft.com/office/drawing/2014/main" id="{66BD9299-088D-24E0-6DD5-1CE8E6BBF6DB}"/>
              </a:ext>
            </a:extLst>
          </p:cNvPr>
          <p:cNvSpPr/>
          <p:nvPr/>
        </p:nvSpPr>
        <p:spPr>
          <a:xfrm>
            <a:off x="-5011408" y="4793861"/>
            <a:ext cx="3462043" cy="796688"/>
          </a:xfrm>
          <a:custGeom>
            <a:avLst/>
            <a:gdLst/>
            <a:ahLst/>
            <a:cxnLst/>
            <a:rect l="l" t="t" r="r" b="b"/>
            <a:pathLst>
              <a:path w="3462043" h="796688">
                <a:moveTo>
                  <a:pt x="0" y="0"/>
                </a:moveTo>
                <a:lnTo>
                  <a:pt x="3462044" y="0"/>
                </a:lnTo>
                <a:lnTo>
                  <a:pt x="3462044" y="796687"/>
                </a:lnTo>
                <a:lnTo>
                  <a:pt x="0" y="7966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4999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14823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62" name="Group 24">
            <a:extLst>
              <a:ext uri="{FF2B5EF4-FFF2-40B4-BE49-F238E27FC236}">
                <a16:creationId xmlns:a16="http://schemas.microsoft.com/office/drawing/2014/main" id="{77602A56-EA7E-E314-2B4F-81EAC8E6EA13}"/>
              </a:ext>
            </a:extLst>
          </p:cNvPr>
          <p:cNvGrpSpPr/>
          <p:nvPr/>
        </p:nvGrpSpPr>
        <p:grpSpPr>
          <a:xfrm>
            <a:off x="-5050215" y="4179193"/>
            <a:ext cx="3500851" cy="988128"/>
            <a:chOff x="0" y="0"/>
            <a:chExt cx="426875" cy="120487"/>
          </a:xfrm>
        </p:grpSpPr>
        <p:sp>
          <p:nvSpPr>
            <p:cNvPr id="63" name="Freeform 25">
              <a:extLst>
                <a:ext uri="{FF2B5EF4-FFF2-40B4-BE49-F238E27FC236}">
                  <a16:creationId xmlns:a16="http://schemas.microsoft.com/office/drawing/2014/main" id="{3CD2EBAD-B060-10B2-F630-E8E6B231D0A9}"/>
                </a:ext>
              </a:extLst>
            </p:cNvPr>
            <p:cNvSpPr/>
            <p:nvPr/>
          </p:nvSpPr>
          <p:spPr>
            <a:xfrm>
              <a:off x="0" y="0"/>
              <a:ext cx="426875" cy="120487"/>
            </a:xfrm>
            <a:custGeom>
              <a:avLst/>
              <a:gdLst/>
              <a:ahLst/>
              <a:cxnLst/>
              <a:rect l="l" t="t" r="r" b="b"/>
              <a:pathLst>
                <a:path w="426875" h="120487">
                  <a:moveTo>
                    <a:pt x="60244" y="0"/>
                  </a:moveTo>
                  <a:lnTo>
                    <a:pt x="366631" y="0"/>
                  </a:lnTo>
                  <a:cubicBezTo>
                    <a:pt x="399903" y="0"/>
                    <a:pt x="426875" y="26972"/>
                    <a:pt x="426875" y="60244"/>
                  </a:cubicBezTo>
                  <a:lnTo>
                    <a:pt x="426875" y="60244"/>
                  </a:lnTo>
                  <a:cubicBezTo>
                    <a:pt x="426875" y="93515"/>
                    <a:pt x="399903" y="120487"/>
                    <a:pt x="366631" y="120487"/>
                  </a:cubicBezTo>
                  <a:lnTo>
                    <a:pt x="60244" y="120487"/>
                  </a:lnTo>
                  <a:cubicBezTo>
                    <a:pt x="26972" y="120487"/>
                    <a:pt x="0" y="93515"/>
                    <a:pt x="0" y="60244"/>
                  </a:cubicBezTo>
                  <a:lnTo>
                    <a:pt x="0" y="60244"/>
                  </a:lnTo>
                  <a:cubicBezTo>
                    <a:pt x="0" y="26972"/>
                    <a:pt x="26972" y="0"/>
                    <a:pt x="60244" y="0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TextBox 26">
              <a:extLst>
                <a:ext uri="{FF2B5EF4-FFF2-40B4-BE49-F238E27FC236}">
                  <a16:creationId xmlns:a16="http://schemas.microsoft.com/office/drawing/2014/main" id="{C1EE6D6D-A658-569A-7BBF-CA865ED1C3B4}"/>
                </a:ext>
              </a:extLst>
            </p:cNvPr>
            <p:cNvSpPr txBox="1"/>
            <p:nvPr/>
          </p:nvSpPr>
          <p:spPr>
            <a:xfrm>
              <a:off x="0" y="-47625"/>
              <a:ext cx="426875" cy="168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65" name="Group 31">
            <a:extLst>
              <a:ext uri="{FF2B5EF4-FFF2-40B4-BE49-F238E27FC236}">
                <a16:creationId xmlns:a16="http://schemas.microsoft.com/office/drawing/2014/main" id="{DBFCBE29-E621-0BAC-35A7-059555A0CE9D}"/>
              </a:ext>
            </a:extLst>
          </p:cNvPr>
          <p:cNvGrpSpPr/>
          <p:nvPr/>
        </p:nvGrpSpPr>
        <p:grpSpPr>
          <a:xfrm>
            <a:off x="-5065776" y="7069858"/>
            <a:ext cx="3500851" cy="988128"/>
            <a:chOff x="0" y="0"/>
            <a:chExt cx="426875" cy="120487"/>
          </a:xfrm>
        </p:grpSpPr>
        <p:sp>
          <p:nvSpPr>
            <p:cNvPr id="66" name="Freeform 32">
              <a:extLst>
                <a:ext uri="{FF2B5EF4-FFF2-40B4-BE49-F238E27FC236}">
                  <a16:creationId xmlns:a16="http://schemas.microsoft.com/office/drawing/2014/main" id="{FD076A9E-D316-1276-D173-394072073B65}"/>
                </a:ext>
              </a:extLst>
            </p:cNvPr>
            <p:cNvSpPr/>
            <p:nvPr/>
          </p:nvSpPr>
          <p:spPr>
            <a:xfrm>
              <a:off x="0" y="0"/>
              <a:ext cx="426875" cy="120487"/>
            </a:xfrm>
            <a:custGeom>
              <a:avLst/>
              <a:gdLst/>
              <a:ahLst/>
              <a:cxnLst/>
              <a:rect l="l" t="t" r="r" b="b"/>
              <a:pathLst>
                <a:path w="426875" h="120487">
                  <a:moveTo>
                    <a:pt x="60244" y="0"/>
                  </a:moveTo>
                  <a:lnTo>
                    <a:pt x="366631" y="0"/>
                  </a:lnTo>
                  <a:cubicBezTo>
                    <a:pt x="399903" y="0"/>
                    <a:pt x="426875" y="26972"/>
                    <a:pt x="426875" y="60244"/>
                  </a:cubicBezTo>
                  <a:lnTo>
                    <a:pt x="426875" y="60244"/>
                  </a:lnTo>
                  <a:cubicBezTo>
                    <a:pt x="426875" y="93515"/>
                    <a:pt x="399903" y="120487"/>
                    <a:pt x="366631" y="120487"/>
                  </a:cubicBezTo>
                  <a:lnTo>
                    <a:pt x="60244" y="120487"/>
                  </a:lnTo>
                  <a:cubicBezTo>
                    <a:pt x="26972" y="120487"/>
                    <a:pt x="0" y="93515"/>
                    <a:pt x="0" y="60244"/>
                  </a:cubicBezTo>
                  <a:lnTo>
                    <a:pt x="0" y="60244"/>
                  </a:lnTo>
                  <a:cubicBezTo>
                    <a:pt x="0" y="26972"/>
                    <a:pt x="26972" y="0"/>
                    <a:pt x="60244" y="0"/>
                  </a:cubicBezTo>
                  <a:close/>
                </a:path>
              </a:pathLst>
            </a:custGeom>
            <a:solidFill>
              <a:srgbClr val="5F249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TextBox 33">
              <a:extLst>
                <a:ext uri="{FF2B5EF4-FFF2-40B4-BE49-F238E27FC236}">
                  <a16:creationId xmlns:a16="http://schemas.microsoft.com/office/drawing/2014/main" id="{C158D8DE-7502-BF34-264F-CC9D432F1A44}"/>
                </a:ext>
              </a:extLst>
            </p:cNvPr>
            <p:cNvSpPr txBox="1"/>
            <p:nvPr/>
          </p:nvSpPr>
          <p:spPr>
            <a:xfrm>
              <a:off x="0" y="-47625"/>
              <a:ext cx="426875" cy="168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68" name="Freeform 38">
            <a:extLst>
              <a:ext uri="{FF2B5EF4-FFF2-40B4-BE49-F238E27FC236}">
                <a16:creationId xmlns:a16="http://schemas.microsoft.com/office/drawing/2014/main" id="{6302CA42-B704-286E-537A-749324E2C171}"/>
              </a:ext>
            </a:extLst>
          </p:cNvPr>
          <p:cNvSpPr/>
          <p:nvPr/>
        </p:nvSpPr>
        <p:spPr>
          <a:xfrm>
            <a:off x="-6116127" y="4243629"/>
            <a:ext cx="944607" cy="709636"/>
          </a:xfrm>
          <a:custGeom>
            <a:avLst/>
            <a:gdLst/>
            <a:ahLst/>
            <a:cxnLst/>
            <a:rect l="l" t="t" r="r" b="b"/>
            <a:pathLst>
              <a:path w="944607" h="709636">
                <a:moveTo>
                  <a:pt x="0" y="0"/>
                </a:moveTo>
                <a:lnTo>
                  <a:pt x="944607" y="0"/>
                </a:lnTo>
                <a:lnTo>
                  <a:pt x="944607" y="709636"/>
                </a:lnTo>
                <a:lnTo>
                  <a:pt x="0" y="7096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9" name="Freeform 41">
            <a:extLst>
              <a:ext uri="{FF2B5EF4-FFF2-40B4-BE49-F238E27FC236}">
                <a16:creationId xmlns:a16="http://schemas.microsoft.com/office/drawing/2014/main" id="{B987004E-9DE3-D88A-61E2-7858DBEE90BB}"/>
              </a:ext>
            </a:extLst>
          </p:cNvPr>
          <p:cNvSpPr/>
          <p:nvPr/>
        </p:nvSpPr>
        <p:spPr>
          <a:xfrm>
            <a:off x="-6038488" y="7186509"/>
            <a:ext cx="789330" cy="789330"/>
          </a:xfrm>
          <a:custGeom>
            <a:avLst/>
            <a:gdLst/>
            <a:ahLst/>
            <a:cxnLst/>
            <a:rect l="l" t="t" r="r" b="b"/>
            <a:pathLst>
              <a:path w="789330" h="789330">
                <a:moveTo>
                  <a:pt x="0" y="0"/>
                </a:moveTo>
                <a:lnTo>
                  <a:pt x="789330" y="0"/>
                </a:lnTo>
                <a:lnTo>
                  <a:pt x="789330" y="789329"/>
                </a:lnTo>
                <a:lnTo>
                  <a:pt x="0" y="78932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7170" name="Picture 2" descr="Mistral AI : modèles, prix et cas d'usage (guide 2025 / 2026)">
            <a:extLst>
              <a:ext uri="{FF2B5EF4-FFF2-40B4-BE49-F238E27FC236}">
                <a16:creationId xmlns:a16="http://schemas.microsoft.com/office/drawing/2014/main" id="{21BB1CD3-2827-42D6-BB17-EBBBB5EA8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95" y="3222125"/>
            <a:ext cx="5677284" cy="402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5" name="Rectangle 3">
            <a:extLst>
              <a:ext uri="{FF2B5EF4-FFF2-40B4-BE49-F238E27FC236}">
                <a16:creationId xmlns:a16="http://schemas.microsoft.com/office/drawing/2014/main" id="{D2FC6D6A-F97A-4334-A96E-EA567BA3A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7440" y="3340868"/>
            <a:ext cx="1121813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20B0604020202020204" charset="0"/>
                <a:cs typeface="Poppins" panose="020B0604020202020204" charset="0"/>
              </a:rPr>
              <a:t>Entreprise française fondée en 2023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20B0604020202020204" charset="0"/>
              <a:cs typeface="Poppi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20B0604020202020204" charset="0"/>
                <a:cs typeface="Poppins" panose="020B0604020202020204" charset="0"/>
              </a:rPr>
              <a:t>Modèles open-source performants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20B0604020202020204" charset="0"/>
              <a:cs typeface="Poppi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20B0604020202020204" charset="0"/>
                <a:cs typeface="Poppins" panose="020B0604020202020204" charset="0"/>
              </a:rPr>
              <a:t>Rapport qualité / coût élevé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20B0604020202020204" charset="0"/>
              <a:cs typeface="Poppi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20B0604020202020204" charset="0"/>
                <a:cs typeface="Poppins" panose="020B0604020202020204" charset="0"/>
              </a:rPr>
              <a:t>Deux rôles dans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20B0604020202020204" charset="0"/>
                <a:cs typeface="Poppins" panose="020B0604020202020204" charset="0"/>
              </a:rPr>
              <a:t>CyberSocrate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20B0604020202020204" charset="0"/>
                <a:cs typeface="Poppins" panose="020B0604020202020204" charset="0"/>
              </a:rPr>
              <a:t> : </a:t>
            </a: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20B0604020202020204" charset="0"/>
                <a:cs typeface="Poppins" panose="020B0604020202020204" charset="0"/>
              </a:rPr>
              <a:t>Query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20B0604020202020204" charset="0"/>
                <a:cs typeface="Poppins" panose="020B0604020202020204" charset="0"/>
              </a:rPr>
              <a:t> Expansion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20B0604020202020204" charset="0"/>
                <a:cs typeface="Poppins" panose="020B0604020202020204" charset="0"/>
              </a:rPr>
              <a:t> +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20B0604020202020204" charset="0"/>
                <a:cs typeface="Poppins" panose="020B0604020202020204" charset="0"/>
              </a:rPr>
              <a:t>Moteur Socratique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20B0604020202020204" charset="0"/>
                <a:cs typeface="Poppins" panose="020B060402020202020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20B0604020202020204" charset="0"/>
              <a:cs typeface="Poppi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363AFC1-9D59-444C-83D5-FF467B945B3A}"/>
              </a:ext>
            </a:extLst>
          </p:cNvPr>
          <p:cNvSpPr txBox="1"/>
          <p:nvPr/>
        </p:nvSpPr>
        <p:spPr>
          <a:xfrm>
            <a:off x="7140473" y="6767169"/>
            <a:ext cx="10501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600" dirty="0"/>
              <a:t>VS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D03E529-D08F-418D-93D1-7F860EC07EB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40541" y="7466993"/>
            <a:ext cx="3485280" cy="218390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877814CB-1243-4281-8DF9-44F3B3107B0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19348" y="7890908"/>
            <a:ext cx="2510563" cy="150633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2A4B8DC-615A-46EC-A583-ABF49E69BD4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66217" y="7813486"/>
            <a:ext cx="3276600" cy="120995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D7A2C-02C0-3C49-E1FD-0A4CD3C00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D0B9BBA-EECF-126E-E491-C3F6F689610A}"/>
              </a:ext>
            </a:extLst>
          </p:cNvPr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36766DA-3065-F2A1-8FFD-0E344E4B9B97}"/>
              </a:ext>
            </a:extLst>
          </p:cNvPr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99F06C2-1F4F-096E-1911-F30B31A59C7A}"/>
                </a:ext>
              </a:extLst>
            </p:cNvPr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54D3AF6-AF2E-BE3C-92DB-60F1731CAD3E}"/>
                </a:ext>
              </a:extLst>
            </p:cNvPr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B25DE4E-4AC4-711F-9C0F-95ADB10EBE69}"/>
              </a:ext>
            </a:extLst>
          </p:cNvPr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09F5228-9791-4E70-95B3-F637A46444CE}"/>
                </a:ext>
              </a:extLst>
            </p:cNvPr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3C6EA6C-E9B0-D27F-AB5D-8315FC74943F}"/>
                </a:ext>
              </a:extLst>
            </p:cNvPr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8CECDA53-B83E-4F13-0C1B-9FF8172E83F3}"/>
              </a:ext>
            </a:extLst>
          </p:cNvPr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3.1. Méthodologie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50DF1A2-14B7-E174-8834-04C71B934FA0}"/>
              </a:ext>
            </a:extLst>
          </p:cNvPr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b="1">
                <a:solidFill>
                  <a:srgbClr val="6732A7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&amp; Conception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247985F-EEF4-AED0-0F3C-B67197636A31}"/>
              </a:ext>
            </a:extLst>
          </p:cNvPr>
          <p:cNvSpPr txBox="1"/>
          <p:nvPr/>
        </p:nvSpPr>
        <p:spPr>
          <a:xfrm>
            <a:off x="10456040" y="419270"/>
            <a:ext cx="3320336" cy="44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870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sz="1870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CE91D6D-6759-B70F-BFF9-30D639F5CD3F}"/>
              </a:ext>
            </a:extLst>
          </p:cNvPr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9A447DB-9A4D-23CC-4771-6D163FC33056}"/>
              </a:ext>
            </a:extLst>
          </p:cNvPr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8FB3AA7-99C6-1E45-7820-F5FB29603792}"/>
              </a:ext>
            </a:extLst>
          </p:cNvPr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976978F-2A77-8249-221F-BB2F19DC609C}"/>
              </a:ext>
            </a:extLst>
          </p:cNvPr>
          <p:cNvSpPr txBox="1"/>
          <p:nvPr/>
        </p:nvSpPr>
        <p:spPr>
          <a:xfrm>
            <a:off x="17118008" y="8623810"/>
            <a:ext cx="1169992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19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08482F9-6BDA-3F83-C141-9E2F0FF60380}"/>
              </a:ext>
            </a:extLst>
          </p:cNvPr>
          <p:cNvSpPr txBox="1"/>
          <p:nvPr/>
        </p:nvSpPr>
        <p:spPr>
          <a:xfrm>
            <a:off x="1784517" y="2621235"/>
            <a:ext cx="8673356" cy="538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5 : </a:t>
            </a:r>
            <a:r>
              <a:rPr lang="en-US" sz="3152" i="1" u="none" strike="noStrike" dirty="0" err="1">
                <a:solidFill>
                  <a:srgbClr val="2B2D42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Moteur</a:t>
            </a:r>
            <a:r>
              <a:rPr lang="en-US" sz="3152" i="1" u="none" strike="noStrike" dirty="0">
                <a:solidFill>
                  <a:srgbClr val="2B2D42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 </a:t>
            </a:r>
            <a:r>
              <a:rPr lang="en-US" sz="3152" i="1" u="none" strike="noStrike" dirty="0" err="1">
                <a:solidFill>
                  <a:srgbClr val="2B2D42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Socratique</a:t>
            </a:r>
            <a:r>
              <a:rPr lang="en-US" sz="3152" i="1" u="none" strike="noStrike" dirty="0">
                <a:solidFill>
                  <a:srgbClr val="2B2D42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 (Prompt Design)  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39054C3-D3D3-418C-A3FD-7BE338128ABA}"/>
              </a:ext>
            </a:extLst>
          </p:cNvPr>
          <p:cNvSpPr/>
          <p:nvPr/>
        </p:nvSpPr>
        <p:spPr>
          <a:xfrm>
            <a:off x="6248400" y="3619500"/>
            <a:ext cx="4114800" cy="152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  <a:latin typeface="Poppins Bold" panose="020B0604020202020204" charset="0"/>
                <a:cs typeface="Poppins Bold" panose="020B0604020202020204" charset="0"/>
              </a:rPr>
              <a:t>Prompt Socratique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2D43794F-C890-4C3D-8FC0-163ACF337834}"/>
              </a:ext>
            </a:extLst>
          </p:cNvPr>
          <p:cNvCxnSpPr>
            <a:stCxn id="9" idx="3"/>
          </p:cNvCxnSpPr>
          <p:nvPr/>
        </p:nvCxnSpPr>
        <p:spPr>
          <a:xfrm flipH="1">
            <a:off x="4645197" y="4920315"/>
            <a:ext cx="2205802" cy="908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64927C3E-0002-4F5D-A94D-AA6FA8C3059D}"/>
              </a:ext>
            </a:extLst>
          </p:cNvPr>
          <p:cNvCxnSpPr>
            <a:stCxn id="9" idx="4"/>
          </p:cNvCxnSpPr>
          <p:nvPr/>
        </p:nvCxnSpPr>
        <p:spPr>
          <a:xfrm>
            <a:off x="8305800" y="5143500"/>
            <a:ext cx="0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BB913297-BBA3-4560-AE1E-717602BEAE18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9760601" y="4920315"/>
            <a:ext cx="2736199" cy="908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2E3B271B-1E84-41B6-A7A7-87F51504A30F}"/>
              </a:ext>
            </a:extLst>
          </p:cNvPr>
          <p:cNvSpPr/>
          <p:nvPr/>
        </p:nvSpPr>
        <p:spPr>
          <a:xfrm>
            <a:off x="3175402" y="5723319"/>
            <a:ext cx="1853798" cy="11429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Bloc 1 — Contexte et Rôle:</a:t>
            </a:r>
          </a:p>
          <a:p>
            <a:pPr algn="ctr"/>
            <a:endParaRPr lang="fr-FR" dirty="0">
              <a:solidFill>
                <a:schemeClr val="tx1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19CFD513-BC8A-47B0-BB5B-A28CB353D9F3}"/>
              </a:ext>
            </a:extLst>
          </p:cNvPr>
          <p:cNvSpPr/>
          <p:nvPr/>
        </p:nvSpPr>
        <p:spPr>
          <a:xfrm>
            <a:off x="7217917" y="5723320"/>
            <a:ext cx="2012076" cy="11429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 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Bloc 2- Calibration &amp; Adaptation</a:t>
            </a:r>
          </a:p>
          <a:p>
            <a:pPr algn="ctr"/>
            <a:endParaRPr lang="fr-FR" dirty="0">
              <a:solidFill>
                <a:schemeClr val="tx1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ctr"/>
            <a:endParaRPr lang="fr-FR" dirty="0">
              <a:solidFill>
                <a:schemeClr val="tx1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5B24EB69-0E73-4EE4-BB50-207720B64E3B}"/>
              </a:ext>
            </a:extLst>
          </p:cNvPr>
          <p:cNvSpPr/>
          <p:nvPr/>
        </p:nvSpPr>
        <p:spPr>
          <a:xfrm>
            <a:off x="11803764" y="5829300"/>
            <a:ext cx="1972611" cy="11429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 Bloc 3- 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RAG &amp;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Output</a:t>
            </a:r>
          </a:p>
          <a:p>
            <a:pPr algn="ctr"/>
            <a:endParaRPr lang="fr-FR" dirty="0"/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25F8188F-3CBE-4B3E-B5AE-DEEF530CD916}"/>
              </a:ext>
            </a:extLst>
          </p:cNvPr>
          <p:cNvCxnSpPr>
            <a:stCxn id="30" idx="2"/>
          </p:cNvCxnSpPr>
          <p:nvPr/>
        </p:nvCxnSpPr>
        <p:spPr>
          <a:xfrm flipH="1">
            <a:off x="2971800" y="6866318"/>
            <a:ext cx="1130501" cy="639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183D7A64-418B-4E38-9ED2-8BD587CD6CB0}"/>
              </a:ext>
            </a:extLst>
          </p:cNvPr>
          <p:cNvCxnSpPr>
            <a:stCxn id="30" idx="2"/>
          </p:cNvCxnSpPr>
          <p:nvPr/>
        </p:nvCxnSpPr>
        <p:spPr>
          <a:xfrm>
            <a:off x="4102301" y="6866318"/>
            <a:ext cx="1079299" cy="639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F8D98A2E-0D75-4524-938B-26CEE14D74D3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7098517" y="6866318"/>
            <a:ext cx="1125438" cy="791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F8B53BC6-93AB-4D42-9543-2C21CEEC035F}"/>
              </a:ext>
            </a:extLst>
          </p:cNvPr>
          <p:cNvCxnSpPr>
            <a:cxnSpLocks/>
          </p:cNvCxnSpPr>
          <p:nvPr/>
        </p:nvCxnSpPr>
        <p:spPr>
          <a:xfrm>
            <a:off x="8177816" y="6866318"/>
            <a:ext cx="1419095" cy="791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97AF7AC6-7F8D-4829-9865-762409C67D5E}"/>
              </a:ext>
            </a:extLst>
          </p:cNvPr>
          <p:cNvCxnSpPr>
            <a:stCxn id="35" idx="2"/>
          </p:cNvCxnSpPr>
          <p:nvPr/>
        </p:nvCxnSpPr>
        <p:spPr>
          <a:xfrm flipH="1">
            <a:off x="11658600" y="6972298"/>
            <a:ext cx="1131470" cy="685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2BC603A3-309F-4F4E-A0FB-2015AC92C6F2}"/>
              </a:ext>
            </a:extLst>
          </p:cNvPr>
          <p:cNvCxnSpPr>
            <a:stCxn id="35" idx="2"/>
          </p:cNvCxnSpPr>
          <p:nvPr/>
        </p:nvCxnSpPr>
        <p:spPr>
          <a:xfrm>
            <a:off x="12790070" y="6972298"/>
            <a:ext cx="1535530" cy="685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lipse 51">
            <a:extLst>
              <a:ext uri="{FF2B5EF4-FFF2-40B4-BE49-F238E27FC236}">
                <a16:creationId xmlns:a16="http://schemas.microsoft.com/office/drawing/2014/main" id="{8CA9A3E4-53C3-41AE-8D68-B8CBCC2EE70D}"/>
              </a:ext>
            </a:extLst>
          </p:cNvPr>
          <p:cNvSpPr/>
          <p:nvPr/>
        </p:nvSpPr>
        <p:spPr>
          <a:xfrm>
            <a:off x="1490982" y="7445671"/>
            <a:ext cx="2052596" cy="173642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Tu es un assistant socratique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8F820993-D800-4CE2-8647-CEF4B9387A52}"/>
              </a:ext>
            </a:extLst>
          </p:cNvPr>
          <p:cNvSpPr/>
          <p:nvPr/>
        </p:nvSpPr>
        <p:spPr>
          <a:xfrm>
            <a:off x="3974317" y="7451687"/>
            <a:ext cx="2045870" cy="192454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Ne jamais donner la réponse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D974E630-9CD6-4DAC-95A2-33B41DE83204}"/>
              </a:ext>
            </a:extLst>
          </p:cNvPr>
          <p:cNvSpPr/>
          <p:nvPr/>
        </p:nvSpPr>
        <p:spPr>
          <a:xfrm>
            <a:off x="6108482" y="7623970"/>
            <a:ext cx="2205802" cy="17522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Détéction</a:t>
            </a:r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 implicite via vocabulaire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C9EE52E8-E1AE-4BBF-9A9F-9A973A0DDB36}"/>
              </a:ext>
            </a:extLst>
          </p:cNvPr>
          <p:cNvSpPr/>
          <p:nvPr/>
        </p:nvSpPr>
        <p:spPr>
          <a:xfrm>
            <a:off x="8602340" y="7658099"/>
            <a:ext cx="2021446" cy="16181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Style selon le score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BC255D1E-7C1E-40A8-AE22-5079D114B575}"/>
              </a:ext>
            </a:extLst>
          </p:cNvPr>
          <p:cNvSpPr/>
          <p:nvPr/>
        </p:nvSpPr>
        <p:spPr>
          <a:xfrm>
            <a:off x="10744200" y="7658100"/>
            <a:ext cx="2205802" cy="17522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Input: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TOP 3 CHUNKS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&amp; Question étudiant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C019735A-2055-4561-AF57-916039849DB2}"/>
              </a:ext>
            </a:extLst>
          </p:cNvPr>
          <p:cNvSpPr/>
          <p:nvPr/>
        </p:nvSpPr>
        <p:spPr>
          <a:xfrm>
            <a:off x="13427840" y="7637991"/>
            <a:ext cx="2421760" cy="17723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Output: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Poppins" panose="020B0604020202020204" charset="0"/>
                <a:cs typeface="Poppins" panose="020B0604020202020204" charset="0"/>
              </a:rPr>
              <a:t>Question Socratique</a:t>
            </a:r>
          </a:p>
        </p:txBody>
      </p:sp>
    </p:spTree>
    <p:extLst>
      <p:ext uri="{BB962C8B-B14F-4D97-AF65-F5344CB8AC3E}">
        <p14:creationId xmlns:p14="http://schemas.microsoft.com/office/powerpoint/2010/main" val="2475400772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C94F7-6B0C-29FC-458C-2224171B3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0676576-5F1A-64DF-CDE4-2CF545F58334}"/>
              </a:ext>
            </a:extLst>
          </p:cNvPr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412D9E0-55A1-179C-A0AD-CA4B35E23171}"/>
              </a:ext>
            </a:extLst>
          </p:cNvPr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309C1B6-AD9B-8121-74E2-A6CE65AD939B}"/>
                </a:ext>
              </a:extLst>
            </p:cNvPr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4167B66-288B-4436-C915-C0ACB4138D8D}"/>
                </a:ext>
              </a:extLst>
            </p:cNvPr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2C4A372-1902-FCD9-782C-07049AC458DE}"/>
              </a:ext>
            </a:extLst>
          </p:cNvPr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E0EDA71-714F-8ED0-F73A-25894C067AFC}"/>
                </a:ext>
              </a:extLst>
            </p:cNvPr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5675D69-2F8D-C933-F76A-96843CDF3C58}"/>
                </a:ext>
              </a:extLst>
            </p:cNvPr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10D08B70-3A7D-B355-682E-F400492495BD}"/>
              </a:ext>
            </a:extLst>
          </p:cNvPr>
          <p:cNvSpPr txBox="1"/>
          <p:nvPr/>
        </p:nvSpPr>
        <p:spPr>
          <a:xfrm>
            <a:off x="965086" y="1833926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4.1. </a:t>
            </a:r>
            <a:r>
              <a:rPr lang="en-US" sz="3999" b="1" i="1" dirty="0" err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Déploiement</a:t>
            </a: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et Interface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4A3D08E-3805-EE7A-7B6D-9A54D65CC348}"/>
              </a:ext>
            </a:extLst>
          </p:cNvPr>
          <p:cNvSpPr txBox="1"/>
          <p:nvPr/>
        </p:nvSpPr>
        <p:spPr>
          <a:xfrm>
            <a:off x="6588296" y="511389"/>
            <a:ext cx="2991444" cy="336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870" dirty="0" err="1"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Analyse</a:t>
            </a:r>
            <a:r>
              <a:rPr lang="en-US" sz="1870" dirty="0"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 &amp; Conception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994813A-2CC3-EA93-38B6-2E7CFCCED4EC}"/>
              </a:ext>
            </a:extLst>
          </p:cNvPr>
          <p:cNvSpPr txBox="1"/>
          <p:nvPr/>
        </p:nvSpPr>
        <p:spPr>
          <a:xfrm>
            <a:off x="10457872" y="527899"/>
            <a:ext cx="3791527" cy="654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970" dirty="0" err="1">
                <a:solidFill>
                  <a:srgbClr val="7030A0"/>
                </a:solidFill>
                <a:latin typeface="Poppins Bold" panose="020B0604020202020204" charset="0"/>
                <a:ea typeface="Quicksand Bold"/>
                <a:cs typeface="Poppins Bold" panose="020B0604020202020204" charset="0"/>
                <a:sym typeface="Quicksand Bold"/>
              </a:rPr>
              <a:t>Déploiement</a:t>
            </a:r>
            <a:r>
              <a:rPr lang="en-US" sz="1970" dirty="0">
                <a:solidFill>
                  <a:srgbClr val="7030A0"/>
                </a:solidFill>
                <a:latin typeface="Poppins Bold" panose="020B0604020202020204" charset="0"/>
                <a:ea typeface="Quicksand Bold"/>
                <a:cs typeface="Poppins Bold" panose="020B0604020202020204" charset="0"/>
                <a:sym typeface="Quicksand Bold"/>
              </a:rPr>
              <a:t> &amp; Evaluation</a:t>
            </a:r>
          </a:p>
          <a:p>
            <a:pPr algn="ctr">
              <a:lnSpc>
                <a:spcPts val="2612"/>
              </a:lnSpc>
            </a:pPr>
            <a:endParaRPr lang="en-US" sz="1970" b="1" dirty="0">
              <a:solidFill>
                <a:srgbClr val="7030A0"/>
              </a:solidFill>
              <a:latin typeface="Poppins Bold" panose="020B0604020202020204" charset="0"/>
              <a:ea typeface="Poppins"/>
              <a:cs typeface="Poppins Bold" panose="020B0604020202020204" charset="0"/>
              <a:sym typeface="Poppins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F716015-96E6-6CEC-C7C1-8AA55D247E6B}"/>
              </a:ext>
            </a:extLst>
          </p:cNvPr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D93DB09-F43B-F8C7-247B-A1FB872943E7}"/>
              </a:ext>
            </a:extLst>
          </p:cNvPr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044E8E5-2859-23A6-B1CA-C67DEAE59081}"/>
              </a:ext>
            </a:extLst>
          </p:cNvPr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EC5CF13-6304-2320-D344-E9A53DBB40CE}"/>
              </a:ext>
            </a:extLst>
          </p:cNvPr>
          <p:cNvSpPr txBox="1"/>
          <p:nvPr/>
        </p:nvSpPr>
        <p:spPr>
          <a:xfrm>
            <a:off x="17283558" y="8623810"/>
            <a:ext cx="1002122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20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CEF8337-77AE-DD1A-DDE4-82AE07618C3F}"/>
              </a:ext>
            </a:extLst>
          </p:cNvPr>
          <p:cNvSpPr txBox="1"/>
          <p:nvPr/>
        </p:nvSpPr>
        <p:spPr>
          <a:xfrm>
            <a:off x="1784517" y="2621235"/>
            <a:ext cx="6091413" cy="53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1  </a:t>
            </a:r>
            <a:r>
              <a:rPr lang="en-US" sz="3152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: </a:t>
            </a:r>
            <a:r>
              <a:rPr lang="en-US" sz="3152" i="1" dirty="0" err="1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Authentification</a:t>
            </a:r>
            <a:r>
              <a:rPr lang="en-US" sz="3152" i="1" dirty="0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 JWT</a:t>
            </a:r>
            <a:endParaRPr lang="en-US" sz="3152" i="1" u="none" strike="noStrike" dirty="0">
              <a:solidFill>
                <a:srgbClr val="2B2D42"/>
              </a:solidFill>
              <a:latin typeface="Cormorant Garamond Italics" panose="020B0604020202020204" charset="0"/>
              <a:ea typeface="Cormorant Garamond Italics"/>
              <a:cs typeface="Cormorant Garamond Italics"/>
              <a:sym typeface="Cormorant Garamond Italics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64A8636-9188-F41C-7468-1F9A8930561C}"/>
              </a:ext>
            </a:extLst>
          </p:cNvPr>
          <p:cNvSpPr txBox="1"/>
          <p:nvPr/>
        </p:nvSpPr>
        <p:spPr>
          <a:xfrm>
            <a:off x="887325" y="4872071"/>
            <a:ext cx="6773779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3200" dirty="0">
                <a:latin typeface="Poppins Bold Italics"/>
                <a:cs typeface="Poppins Bold Italics"/>
              </a:rPr>
              <a:t>L’accès à l’application est sécurisé via JSON Web </a:t>
            </a:r>
            <a:r>
              <a:rPr lang="fr-FR" sz="3200" dirty="0" err="1">
                <a:latin typeface="Poppins Bold Italics"/>
                <a:cs typeface="Poppins Bold Italics"/>
              </a:rPr>
              <a:t>Tokens</a:t>
            </a:r>
            <a:r>
              <a:rPr lang="fr-FR" sz="3200" dirty="0">
                <a:latin typeface="Poppins Bold Italics"/>
                <a:cs typeface="Poppins Bold Italics"/>
              </a:rPr>
              <a:t> (JWT)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68CF73D-B624-952B-48FF-C06DD8F03467}"/>
              </a:ext>
            </a:extLst>
          </p:cNvPr>
          <p:cNvSpPr txBox="1"/>
          <p:nvPr/>
        </p:nvSpPr>
        <p:spPr>
          <a:xfrm>
            <a:off x="797096" y="5191369"/>
            <a:ext cx="9829800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fr-FR" dirty="0">
              <a:latin typeface="Poppins" panose="020B0604020202020204" charset="0"/>
              <a:cs typeface="Poppins" panose="020B0604020202020204" charset="0"/>
            </a:endParaRPr>
          </a:p>
          <a:p>
            <a:endParaRPr lang="fr-FR" sz="2400" dirty="0">
              <a:latin typeface="Poppins" panose="020B0604020202020204" charset="0"/>
              <a:cs typeface="Poppins" panose="020B0604020202020204" charset="0"/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C7438B62-E14B-1F99-CD92-2A1A006A3B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02" t="4185"/>
          <a:stretch>
            <a:fillRect/>
          </a:stretch>
        </p:blipFill>
        <p:spPr>
          <a:xfrm>
            <a:off x="11029231" y="2055500"/>
            <a:ext cx="6091412" cy="7202802"/>
          </a:xfrm>
          <a:prstGeom prst="rect">
            <a:avLst/>
          </a:prstGeom>
        </p:spPr>
      </p:pic>
      <p:sp>
        <p:nvSpPr>
          <p:cNvPr id="19" name="AutoShape 2" descr="Preuve d'authentification avec JWT">
            <a:extLst>
              <a:ext uri="{FF2B5EF4-FFF2-40B4-BE49-F238E27FC236}">
                <a16:creationId xmlns:a16="http://schemas.microsoft.com/office/drawing/2014/main" id="{66645792-CC62-4954-8911-D8F48CB6E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2A6F3DE8-58AE-499C-BC4E-8F05447997C8}"/>
              </a:ext>
            </a:extLst>
          </p:cNvPr>
          <p:cNvSpPr/>
          <p:nvPr/>
        </p:nvSpPr>
        <p:spPr>
          <a:xfrm>
            <a:off x="7899993" y="5095548"/>
            <a:ext cx="2750966" cy="1095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178104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4.2. </a:t>
            </a:r>
            <a:r>
              <a:rPr lang="en-US" sz="3999" b="1" i="1" dirty="0" err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Déploiement</a:t>
            </a: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et Interface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88296" y="511389"/>
            <a:ext cx="299144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 dirty="0" err="1"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Analyse</a:t>
            </a:r>
            <a:r>
              <a:rPr lang="en-US" sz="1965" dirty="0"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 &amp; Conception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62919" y="467694"/>
            <a:ext cx="3715327" cy="445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970" dirty="0" err="1">
                <a:solidFill>
                  <a:srgbClr val="7030A0"/>
                </a:solidFill>
                <a:latin typeface="Poppins Bold" panose="020B0604020202020204" charset="0"/>
                <a:ea typeface="Quicksand Bold"/>
                <a:cs typeface="Poppins Bold" panose="020B0604020202020204" charset="0"/>
                <a:sym typeface="Quicksand Bold"/>
              </a:rPr>
              <a:t>Déploiement</a:t>
            </a:r>
            <a:r>
              <a:rPr lang="en-US" sz="1970" dirty="0">
                <a:solidFill>
                  <a:srgbClr val="7030A0"/>
                </a:solidFill>
                <a:latin typeface="Poppins Bold" panose="020B0604020202020204" charset="0"/>
                <a:ea typeface="Quicksand Bold"/>
                <a:cs typeface="Poppins Bold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077200" y="8623810"/>
            <a:ext cx="1210800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21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84517" y="2621235"/>
            <a:ext cx="6091413" cy="53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2 :</a:t>
            </a:r>
            <a:r>
              <a:rPr lang="en-US" sz="3152" i="1" dirty="0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Base de données </a:t>
            </a:r>
            <a:r>
              <a:rPr lang="en-US" sz="3152" i="1" dirty="0" err="1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étudiants</a:t>
            </a:r>
            <a:endParaRPr lang="en-US" sz="3152" i="1" u="none" strike="noStrike" dirty="0">
              <a:solidFill>
                <a:srgbClr val="2B2D42"/>
              </a:solidFill>
              <a:latin typeface="Cormorant Garamond Italics" panose="020B0604020202020204" charset="0"/>
              <a:ea typeface="Cormorant Garamond Italics"/>
              <a:cs typeface="Cormorant Garamond Italics"/>
              <a:sym typeface="Cormorant Garamond Italics"/>
            </a:endParaRP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2D7C16BB-7604-ED07-FDD3-67D3EBD3D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613" y="3258035"/>
            <a:ext cx="13744728" cy="576870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5FD7C1-F948-453E-DD06-DBD687A16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FBD3D57-BF9E-C87C-A8BE-F9B2492E85C9}"/>
              </a:ext>
            </a:extLst>
          </p:cNvPr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9BCC60F-B554-E330-11B6-17D231DE5831}"/>
              </a:ext>
            </a:extLst>
          </p:cNvPr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3EC02F7-E7FD-712A-F726-206A2BFF08E0}"/>
                </a:ext>
              </a:extLst>
            </p:cNvPr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E569220-B1F2-149B-A24B-2EF5998A3603}"/>
                </a:ext>
              </a:extLst>
            </p:cNvPr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BD1B9EE-83E5-2487-0E1D-0230F6780C4F}"/>
              </a:ext>
            </a:extLst>
          </p:cNvPr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2C34C3A-3ADD-2942-D000-798BA88557DE}"/>
                </a:ext>
              </a:extLst>
            </p:cNvPr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500A3B5-3EA5-321A-41D6-F3A32DE19698}"/>
                </a:ext>
              </a:extLst>
            </p:cNvPr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B7DD0BE8-5B3C-67DF-D2D2-5A044B3BC22F}"/>
              </a:ext>
            </a:extLst>
          </p:cNvPr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4.3. </a:t>
            </a:r>
            <a:r>
              <a:rPr lang="en-US" sz="3999" b="1" i="1" dirty="0" err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Déploiement</a:t>
            </a: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et Interface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799E1B9-B4EF-3199-B992-69E7ACCE2EE6}"/>
              </a:ext>
            </a:extLst>
          </p:cNvPr>
          <p:cNvSpPr txBox="1"/>
          <p:nvPr/>
        </p:nvSpPr>
        <p:spPr>
          <a:xfrm>
            <a:off x="6588296" y="511389"/>
            <a:ext cx="2991444" cy="336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870" dirty="0" err="1"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Analyse</a:t>
            </a:r>
            <a:r>
              <a:rPr lang="en-US" sz="1870" dirty="0"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 &amp; Conception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7F00865-874F-AA73-689A-61FCAE815B84}"/>
              </a:ext>
            </a:extLst>
          </p:cNvPr>
          <p:cNvSpPr txBox="1"/>
          <p:nvPr/>
        </p:nvSpPr>
        <p:spPr>
          <a:xfrm>
            <a:off x="10260377" y="418292"/>
            <a:ext cx="3715327" cy="445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970" dirty="0" err="1">
                <a:solidFill>
                  <a:srgbClr val="7030A0"/>
                </a:solidFill>
                <a:latin typeface="Poppins Bold" panose="020B0604020202020204" charset="0"/>
                <a:ea typeface="Quicksand Bold"/>
                <a:cs typeface="Poppins Bold" panose="020B0604020202020204" charset="0"/>
                <a:sym typeface="Quicksand Bold"/>
              </a:rPr>
              <a:t>Déploiement</a:t>
            </a:r>
            <a:r>
              <a:rPr lang="en-US" sz="1970" dirty="0">
                <a:solidFill>
                  <a:srgbClr val="7030A0"/>
                </a:solidFill>
                <a:latin typeface="Poppins Bold" panose="020B0604020202020204" charset="0"/>
                <a:ea typeface="Quicksand Bold"/>
                <a:cs typeface="Poppins Bold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D81DA98-0374-E57D-E08E-018DA561814D}"/>
              </a:ext>
            </a:extLst>
          </p:cNvPr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621D4A1-9BAE-F28A-C172-E9BF84BF2FE7}"/>
              </a:ext>
            </a:extLst>
          </p:cNvPr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C70188D-40E2-E4C5-F533-A296C823E3DC}"/>
              </a:ext>
            </a:extLst>
          </p:cNvPr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0697749-1459-30D0-9410-DBE59B80071B}"/>
              </a:ext>
            </a:extLst>
          </p:cNvPr>
          <p:cNvSpPr txBox="1"/>
          <p:nvPr/>
        </p:nvSpPr>
        <p:spPr>
          <a:xfrm>
            <a:off x="17077200" y="8623810"/>
            <a:ext cx="1210800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22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CB1CF8C-39F1-11BE-6F23-55C448DD1AA9}"/>
              </a:ext>
            </a:extLst>
          </p:cNvPr>
          <p:cNvSpPr txBox="1"/>
          <p:nvPr/>
        </p:nvSpPr>
        <p:spPr>
          <a:xfrm>
            <a:off x="1784517" y="2621235"/>
            <a:ext cx="6091413" cy="53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3 :</a:t>
            </a:r>
            <a:r>
              <a:rPr lang="en-US" sz="3152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  <a:r>
              <a:rPr lang="en-US" sz="3152" i="1" dirty="0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API </a:t>
            </a:r>
            <a:r>
              <a:rPr lang="en-US" sz="3152" i="1" dirty="0" err="1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FastAPI</a:t>
            </a:r>
            <a:endParaRPr lang="en-US" sz="3152" i="1" u="none" strike="noStrike" dirty="0">
              <a:solidFill>
                <a:srgbClr val="2B2D42"/>
              </a:solidFill>
              <a:latin typeface="Cormorant Garamond Italics" panose="020B0604020202020204" charset="0"/>
              <a:ea typeface="Cormorant Garamond Italics"/>
              <a:cs typeface="Cormorant Garamond Italics"/>
              <a:sym typeface="Cormorant Garamond Italics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6EFFE3A-862C-5E65-4EF7-24B3A6D42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930" y="2156018"/>
            <a:ext cx="8552620" cy="7299220"/>
          </a:xfrm>
          <a:prstGeom prst="rect">
            <a:avLst/>
          </a:prstGeom>
        </p:spPr>
      </p:pic>
      <p:pic>
        <p:nvPicPr>
          <p:cNvPr id="1031" name="Picture 7" descr="FastAPI · GitHub">
            <a:extLst>
              <a:ext uri="{FF2B5EF4-FFF2-40B4-BE49-F238E27FC236}">
                <a16:creationId xmlns:a16="http://schemas.microsoft.com/office/drawing/2014/main" id="{0064004D-6B1D-43A8-914A-3787B561A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457700"/>
            <a:ext cx="33528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671669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85D07-4985-D795-2117-50C95BB5C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C1A7565-AEAA-EA31-BD7F-9A233E502CAF}"/>
              </a:ext>
            </a:extLst>
          </p:cNvPr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1E88311-92CB-CA1B-BCDD-B19DDF689CC8}"/>
              </a:ext>
            </a:extLst>
          </p:cNvPr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6C24DD2-FA55-91D5-EC18-DF7587C31C57}"/>
                </a:ext>
              </a:extLst>
            </p:cNvPr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68CE1C4-FEF4-A0F7-E018-00DEAB5A9DA0}"/>
                </a:ext>
              </a:extLst>
            </p:cNvPr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FA3BB7D-D9DB-78BB-303A-F3FA78E13818}"/>
              </a:ext>
            </a:extLst>
          </p:cNvPr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F7D8DEF-4279-ACDB-22F2-43E4151F5EE7}"/>
                </a:ext>
              </a:extLst>
            </p:cNvPr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2CE708A-93A5-70DA-71EF-F55579B13C3E}"/>
                </a:ext>
              </a:extLst>
            </p:cNvPr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4DD378DC-B2E6-3E3A-12D7-C6FB01FCF72E}"/>
              </a:ext>
            </a:extLst>
          </p:cNvPr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4.5. </a:t>
            </a:r>
            <a:r>
              <a:rPr lang="en-US" sz="3999" b="1" i="1" dirty="0" err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Déploiement</a:t>
            </a: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et Interface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EE1F379-529D-D10A-E9AC-AF886C760105}"/>
              </a:ext>
            </a:extLst>
          </p:cNvPr>
          <p:cNvSpPr txBox="1"/>
          <p:nvPr/>
        </p:nvSpPr>
        <p:spPr>
          <a:xfrm>
            <a:off x="6588296" y="511389"/>
            <a:ext cx="2991444" cy="336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870" dirty="0" err="1"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Analyse</a:t>
            </a:r>
            <a:r>
              <a:rPr lang="en-US" sz="1870" dirty="0"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 &amp; Conception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A4822E9-AA83-4E37-449E-4A7980E73FB9}"/>
              </a:ext>
            </a:extLst>
          </p:cNvPr>
          <p:cNvSpPr txBox="1"/>
          <p:nvPr/>
        </p:nvSpPr>
        <p:spPr>
          <a:xfrm>
            <a:off x="10222277" y="511389"/>
            <a:ext cx="3791527" cy="445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970" dirty="0" err="1">
                <a:solidFill>
                  <a:srgbClr val="7030A0"/>
                </a:solidFill>
                <a:latin typeface="Poppins Bold" panose="020B0604020202020204" charset="0"/>
                <a:ea typeface="Quicksand Bold"/>
                <a:cs typeface="Poppins Bold" panose="020B0604020202020204" charset="0"/>
                <a:sym typeface="Quicksand Bold"/>
              </a:rPr>
              <a:t>Déploiement</a:t>
            </a:r>
            <a:r>
              <a:rPr lang="en-US" sz="1970" dirty="0">
                <a:solidFill>
                  <a:srgbClr val="7030A0"/>
                </a:solidFill>
                <a:latin typeface="Poppins Bold" panose="020B0604020202020204" charset="0"/>
                <a:ea typeface="Quicksand Bold"/>
                <a:cs typeface="Poppins Bold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E00CAD9-1387-6E7F-59D0-C5A21656F72E}"/>
              </a:ext>
            </a:extLst>
          </p:cNvPr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29F15C4-0B16-BF32-233B-4B91F959D852}"/>
              </a:ext>
            </a:extLst>
          </p:cNvPr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B4F7951-4626-0212-3BA2-40F505CBFDDE}"/>
              </a:ext>
            </a:extLst>
          </p:cNvPr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C4A2928-C1BE-EB2B-7EC8-C99300C49DFE}"/>
              </a:ext>
            </a:extLst>
          </p:cNvPr>
          <p:cNvSpPr txBox="1"/>
          <p:nvPr/>
        </p:nvSpPr>
        <p:spPr>
          <a:xfrm>
            <a:off x="17077200" y="8623810"/>
            <a:ext cx="1210800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23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AE4FF03-B2A2-12B8-B683-FB0C9018D842}"/>
              </a:ext>
            </a:extLst>
          </p:cNvPr>
          <p:cNvSpPr txBox="1"/>
          <p:nvPr/>
        </p:nvSpPr>
        <p:spPr>
          <a:xfrm>
            <a:off x="1345791" y="2647639"/>
            <a:ext cx="7798210" cy="538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</a:t>
            </a:r>
            <a:r>
              <a:rPr lang="en-US" sz="3152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5 </a:t>
            </a: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:</a:t>
            </a:r>
            <a:r>
              <a:rPr lang="en-US" sz="3152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  <a:r>
              <a:rPr lang="fr-FR" sz="3152" i="1" dirty="0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Test de la V1 avec étudiante en cybersécurité</a:t>
            </a:r>
            <a:endParaRPr lang="en-US" sz="3152" i="1" u="none" strike="noStrike" dirty="0">
              <a:solidFill>
                <a:srgbClr val="2B2D42"/>
              </a:solidFill>
              <a:latin typeface="Cormorant Garamond Italics" panose="020B0604020202020204" charset="0"/>
              <a:ea typeface="Cormorant Garamond Italics"/>
              <a:cs typeface="Cormorant Garamond Italics"/>
              <a:sym typeface="Cormorant Garamond Italics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051B858-D101-3183-D6F6-B1E46FF9C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87" y="3347195"/>
            <a:ext cx="10555235" cy="4734685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0DC3E381-79B2-BFA8-27A5-7FE3E7CBF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96" y="5570629"/>
            <a:ext cx="10488904" cy="467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89833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5BC3A-ECC1-799E-4B40-5722E4C9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7427AC8-CB4C-789C-3DAD-5CA3456D16B4}"/>
              </a:ext>
            </a:extLst>
          </p:cNvPr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BA4D97B-2181-BCE7-312F-120DFDE9AFF0}"/>
              </a:ext>
            </a:extLst>
          </p:cNvPr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B89FC1C-4863-A1B1-F2CA-93FDD1804DE3}"/>
                </a:ext>
              </a:extLst>
            </p:cNvPr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5C582AF-A5AB-11AB-32E8-B7DA10A96DDC}"/>
                </a:ext>
              </a:extLst>
            </p:cNvPr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A39D09E-7DA0-DCD9-36CB-82A98E26D7CA}"/>
              </a:ext>
            </a:extLst>
          </p:cNvPr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82B8311-D29A-F4E2-6B3A-F94F4393615D}"/>
                </a:ext>
              </a:extLst>
            </p:cNvPr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85504FA-3001-EEF1-82E5-89D63BE3E017}"/>
                </a:ext>
              </a:extLst>
            </p:cNvPr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1731C2F6-40A9-2B90-8AF5-6597AA88E128}"/>
              </a:ext>
            </a:extLst>
          </p:cNvPr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5.1. </a:t>
            </a:r>
            <a:r>
              <a:rPr lang="en-US" sz="3999" b="1" i="1" dirty="0" err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Évaluation</a:t>
            </a:r>
            <a:endParaRPr lang="en-US" sz="3999" b="1" i="1" dirty="0">
              <a:solidFill>
                <a:srgbClr val="2B2D42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2A6E976-9BBA-2421-EE53-F3085A639973}"/>
              </a:ext>
            </a:extLst>
          </p:cNvPr>
          <p:cNvSpPr txBox="1"/>
          <p:nvPr/>
        </p:nvSpPr>
        <p:spPr>
          <a:xfrm>
            <a:off x="6588296" y="511389"/>
            <a:ext cx="2991444" cy="336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870" dirty="0" err="1"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Analyse</a:t>
            </a:r>
            <a:r>
              <a:rPr lang="en-US" sz="1870" dirty="0"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 &amp; Conception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AF445E3-7D77-7754-8641-B4EAD3AE801E}"/>
              </a:ext>
            </a:extLst>
          </p:cNvPr>
          <p:cNvSpPr txBox="1"/>
          <p:nvPr/>
        </p:nvSpPr>
        <p:spPr>
          <a:xfrm>
            <a:off x="10457872" y="527899"/>
            <a:ext cx="3562927" cy="445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970" dirty="0" err="1">
                <a:solidFill>
                  <a:srgbClr val="7030A0"/>
                </a:solidFill>
                <a:latin typeface="Poppins Bold" panose="020B0604020202020204" charset="0"/>
                <a:ea typeface="Quicksand Bold"/>
                <a:cs typeface="Poppins Bold" panose="020B0604020202020204" charset="0"/>
                <a:sym typeface="Quicksand Bold"/>
              </a:rPr>
              <a:t>Déploiement</a:t>
            </a:r>
            <a:r>
              <a:rPr lang="en-US" sz="1970" dirty="0">
                <a:solidFill>
                  <a:srgbClr val="7030A0"/>
                </a:solidFill>
                <a:latin typeface="Poppins Bold" panose="020B0604020202020204" charset="0"/>
                <a:ea typeface="Quicksand Bold"/>
                <a:cs typeface="Poppins Bold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89C0889-8F4B-D5AA-F15E-1A8C741B1769}"/>
              </a:ext>
            </a:extLst>
          </p:cNvPr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26CAF60-DE94-3646-B6CB-3AE9645F47BF}"/>
              </a:ext>
            </a:extLst>
          </p:cNvPr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C37948A-2E58-168F-830B-3B2A8205B330}"/>
              </a:ext>
            </a:extLst>
          </p:cNvPr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0959BAC-7627-EFAC-1DD6-9845D57E270C}"/>
              </a:ext>
            </a:extLst>
          </p:cNvPr>
          <p:cNvSpPr txBox="1"/>
          <p:nvPr/>
        </p:nvSpPr>
        <p:spPr>
          <a:xfrm>
            <a:off x="17077200" y="8623810"/>
            <a:ext cx="1210800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24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43A062B-AEAF-D5DF-6B4F-BF1B8E88CBB6}"/>
              </a:ext>
            </a:extLst>
          </p:cNvPr>
          <p:cNvSpPr txBox="1"/>
          <p:nvPr/>
        </p:nvSpPr>
        <p:spPr>
          <a:xfrm>
            <a:off x="1345791" y="2647639"/>
            <a:ext cx="7798210" cy="538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1</a:t>
            </a:r>
            <a:r>
              <a:rPr lang="en-US" sz="3152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:</a:t>
            </a:r>
            <a:r>
              <a:rPr lang="en-US" sz="3152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  <a:r>
              <a:rPr lang="fr-FR" sz="3152" i="1" dirty="0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Évaluation du pipeline RAG</a:t>
            </a:r>
            <a:endParaRPr lang="en-US" sz="3152" i="1" u="none" strike="noStrike" dirty="0">
              <a:solidFill>
                <a:srgbClr val="2B2D42"/>
              </a:solidFill>
              <a:latin typeface="Cormorant Garamond Italics" panose="020B0604020202020204" charset="0"/>
              <a:ea typeface="Cormorant Garamond Italics"/>
              <a:cs typeface="Cormorant Garamond Italics"/>
              <a:sym typeface="Cormorant Garamond Italics"/>
            </a:endParaRPr>
          </a:p>
        </p:txBody>
      </p:sp>
      <p:graphicFrame>
        <p:nvGraphicFramePr>
          <p:cNvPr id="23" name="Tableau 22">
            <a:extLst>
              <a:ext uri="{FF2B5EF4-FFF2-40B4-BE49-F238E27FC236}">
                <a16:creationId xmlns:a16="http://schemas.microsoft.com/office/drawing/2014/main" id="{CEC1E51F-1AC6-9CD8-EAA3-BCAAAC50E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646985"/>
              </p:ext>
            </p:extLst>
          </p:nvPr>
        </p:nvGraphicFramePr>
        <p:xfrm>
          <a:off x="1336826" y="3924300"/>
          <a:ext cx="15379845" cy="359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6615">
                  <a:extLst>
                    <a:ext uri="{9D8B030D-6E8A-4147-A177-3AD203B41FA5}">
                      <a16:colId xmlns:a16="http://schemas.microsoft.com/office/drawing/2014/main" val="620976706"/>
                    </a:ext>
                  </a:extLst>
                </a:gridCol>
                <a:gridCol w="3823559">
                  <a:extLst>
                    <a:ext uri="{9D8B030D-6E8A-4147-A177-3AD203B41FA5}">
                      <a16:colId xmlns:a16="http://schemas.microsoft.com/office/drawing/2014/main" val="670201900"/>
                    </a:ext>
                  </a:extLst>
                </a:gridCol>
                <a:gridCol w="6429671">
                  <a:extLst>
                    <a:ext uri="{9D8B030D-6E8A-4147-A177-3AD203B41FA5}">
                      <a16:colId xmlns:a16="http://schemas.microsoft.com/office/drawing/2014/main" val="2744558894"/>
                    </a:ext>
                  </a:extLst>
                </a:gridCol>
              </a:tblGrid>
              <a:tr h="688728">
                <a:tc>
                  <a:txBody>
                    <a:bodyPr/>
                    <a:lstStyle/>
                    <a:p>
                      <a:pPr algn="ctr"/>
                      <a:r>
                        <a:rPr lang="fr-FR" sz="4000" cap="small" baseline="0" dirty="0"/>
                        <a:t>Métrique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cap="small" baseline="0" dirty="0"/>
                        <a:t>Score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cap="small" baseline="0" dirty="0"/>
                        <a:t>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254086"/>
                  </a:ext>
                </a:extLst>
              </a:tr>
              <a:tr h="964220">
                <a:tc>
                  <a:txBody>
                    <a:bodyPr/>
                    <a:lstStyle/>
                    <a:p>
                      <a:pPr algn="ctr"/>
                      <a:r>
                        <a:rPr lang="fr-FR" sz="3200" b="1" cap="small" baseline="0" dirty="0" err="1">
                          <a:latin typeface="Poppins" panose="020B0604020202020204" charset="0"/>
                          <a:cs typeface="Poppins" panose="020B0604020202020204" charset="0"/>
                        </a:rPr>
                        <a:t>Context</a:t>
                      </a:r>
                      <a:r>
                        <a:rPr lang="fr-FR" sz="3200" b="1" cap="small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 </a:t>
                      </a:r>
                      <a:r>
                        <a:rPr lang="fr-FR" sz="3200" b="1" cap="small" baseline="0" dirty="0" err="1">
                          <a:latin typeface="Poppins" panose="020B0604020202020204" charset="0"/>
                          <a:cs typeface="Poppins" panose="020B0604020202020204" charset="0"/>
                        </a:rPr>
                        <a:t>Precision</a:t>
                      </a:r>
                      <a:r>
                        <a:rPr lang="fr-FR" sz="3200" b="1" cap="small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0,96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Poppins" panose="020B0604020202020204" charset="0"/>
                          <a:cs typeface="Poppins" panose="020B0604020202020204" charset="0"/>
                        </a:rPr>
                        <a:t>Les </a:t>
                      </a:r>
                      <a:r>
                        <a:rPr lang="fr-FR" sz="2800" dirty="0" err="1">
                          <a:latin typeface="Poppins" panose="020B0604020202020204" charset="0"/>
                          <a:cs typeface="Poppins" panose="020B0604020202020204" charset="0"/>
                        </a:rPr>
                        <a:t>chunks</a:t>
                      </a:r>
                      <a:r>
                        <a:rPr lang="fr-FR" sz="2800" dirty="0">
                          <a:latin typeface="Poppins" panose="020B0604020202020204" charset="0"/>
                          <a:cs typeface="Poppins" panose="020B0604020202020204" charset="0"/>
                        </a:rPr>
                        <a:t> récupérés sont pertinents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043892"/>
                  </a:ext>
                </a:extLst>
              </a:tr>
              <a:tr h="964220">
                <a:tc>
                  <a:txBody>
                    <a:bodyPr/>
                    <a:lstStyle/>
                    <a:p>
                      <a:pPr algn="ctr"/>
                      <a:r>
                        <a:rPr lang="fr-FR" sz="3200" b="1" cap="small" baseline="0" dirty="0" err="1">
                          <a:latin typeface="Poppins" panose="020B0604020202020204" charset="0"/>
                          <a:cs typeface="Poppins" panose="020B0604020202020204" charset="0"/>
                        </a:rPr>
                        <a:t>Context</a:t>
                      </a:r>
                      <a:r>
                        <a:rPr lang="fr-FR" sz="3200" b="1" cap="small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 </a:t>
                      </a:r>
                      <a:r>
                        <a:rPr lang="fr-FR" sz="3200" b="1" cap="small" baseline="0" dirty="0" err="1">
                          <a:latin typeface="Poppins" panose="020B0604020202020204" charset="0"/>
                          <a:cs typeface="Poppins" panose="020B0604020202020204" charset="0"/>
                        </a:rPr>
                        <a:t>Recall</a:t>
                      </a:r>
                      <a:r>
                        <a:rPr lang="fr-FR" sz="3200" b="1" cap="small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0,76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Poppins" panose="020B0604020202020204" charset="0"/>
                          <a:cs typeface="Poppins" panose="020B0604020202020204" charset="0"/>
                        </a:rPr>
                        <a:t>Les </a:t>
                      </a:r>
                      <a:r>
                        <a:rPr lang="fr-FR" sz="2800" dirty="0" err="1">
                          <a:latin typeface="Poppins" panose="020B0604020202020204" charset="0"/>
                          <a:cs typeface="Poppins" panose="020B0604020202020204" charset="0"/>
                        </a:rPr>
                        <a:t>chunks</a:t>
                      </a:r>
                      <a:r>
                        <a:rPr lang="fr-FR" sz="2800" dirty="0">
                          <a:latin typeface="Poppins" panose="020B0604020202020204" charset="0"/>
                          <a:cs typeface="Poppins" panose="020B0604020202020204" charset="0"/>
                        </a:rPr>
                        <a:t> nécessaires sont bien retrouvés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101944"/>
                  </a:ext>
                </a:extLst>
              </a:tr>
              <a:tr h="964220">
                <a:tc>
                  <a:txBody>
                    <a:bodyPr/>
                    <a:lstStyle/>
                    <a:p>
                      <a:pPr algn="ctr"/>
                      <a:r>
                        <a:rPr lang="fr-FR" sz="3200" b="1" cap="small" baseline="0" dirty="0" err="1">
                          <a:latin typeface="Poppins" panose="020B0604020202020204" charset="0"/>
                          <a:cs typeface="Poppins" panose="020B0604020202020204" charset="0"/>
                        </a:rPr>
                        <a:t>Answer</a:t>
                      </a:r>
                      <a:r>
                        <a:rPr lang="fr-FR" sz="3200" b="1" cap="small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 </a:t>
                      </a:r>
                      <a:r>
                        <a:rPr lang="fr-FR" sz="3200" b="1" cap="small" baseline="0" dirty="0" err="1">
                          <a:latin typeface="Poppins" panose="020B0604020202020204" charset="0"/>
                          <a:cs typeface="Poppins" panose="020B0604020202020204" charset="0"/>
                        </a:rPr>
                        <a:t>Relevancy</a:t>
                      </a:r>
                      <a:r>
                        <a:rPr lang="fr-FR" sz="3200" b="1" cap="small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0,79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Poppins" panose="020B0604020202020204" charset="0"/>
                          <a:cs typeface="Poppins" panose="020B0604020202020204" charset="0"/>
                        </a:rPr>
                        <a:t>Les questions répondent bien à la demande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530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631631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DD00C-BF8A-924A-985C-F0D4445C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B058A79-C52C-587D-3A8A-62473F78BFDC}"/>
              </a:ext>
            </a:extLst>
          </p:cNvPr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18E724B-5A67-2F0F-6F47-372CDB77E4A1}"/>
              </a:ext>
            </a:extLst>
          </p:cNvPr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F63C2EC-2F1F-3AB9-A68F-7BC841B6A6D1}"/>
                </a:ext>
              </a:extLst>
            </p:cNvPr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C492FF7-0F23-861B-6303-A22E93959A0A}"/>
                </a:ext>
              </a:extLst>
            </p:cNvPr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A5E791D-2D3C-565E-F2E3-1BC4BDD6EFDB}"/>
              </a:ext>
            </a:extLst>
          </p:cNvPr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C42B6C0-73AB-BF1C-4A36-DF60187C1A2A}"/>
                </a:ext>
              </a:extLst>
            </p:cNvPr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2A4D2C0-AC57-867B-338F-D347D34E1D64}"/>
                </a:ext>
              </a:extLst>
            </p:cNvPr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C97626B4-99C2-FAF0-FD99-550425CC0AE2}"/>
              </a:ext>
            </a:extLst>
          </p:cNvPr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5.2. </a:t>
            </a:r>
            <a:r>
              <a:rPr lang="en-US" sz="3999" b="1" i="1" dirty="0" err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Évaluation</a:t>
            </a:r>
            <a:endParaRPr lang="en-US" sz="3999" b="1" i="1" dirty="0">
              <a:solidFill>
                <a:srgbClr val="2B2D42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ECAA4D2-BE4F-58FD-6058-7744B953C641}"/>
              </a:ext>
            </a:extLst>
          </p:cNvPr>
          <p:cNvSpPr txBox="1"/>
          <p:nvPr/>
        </p:nvSpPr>
        <p:spPr>
          <a:xfrm>
            <a:off x="6588296" y="511389"/>
            <a:ext cx="2991444" cy="336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870" dirty="0" err="1"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Analyse</a:t>
            </a:r>
            <a:r>
              <a:rPr lang="en-US" sz="1870" dirty="0"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 &amp; Conception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721C7C2-D857-1B3E-C436-06EB7325683A}"/>
              </a:ext>
            </a:extLst>
          </p:cNvPr>
          <p:cNvSpPr txBox="1"/>
          <p:nvPr/>
        </p:nvSpPr>
        <p:spPr>
          <a:xfrm>
            <a:off x="10298477" y="475949"/>
            <a:ext cx="3639127" cy="445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970" dirty="0" err="1">
                <a:solidFill>
                  <a:srgbClr val="7030A0"/>
                </a:solidFill>
                <a:latin typeface="Poppins Bold" panose="020B0604020202020204" charset="0"/>
                <a:ea typeface="Quicksand Bold"/>
                <a:cs typeface="Poppins Bold" panose="020B0604020202020204" charset="0"/>
                <a:sym typeface="Quicksand Bold"/>
              </a:rPr>
              <a:t>Déploiement</a:t>
            </a:r>
            <a:r>
              <a:rPr lang="en-US" sz="1970" dirty="0">
                <a:solidFill>
                  <a:srgbClr val="7030A0"/>
                </a:solidFill>
                <a:latin typeface="Poppins Bold" panose="020B0604020202020204" charset="0"/>
                <a:ea typeface="Quicksand Bold"/>
                <a:cs typeface="Poppins Bold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A517EAA-DBDD-4477-993D-51EC24D62FE1}"/>
              </a:ext>
            </a:extLst>
          </p:cNvPr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B3BE7E4-35F5-4822-1F7C-04F56842E540}"/>
              </a:ext>
            </a:extLst>
          </p:cNvPr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76C4540-CFE5-CE2D-35BD-FB84BAA26152}"/>
              </a:ext>
            </a:extLst>
          </p:cNvPr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632AA52-E735-5DB8-7AC1-DA4187BAE7B1}"/>
              </a:ext>
            </a:extLst>
          </p:cNvPr>
          <p:cNvSpPr txBox="1"/>
          <p:nvPr/>
        </p:nvSpPr>
        <p:spPr>
          <a:xfrm>
            <a:off x="17077200" y="8623810"/>
            <a:ext cx="1210800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25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94A86C5-95F9-0795-B324-AF9AAF821452}"/>
              </a:ext>
            </a:extLst>
          </p:cNvPr>
          <p:cNvSpPr txBox="1"/>
          <p:nvPr/>
        </p:nvSpPr>
        <p:spPr>
          <a:xfrm>
            <a:off x="1345791" y="2647639"/>
            <a:ext cx="7798210" cy="538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</a:t>
            </a:r>
            <a:r>
              <a:rPr lang="en-US" sz="3152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2 </a:t>
            </a: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:</a:t>
            </a:r>
            <a:r>
              <a:rPr lang="en-US" sz="3152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  <a:r>
              <a:rPr lang="fr-FR" sz="3152" i="1" dirty="0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Évaluation du pipeline RAG</a:t>
            </a:r>
            <a:endParaRPr lang="en-US" sz="3152" i="1" u="none" strike="noStrike" dirty="0">
              <a:solidFill>
                <a:srgbClr val="2B2D42"/>
              </a:solidFill>
              <a:latin typeface="Cormorant Garamond Italics" panose="020B0604020202020204" charset="0"/>
              <a:ea typeface="Cormorant Garamond Italics"/>
              <a:cs typeface="Cormorant Garamond Italics"/>
              <a:sym typeface="Cormorant Garamond Italics"/>
            </a:endParaRPr>
          </a:p>
        </p:txBody>
      </p:sp>
      <p:graphicFrame>
        <p:nvGraphicFramePr>
          <p:cNvPr id="24" name="Tableau 23">
            <a:extLst>
              <a:ext uri="{FF2B5EF4-FFF2-40B4-BE49-F238E27FC236}">
                <a16:creationId xmlns:a16="http://schemas.microsoft.com/office/drawing/2014/main" id="{638DEF39-8432-DE3D-EC76-078F8A1D7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177376"/>
              </p:ext>
            </p:extLst>
          </p:nvPr>
        </p:nvGraphicFramePr>
        <p:xfrm>
          <a:off x="1336826" y="3924300"/>
          <a:ext cx="15379845" cy="4538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6615">
                  <a:extLst>
                    <a:ext uri="{9D8B030D-6E8A-4147-A177-3AD203B41FA5}">
                      <a16:colId xmlns:a16="http://schemas.microsoft.com/office/drawing/2014/main" val="620976706"/>
                    </a:ext>
                  </a:extLst>
                </a:gridCol>
                <a:gridCol w="4128359">
                  <a:extLst>
                    <a:ext uri="{9D8B030D-6E8A-4147-A177-3AD203B41FA5}">
                      <a16:colId xmlns:a16="http://schemas.microsoft.com/office/drawing/2014/main" val="670201900"/>
                    </a:ext>
                  </a:extLst>
                </a:gridCol>
                <a:gridCol w="6124871">
                  <a:extLst>
                    <a:ext uri="{9D8B030D-6E8A-4147-A177-3AD203B41FA5}">
                      <a16:colId xmlns:a16="http://schemas.microsoft.com/office/drawing/2014/main" val="2744558894"/>
                    </a:ext>
                  </a:extLst>
                </a:gridCol>
              </a:tblGrid>
              <a:tr h="688728">
                <a:tc>
                  <a:txBody>
                    <a:bodyPr/>
                    <a:lstStyle/>
                    <a:p>
                      <a:pPr algn="ctr"/>
                      <a:r>
                        <a:rPr lang="fr-FR" sz="4000" cap="small" baseline="0" dirty="0"/>
                        <a:t>Configuration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cap="small" baseline="0" dirty="0"/>
                        <a:t>Temps moyen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cap="small" baseline="0" dirty="0"/>
                        <a:t>composantes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254086"/>
                  </a:ext>
                </a:extLst>
              </a:tr>
              <a:tr h="964220">
                <a:tc>
                  <a:txBody>
                    <a:bodyPr/>
                    <a:lstStyle/>
                    <a:p>
                      <a:pPr algn="ctr"/>
                      <a:r>
                        <a:rPr lang="fr-FR" sz="3200" b="1" cap="small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Pipeline complet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8.56 secondes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Poppins" panose="020B0604020202020204" charset="0"/>
                          <a:cs typeface="Poppins" panose="020B0604020202020204" charset="0"/>
                        </a:rPr>
                        <a:t>Tout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04389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fr-FR" sz="3200" b="1" cap="small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Sans QE/MR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5.21 secondes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 err="1">
                          <a:latin typeface="Poppins" panose="020B0604020202020204" charset="0"/>
                          <a:cs typeface="Poppins" panose="020B0604020202020204" charset="0"/>
                        </a:rPr>
                        <a:t>Hybrid</a:t>
                      </a:r>
                      <a:r>
                        <a:rPr lang="fr-FR" sz="2800" dirty="0">
                          <a:latin typeface="Poppins" panose="020B0604020202020204" charset="0"/>
                          <a:cs typeface="Poppins" panose="020B0604020202020204" charset="0"/>
                        </a:rPr>
                        <a:t> Search + BGE Re-</a:t>
                      </a:r>
                    </a:p>
                    <a:p>
                      <a:r>
                        <a:rPr lang="fr-FR" sz="2800" dirty="0" err="1">
                          <a:latin typeface="Poppins" panose="020B0604020202020204" charset="0"/>
                          <a:cs typeface="Poppins" panose="020B0604020202020204" charset="0"/>
                        </a:rPr>
                        <a:t>ranker</a:t>
                      </a:r>
                      <a:r>
                        <a:rPr lang="fr-FR" sz="2800" dirty="0">
                          <a:latin typeface="Poppins" panose="020B0604020202020204" charset="0"/>
                          <a:cs typeface="Poppins" panose="020B0604020202020204" charset="0"/>
                        </a:rPr>
                        <a:t> + Mistral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101944"/>
                  </a:ext>
                </a:extLst>
              </a:tr>
              <a:tr h="964220">
                <a:tc>
                  <a:txBody>
                    <a:bodyPr/>
                    <a:lstStyle/>
                    <a:p>
                      <a:pPr algn="ctr"/>
                      <a:r>
                        <a:rPr lang="fr-FR" sz="3200" b="1" cap="small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Sans BGE </a:t>
                      </a:r>
                      <a:r>
                        <a:rPr lang="fr-FR" sz="3200" b="1" cap="small" baseline="0" dirty="0" err="1">
                          <a:latin typeface="Poppins" panose="020B0604020202020204" charset="0"/>
                          <a:cs typeface="Poppins" panose="020B0604020202020204" charset="0"/>
                        </a:rPr>
                        <a:t>Reranker</a:t>
                      </a:r>
                      <a:endParaRPr lang="fr-FR" sz="3200" b="1" cap="small" baseline="0" dirty="0"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4.32 secondes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Poppins" panose="020B0604020202020204" charset="0"/>
                          <a:cs typeface="Poppins" panose="020B0604020202020204" charset="0"/>
                        </a:rPr>
                        <a:t>Query Expansion + Mistral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374670"/>
                  </a:ext>
                </a:extLst>
              </a:tr>
              <a:tr h="964220">
                <a:tc>
                  <a:txBody>
                    <a:bodyPr/>
                    <a:lstStyle/>
                    <a:p>
                      <a:pPr algn="ctr"/>
                      <a:r>
                        <a:rPr lang="fr-FR" sz="3200" b="1" cap="small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Pipeline optimisé temps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3.34 secondes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 err="1">
                          <a:latin typeface="Poppins" panose="020B0604020202020204" charset="0"/>
                          <a:cs typeface="Poppins" panose="020B0604020202020204" charset="0"/>
                        </a:rPr>
                        <a:t>Hybrid</a:t>
                      </a:r>
                      <a:r>
                        <a:rPr lang="fr-FR" sz="2800" dirty="0">
                          <a:latin typeface="Poppins" panose="020B0604020202020204" charset="0"/>
                          <a:cs typeface="Poppins" panose="020B0604020202020204" charset="0"/>
                        </a:rPr>
                        <a:t> Search + Mistral</a:t>
                      </a:r>
                    </a:p>
                    <a:p>
                      <a:r>
                        <a:rPr lang="fr-FR" sz="2800" dirty="0">
                          <a:latin typeface="Poppins" panose="020B0604020202020204" charset="0"/>
                          <a:cs typeface="Poppins" panose="020B0604020202020204" charset="0"/>
                        </a:rPr>
                        <a:t>uniquement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530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1875585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40799-1B32-1182-8A03-E5646C09E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0D697F9-7BF4-C6DA-8C2C-47A00D76F69B}"/>
              </a:ext>
            </a:extLst>
          </p:cNvPr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3919C1A-E3DA-A6E2-A498-6DB3DC0DF3EF}"/>
              </a:ext>
            </a:extLst>
          </p:cNvPr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92784A1-9082-23F4-DB91-DB682F35A36F}"/>
                </a:ext>
              </a:extLst>
            </p:cNvPr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E336E75-4AFE-074E-526A-CC1C547B1F85}"/>
                </a:ext>
              </a:extLst>
            </p:cNvPr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9375778-BCAE-7957-F8EE-12875CAD4F70}"/>
              </a:ext>
            </a:extLst>
          </p:cNvPr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28485CE-3C96-2FB7-C355-7288FB7D519E}"/>
                </a:ext>
              </a:extLst>
            </p:cNvPr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A921E1F-7031-EA1A-58B3-CD0974B81E00}"/>
                </a:ext>
              </a:extLst>
            </p:cNvPr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F2CA6391-EBC4-16C2-C492-BEDD14FB7111}"/>
              </a:ext>
            </a:extLst>
          </p:cNvPr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5.3. </a:t>
            </a:r>
            <a:r>
              <a:rPr lang="en-US" sz="3999" b="1" i="1" dirty="0" err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Évaluation</a:t>
            </a:r>
            <a:endParaRPr lang="en-US" sz="3999" b="1" i="1" dirty="0">
              <a:solidFill>
                <a:srgbClr val="2B2D42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71F49E0-EDEC-75FA-0B73-CB901E7D271F}"/>
              </a:ext>
            </a:extLst>
          </p:cNvPr>
          <p:cNvSpPr txBox="1"/>
          <p:nvPr/>
        </p:nvSpPr>
        <p:spPr>
          <a:xfrm>
            <a:off x="6588296" y="511389"/>
            <a:ext cx="2991444" cy="336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870" dirty="0" err="1"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Analyse</a:t>
            </a:r>
            <a:r>
              <a:rPr lang="en-US" sz="1870" dirty="0"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 &amp; Conception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16B9E79-6AB3-1F98-3233-D7F895C2DFB5}"/>
              </a:ext>
            </a:extLst>
          </p:cNvPr>
          <p:cNvSpPr txBox="1"/>
          <p:nvPr/>
        </p:nvSpPr>
        <p:spPr>
          <a:xfrm>
            <a:off x="10457872" y="527899"/>
            <a:ext cx="3410527" cy="446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7030A0"/>
                </a:solidFill>
                <a:latin typeface="Poppins Bold" panose="020B0604020202020204" charset="0"/>
                <a:ea typeface="Quicksand Bold"/>
                <a:cs typeface="Poppins Bold" panose="020B0604020202020204" charset="0"/>
                <a:sym typeface="Quicksand Bold"/>
              </a:rPr>
              <a:t>Déploiement</a:t>
            </a:r>
            <a:r>
              <a:rPr lang="en-US" sz="2000" dirty="0">
                <a:solidFill>
                  <a:srgbClr val="7030A0"/>
                </a:solidFill>
                <a:latin typeface="Poppins Bold" panose="020B0604020202020204" charset="0"/>
                <a:ea typeface="Quicksand Bold"/>
                <a:cs typeface="Poppins Bold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25774E2-49DF-495E-67B0-9E66A628B277}"/>
              </a:ext>
            </a:extLst>
          </p:cNvPr>
          <p:cNvSpPr txBox="1"/>
          <p:nvPr/>
        </p:nvSpPr>
        <p:spPr>
          <a:xfrm>
            <a:off x="14656342" y="515549"/>
            <a:ext cx="1555331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6544AD2-7D1A-2CBD-D447-0EB9BC34D27B}"/>
              </a:ext>
            </a:extLst>
          </p:cNvPr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152A281-B4F8-ED07-E54C-3349098C62AD}"/>
              </a:ext>
            </a:extLst>
          </p:cNvPr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AF4B8B6-B44B-E6A3-1CFE-638B34C40B96}"/>
              </a:ext>
            </a:extLst>
          </p:cNvPr>
          <p:cNvSpPr txBox="1"/>
          <p:nvPr/>
        </p:nvSpPr>
        <p:spPr>
          <a:xfrm>
            <a:off x="17077200" y="8623810"/>
            <a:ext cx="1210800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26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6D99A76-FC3B-08BF-29C5-E92AD4D93567}"/>
              </a:ext>
            </a:extLst>
          </p:cNvPr>
          <p:cNvSpPr txBox="1"/>
          <p:nvPr/>
        </p:nvSpPr>
        <p:spPr>
          <a:xfrm>
            <a:off x="1345791" y="2647639"/>
            <a:ext cx="7798210" cy="538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13"/>
              </a:lnSpc>
              <a:spcBef>
                <a:spcPct val="0"/>
              </a:spcBef>
            </a:pP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Phase 3</a:t>
            </a:r>
            <a:r>
              <a:rPr lang="en-US" sz="3152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  <a:r>
              <a:rPr lang="en-US" sz="3152" b="1" i="1" u="none" strike="noStrike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:</a:t>
            </a:r>
            <a:r>
              <a:rPr lang="en-US" sz="3152" b="1" i="1" dirty="0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  <a:r>
              <a:rPr lang="en-US" sz="3152" i="1" dirty="0" err="1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Évaluation</a:t>
            </a:r>
            <a:r>
              <a:rPr lang="en-US" sz="3152" i="1" dirty="0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  <a:r>
              <a:rPr lang="en-US" sz="3152" i="1" dirty="0" err="1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humaine</a:t>
            </a:r>
            <a:r>
              <a:rPr lang="en-US" sz="3152" i="1" dirty="0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 (Nada </a:t>
            </a:r>
            <a:r>
              <a:rPr lang="en-US" sz="3152" i="1" dirty="0" err="1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Mchich</a:t>
            </a:r>
            <a:r>
              <a:rPr lang="en-US" sz="3152" i="1" dirty="0">
                <a:solidFill>
                  <a:srgbClr val="2B2D42"/>
                </a:solidFill>
                <a:latin typeface="Cormorant Garamond Italics" panose="020B0604020202020204" charset="0"/>
                <a:ea typeface="Cormorant Garamond Bold Italics"/>
                <a:cs typeface="Cormorant Garamond Bold Italics"/>
                <a:sym typeface="Cormorant Garamond Bold Italics"/>
              </a:rPr>
              <a:t>)</a:t>
            </a:r>
            <a:endParaRPr lang="en-US" sz="3152" i="1" u="none" strike="noStrike" dirty="0">
              <a:solidFill>
                <a:srgbClr val="2B2D42"/>
              </a:solidFill>
              <a:latin typeface="Cormorant Garamond Italics" panose="020B0604020202020204" charset="0"/>
              <a:ea typeface="Cormorant Garamond Italics"/>
              <a:cs typeface="Cormorant Garamond Italics"/>
              <a:sym typeface="Cormorant Garamond Italics"/>
            </a:endParaRPr>
          </a:p>
        </p:txBody>
      </p:sp>
      <p:graphicFrame>
        <p:nvGraphicFramePr>
          <p:cNvPr id="20" name="Tableau 19">
            <a:extLst>
              <a:ext uri="{FF2B5EF4-FFF2-40B4-BE49-F238E27FC236}">
                <a16:creationId xmlns:a16="http://schemas.microsoft.com/office/drawing/2014/main" id="{186267B5-37FE-AAF7-D978-1EEEDCB0E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851817"/>
              </p:ext>
            </p:extLst>
          </p:nvPr>
        </p:nvGraphicFramePr>
        <p:xfrm>
          <a:off x="1352718" y="3337696"/>
          <a:ext cx="15335082" cy="6315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3682">
                  <a:extLst>
                    <a:ext uri="{9D8B030D-6E8A-4147-A177-3AD203B41FA5}">
                      <a16:colId xmlns:a16="http://schemas.microsoft.com/office/drawing/2014/main" val="620976706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6702019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744558894"/>
                    </a:ext>
                  </a:extLst>
                </a:gridCol>
              </a:tblGrid>
              <a:tr h="617066">
                <a:tc>
                  <a:txBody>
                    <a:bodyPr/>
                    <a:lstStyle/>
                    <a:p>
                      <a:pPr algn="ctr"/>
                      <a:r>
                        <a:rPr lang="fr-FR" sz="4000" cap="small" baseline="0" dirty="0"/>
                        <a:t>Question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cap="small" baseline="0" dirty="0"/>
                        <a:t>échelle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cap="small" baseline="0" dirty="0"/>
                        <a:t>Score moyen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254086"/>
                  </a:ext>
                </a:extLst>
              </a:tr>
              <a:tr h="786593">
                <a:tc>
                  <a:txBody>
                    <a:bodyPr/>
                    <a:lstStyle/>
                    <a:p>
                      <a:pPr algn="ctr"/>
                      <a:r>
                        <a:rPr lang="fr-FR" sz="2800" b="0" i="1" cap="none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Les questions posées étaient-elles claires 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1 à 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3200" dirty="0"/>
                        <a:t>4 /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514746"/>
                  </a:ext>
                </a:extLst>
              </a:tr>
              <a:tr h="939013">
                <a:tc>
                  <a:txBody>
                    <a:bodyPr/>
                    <a:lstStyle/>
                    <a:p>
                      <a:pPr algn="ctr"/>
                      <a:r>
                        <a:rPr lang="fr-FR" sz="2800" b="0" i="1" cap="none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Les questions vous ont-elles guidé sans donner la réponse directement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1 à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3200" dirty="0"/>
                        <a:t>4 /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836529"/>
                  </a:ext>
                </a:extLst>
              </a:tr>
              <a:tr h="1368276">
                <a:tc>
                  <a:txBody>
                    <a:bodyPr/>
                    <a:lstStyle/>
                    <a:p>
                      <a:pPr algn="ctr"/>
                      <a:r>
                        <a:rPr lang="fr-FR" sz="2800" b="0" i="1" cap="none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Lee niveau de difficulté était-il adapté à votre niveau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1 à 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3200" dirty="0"/>
                        <a:t>3.5 / 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043892"/>
                  </a:ext>
                </a:extLst>
              </a:tr>
              <a:tr h="1146179">
                <a:tc>
                  <a:txBody>
                    <a:bodyPr/>
                    <a:lstStyle/>
                    <a:p>
                      <a:pPr algn="ctr"/>
                      <a:r>
                        <a:rPr lang="fr-FR" sz="2800" b="0" i="1" cap="none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Avez-vous appris quelque chose grâce à cet échange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1 à 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3200" dirty="0"/>
                        <a:t>4.5 /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101944"/>
                  </a:ext>
                </a:extLst>
              </a:tr>
              <a:tr h="1368276">
                <a:tc>
                  <a:txBody>
                    <a:bodyPr/>
                    <a:lstStyle/>
                    <a:p>
                      <a:pPr algn="ctr"/>
                      <a:r>
                        <a:rPr lang="fr-FR" sz="2800" b="0" i="1" cap="none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Préférez-vous cette approche à une réponse directe de </a:t>
                      </a:r>
                      <a:r>
                        <a:rPr lang="fr-FR" sz="2800" b="0" i="1" cap="none" baseline="0" dirty="0" err="1">
                          <a:latin typeface="Poppins" panose="020B0604020202020204" charset="0"/>
                          <a:cs typeface="Poppins" panose="020B0604020202020204" charset="0"/>
                        </a:rPr>
                        <a:t>ChatGPT</a:t>
                      </a:r>
                      <a:r>
                        <a:rPr lang="fr-FR" sz="2800" b="0" i="1" cap="none" baseline="0" dirty="0">
                          <a:latin typeface="Poppins" panose="020B0604020202020204" charset="0"/>
                          <a:cs typeface="Poppins" panose="020B0604020202020204" charset="0"/>
                        </a:rPr>
                        <a:t> </a:t>
                      </a:r>
                      <a:r>
                        <a:rPr lang="fr-FR" sz="3200" b="0" i="1" cap="none" baseline="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Oui/Non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3200" dirty="0"/>
                        <a:t>6/10 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374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604611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50598" y="1260261"/>
            <a:ext cx="19996945" cy="0"/>
          </a:xfrm>
          <a:prstGeom prst="line">
            <a:avLst/>
          </a:prstGeom>
          <a:ln w="38100" cap="flat">
            <a:gradFill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367864" y="643478"/>
            <a:ext cx="399158" cy="63290"/>
            <a:chOff x="0" y="0"/>
            <a:chExt cx="105128" cy="16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67864" y="785867"/>
            <a:ext cx="399158" cy="63290"/>
            <a:chOff x="0" y="0"/>
            <a:chExt cx="105128" cy="16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128" cy="16669"/>
            </a:xfrm>
            <a:custGeom>
              <a:avLst/>
              <a:gdLst/>
              <a:ahLst/>
              <a:cxnLst/>
              <a:rect l="l" t="t" r="r" b="b"/>
              <a:pathLst>
                <a:path w="105128" h="16669">
                  <a:moveTo>
                    <a:pt x="0" y="0"/>
                  </a:moveTo>
                  <a:lnTo>
                    <a:pt x="105128" y="0"/>
                  </a:lnTo>
                  <a:lnTo>
                    <a:pt x="105128" y="16669"/>
                  </a:lnTo>
                  <a:lnTo>
                    <a:pt x="0" y="16669"/>
                  </a:lnTo>
                  <a:close/>
                </a:path>
              </a:pathLst>
            </a:custGeom>
            <a:gradFill rotWithShape="1">
              <a:gsLst>
                <a:gs pos="0">
                  <a:srgbClr val="5F249F">
                    <a:alpha val="100000"/>
                  </a:srgbClr>
                </a:gs>
                <a:gs pos="100000">
                  <a:srgbClr val="D9E4F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128" cy="54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477307" y="3029143"/>
            <a:ext cx="17810693" cy="7257857"/>
          </a:xfrm>
          <a:custGeom>
            <a:avLst/>
            <a:gdLst/>
            <a:ahLst/>
            <a:cxnLst/>
            <a:rect l="l" t="t" r="r" b="b"/>
            <a:pathLst>
              <a:path w="17810693" h="7257857">
                <a:moveTo>
                  <a:pt x="0" y="0"/>
                </a:moveTo>
                <a:lnTo>
                  <a:pt x="17810693" y="0"/>
                </a:lnTo>
                <a:lnTo>
                  <a:pt x="17810693" y="7257857"/>
                </a:lnTo>
                <a:lnTo>
                  <a:pt x="0" y="7257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5884570" y="1056935"/>
            <a:ext cx="918465" cy="9750225"/>
            <a:chOff x="0" y="0"/>
            <a:chExt cx="261285" cy="27737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1285" cy="2755217"/>
            </a:xfrm>
            <a:custGeom>
              <a:avLst/>
              <a:gdLst/>
              <a:ahLst/>
              <a:cxnLst/>
              <a:rect l="l" t="t" r="r" b="b"/>
              <a:pathLst>
                <a:path w="261285" h="2755217">
                  <a:moveTo>
                    <a:pt x="261285" y="65853"/>
                  </a:moveTo>
                  <a:lnTo>
                    <a:pt x="261285" y="2593598"/>
                  </a:lnTo>
                  <a:cubicBezTo>
                    <a:pt x="261285" y="2635446"/>
                    <a:pt x="243219" y="2675257"/>
                    <a:pt x="211724" y="2702813"/>
                  </a:cubicBezTo>
                  <a:lnTo>
                    <a:pt x="180205" y="2730389"/>
                  </a:lnTo>
                  <a:cubicBezTo>
                    <a:pt x="151827" y="2755217"/>
                    <a:pt x="109458" y="2755217"/>
                    <a:pt x="81081" y="2730389"/>
                  </a:cubicBezTo>
                  <a:lnTo>
                    <a:pt x="49562" y="2702813"/>
                  </a:lnTo>
                  <a:cubicBezTo>
                    <a:pt x="18066" y="2675257"/>
                    <a:pt x="0" y="2635446"/>
                    <a:pt x="0" y="2593598"/>
                  </a:cubicBezTo>
                  <a:lnTo>
                    <a:pt x="0" y="65853"/>
                  </a:lnTo>
                  <a:cubicBezTo>
                    <a:pt x="0" y="29483"/>
                    <a:pt x="29483" y="0"/>
                    <a:pt x="65853" y="0"/>
                  </a:cubicBezTo>
                  <a:lnTo>
                    <a:pt x="195432" y="0"/>
                  </a:lnTo>
                  <a:cubicBezTo>
                    <a:pt x="231802" y="0"/>
                    <a:pt x="261285" y="29483"/>
                    <a:pt x="261285" y="65853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61285" cy="2707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5400000">
            <a:off x="5884570" y="2261645"/>
            <a:ext cx="918465" cy="9750225"/>
            <a:chOff x="0" y="0"/>
            <a:chExt cx="261285" cy="27737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61285" cy="2755217"/>
            </a:xfrm>
            <a:custGeom>
              <a:avLst/>
              <a:gdLst/>
              <a:ahLst/>
              <a:cxnLst/>
              <a:rect l="l" t="t" r="r" b="b"/>
              <a:pathLst>
                <a:path w="261285" h="2755217">
                  <a:moveTo>
                    <a:pt x="261285" y="65853"/>
                  </a:moveTo>
                  <a:lnTo>
                    <a:pt x="261285" y="2593598"/>
                  </a:lnTo>
                  <a:cubicBezTo>
                    <a:pt x="261285" y="2635446"/>
                    <a:pt x="243219" y="2675257"/>
                    <a:pt x="211724" y="2702813"/>
                  </a:cubicBezTo>
                  <a:lnTo>
                    <a:pt x="180205" y="2730389"/>
                  </a:lnTo>
                  <a:cubicBezTo>
                    <a:pt x="151827" y="2755217"/>
                    <a:pt x="109458" y="2755217"/>
                    <a:pt x="81081" y="2730389"/>
                  </a:cubicBezTo>
                  <a:lnTo>
                    <a:pt x="49562" y="2702813"/>
                  </a:lnTo>
                  <a:cubicBezTo>
                    <a:pt x="18066" y="2675257"/>
                    <a:pt x="0" y="2635446"/>
                    <a:pt x="0" y="2593598"/>
                  </a:cubicBezTo>
                  <a:lnTo>
                    <a:pt x="0" y="65853"/>
                  </a:lnTo>
                  <a:cubicBezTo>
                    <a:pt x="0" y="29483"/>
                    <a:pt x="29483" y="0"/>
                    <a:pt x="65853" y="0"/>
                  </a:cubicBezTo>
                  <a:lnTo>
                    <a:pt x="195432" y="0"/>
                  </a:lnTo>
                  <a:cubicBezTo>
                    <a:pt x="231802" y="0"/>
                    <a:pt x="261285" y="29483"/>
                    <a:pt x="261285" y="65853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61285" cy="2707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5884570" y="3460915"/>
            <a:ext cx="918465" cy="9750225"/>
            <a:chOff x="0" y="0"/>
            <a:chExt cx="261285" cy="27737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1285" cy="2755217"/>
            </a:xfrm>
            <a:custGeom>
              <a:avLst/>
              <a:gdLst/>
              <a:ahLst/>
              <a:cxnLst/>
              <a:rect l="l" t="t" r="r" b="b"/>
              <a:pathLst>
                <a:path w="261285" h="2755217">
                  <a:moveTo>
                    <a:pt x="261285" y="65853"/>
                  </a:moveTo>
                  <a:lnTo>
                    <a:pt x="261285" y="2593598"/>
                  </a:lnTo>
                  <a:cubicBezTo>
                    <a:pt x="261285" y="2635446"/>
                    <a:pt x="243219" y="2675257"/>
                    <a:pt x="211724" y="2702813"/>
                  </a:cubicBezTo>
                  <a:lnTo>
                    <a:pt x="180205" y="2730389"/>
                  </a:lnTo>
                  <a:cubicBezTo>
                    <a:pt x="151827" y="2755217"/>
                    <a:pt x="109458" y="2755217"/>
                    <a:pt x="81081" y="2730389"/>
                  </a:cubicBezTo>
                  <a:lnTo>
                    <a:pt x="49562" y="2702813"/>
                  </a:lnTo>
                  <a:cubicBezTo>
                    <a:pt x="18066" y="2675257"/>
                    <a:pt x="0" y="2635446"/>
                    <a:pt x="0" y="2593598"/>
                  </a:cubicBezTo>
                  <a:lnTo>
                    <a:pt x="0" y="65853"/>
                  </a:lnTo>
                  <a:cubicBezTo>
                    <a:pt x="0" y="29483"/>
                    <a:pt x="29483" y="0"/>
                    <a:pt x="65853" y="0"/>
                  </a:cubicBezTo>
                  <a:lnTo>
                    <a:pt x="195432" y="0"/>
                  </a:lnTo>
                  <a:cubicBezTo>
                    <a:pt x="231802" y="0"/>
                    <a:pt x="261285" y="29483"/>
                    <a:pt x="261285" y="65853"/>
                  </a:cubicBezTo>
                  <a:close/>
                </a:path>
              </a:pathLst>
            </a:custGeom>
            <a:solidFill>
              <a:srgbClr val="6732A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61285" cy="2707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3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588296" y="511389"/>
            <a:ext cx="299144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612"/>
              </a:lnSpc>
              <a:spcBef>
                <a:spcPct val="0"/>
              </a:spcBef>
            </a:pPr>
            <a:r>
              <a:rPr lang="en-US" sz="1865" u="none" strike="noStrike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Analyse &amp; Conception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74439" y="427961"/>
            <a:ext cx="3858652" cy="44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3879"/>
              </a:lnSpc>
              <a:spcBef>
                <a:spcPct val="0"/>
              </a:spcBef>
            </a:pPr>
            <a:r>
              <a:rPr lang="en-US" sz="1870" dirty="0" err="1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Déploiement</a:t>
            </a:r>
            <a:r>
              <a:rPr lang="en-US" sz="1870" dirty="0">
                <a:latin typeface="Poppins" panose="020B0604020202020204" charset="0"/>
                <a:ea typeface="Quicksand Bold"/>
                <a:cs typeface="Poppins" panose="020B0604020202020204" charset="0"/>
                <a:sym typeface="Quicksand Bold"/>
              </a:rPr>
              <a:t> &amp; Evaluation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656342" y="515549"/>
            <a:ext cx="155533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752"/>
              </a:lnSpc>
              <a:spcBef>
                <a:spcPct val="0"/>
              </a:spcBef>
            </a:pPr>
            <a:r>
              <a:rPr lang="en-US" sz="1965" b="1" u="none" strike="noStrike">
                <a:solidFill>
                  <a:srgbClr val="6732A7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78398" y="532059"/>
            <a:ext cx="2133598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Contexte Général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1656" y="515549"/>
            <a:ext cx="1680442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1965">
                <a:solidFill>
                  <a:srgbClr val="2B2D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2705100"/>
            <a:ext cx="16230600" cy="105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Cette approche offre aux étudiants une expérience d'apprentissage active et personnalisée, les amenant à construire eux-mêmes leurs connaissances plutôt que de les recevoir passivement. </a:t>
            </a:r>
            <a:r>
              <a:rPr lang="fr-FR" sz="2000" dirty="0" err="1">
                <a:latin typeface="Poppins" panose="020B0604020202020204" charset="0"/>
                <a:cs typeface="Poppins" panose="020B0604020202020204" charset="0"/>
              </a:rPr>
              <a:t>CyberSocrate</a:t>
            </a: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 démontre qu'il est possible de combiner la puissance des </a:t>
            </a:r>
            <a:r>
              <a:rPr lang="fr-FR" sz="2000" dirty="0" err="1">
                <a:latin typeface="Poppins" panose="020B0604020202020204" charset="0"/>
                <a:cs typeface="Poppins" panose="020B0604020202020204" charset="0"/>
              </a:rPr>
              <a:t>LLMs</a:t>
            </a:r>
            <a:r>
              <a:rPr lang="fr-FR" sz="2000" dirty="0">
                <a:latin typeface="Poppins" panose="020B0604020202020204" charset="0"/>
                <a:cs typeface="Poppins" panose="020B0604020202020204" charset="0"/>
              </a:rPr>
              <a:t> avec une pédagogie rigoureuse  non pas pour remplacer le professeur</a:t>
            </a:r>
            <a:r>
              <a:rPr lang="en-US" sz="1999" dirty="0">
                <a:solidFill>
                  <a:srgbClr val="2B2D42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097604" y="8623810"/>
            <a:ext cx="1190396" cy="134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6000" dirty="0">
                <a:solidFill>
                  <a:srgbClr val="5F249F"/>
                </a:solidFill>
                <a:latin typeface="Alice Bold"/>
                <a:ea typeface="Alice Bold"/>
                <a:cs typeface="Alice Bold"/>
                <a:sym typeface="Alice Bold"/>
              </a:rPr>
              <a:t>27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1816293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5.1. Conclusion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11006" y="5703517"/>
            <a:ext cx="9792759" cy="30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Passer à </a:t>
            </a:r>
            <a:r>
              <a:rPr lang="en-US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architecture microservices</a:t>
            </a: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11006" y="6908228"/>
            <a:ext cx="9792759" cy="30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Fine-tuning sur les dialogues </a:t>
            </a:r>
            <a:r>
              <a:rPr lang="en-US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socratique</a:t>
            </a:r>
            <a:r>
              <a:rPr lang="en-US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cybersécurité</a:t>
            </a:r>
            <a:endParaRPr lang="en-US" sz="18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011006" y="8107498"/>
            <a:ext cx="9792759" cy="625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fr-FR" dirty="0">
                <a:solidFill>
                  <a:schemeClr val="bg1"/>
                </a:solidFill>
                <a:latin typeface="Poppins" panose="020B0604020202020204" charset="0"/>
                <a:cs typeface="Poppins" panose="020B0604020202020204" charset="0"/>
              </a:rPr>
              <a:t>Graph RAG Modéliser les relations entre les concepts sous forme de graphe de connaissances</a:t>
            </a:r>
            <a:r>
              <a:rPr lang="en-US" sz="1800" dirty="0">
                <a:solidFill>
                  <a:schemeClr val="bg1"/>
                </a:solidFill>
                <a:latin typeface="Poppins" panose="020B0604020202020204" charset="0"/>
                <a:ea typeface="Poppins"/>
                <a:cs typeface="Poppins" panose="020B0604020202020204" charset="0"/>
                <a:sym typeface="Poppins"/>
              </a:rPr>
              <a:t>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656" y="4483100"/>
            <a:ext cx="1077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5.2. Perspective</a:t>
            </a:r>
          </a:p>
        </p:txBody>
      </p: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3764" y="9669608"/>
            <a:ext cx="8114971" cy="0"/>
          </a:xfrm>
          <a:prstGeom prst="line">
            <a:avLst/>
          </a:prstGeom>
          <a:ln w="76200" cap="flat">
            <a:solidFill>
              <a:srgbClr val="5F24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9618706" y="9410700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7"/>
                </a:lnTo>
                <a:lnTo>
                  <a:pt x="0" y="44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043764" y="3367967"/>
            <a:ext cx="16229942" cy="2024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518"/>
              </a:lnSpc>
              <a:spcBef>
                <a:spcPct val="0"/>
              </a:spcBef>
            </a:pPr>
            <a:r>
              <a:rPr lang="en-US" sz="11798" b="1" i="1">
                <a:solidFill>
                  <a:srgbClr val="2B2D4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Merci Pour Votre Attention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9958506" y="5619147"/>
            <a:ext cx="7315200" cy="993648"/>
          </a:xfrm>
          <a:custGeom>
            <a:avLst/>
            <a:gdLst/>
            <a:ahLst/>
            <a:cxnLst/>
            <a:rect l="l" t="t" r="r" b="b"/>
            <a:pathLst>
              <a:path w="7315200" h="993648">
                <a:moveTo>
                  <a:pt x="0" y="0"/>
                </a:moveTo>
                <a:lnTo>
                  <a:pt x="7315200" y="0"/>
                </a:lnTo>
                <a:lnTo>
                  <a:pt x="7315200" y="993648"/>
                </a:lnTo>
                <a:lnTo>
                  <a:pt x="0" y="9936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028700" y="7327584"/>
            <a:ext cx="2219547" cy="46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5"/>
              </a:lnSpc>
              <a:spcBef>
                <a:spcPct val="0"/>
              </a:spcBef>
            </a:pPr>
            <a:r>
              <a:rPr lang="en-US" sz="264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Réalisé par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1989" y="7942853"/>
            <a:ext cx="3809359" cy="474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9"/>
              </a:lnSpc>
              <a:spcBef>
                <a:spcPct val="0"/>
              </a:spcBef>
            </a:pPr>
            <a:r>
              <a:rPr lang="en-US" sz="2771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ETTOUHAMI Zakaria</a:t>
            </a:r>
          </a:p>
        </p:txBody>
      </p:sp>
      <p:sp>
        <p:nvSpPr>
          <p:cNvPr id="11" name="Freeform 11"/>
          <p:cNvSpPr/>
          <p:nvPr/>
        </p:nvSpPr>
        <p:spPr>
          <a:xfrm flipH="1" flipV="1">
            <a:off x="1028700" y="2954592"/>
            <a:ext cx="7315200" cy="993648"/>
          </a:xfrm>
          <a:custGeom>
            <a:avLst/>
            <a:gdLst/>
            <a:ahLst/>
            <a:cxnLst/>
            <a:rect l="l" t="t" r="r" b="b"/>
            <a:pathLst>
              <a:path w="7315200" h="993648">
                <a:moveTo>
                  <a:pt x="7315200" y="993648"/>
                </a:moveTo>
                <a:lnTo>
                  <a:pt x="0" y="993648"/>
                </a:lnTo>
                <a:lnTo>
                  <a:pt x="0" y="0"/>
                </a:lnTo>
                <a:lnTo>
                  <a:pt x="7315200" y="0"/>
                </a:lnTo>
                <a:lnTo>
                  <a:pt x="7315200" y="99364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8290909" y="7183056"/>
            <a:ext cx="3335193" cy="46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5"/>
              </a:lnSpc>
              <a:spcBef>
                <a:spcPct val="0"/>
              </a:spcBef>
            </a:pPr>
            <a:r>
              <a:rPr lang="en-US" sz="2646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Encadrants</a:t>
            </a:r>
            <a:r>
              <a:rPr lang="en-US" sz="264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43800" y="7701643"/>
            <a:ext cx="5374725" cy="460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9"/>
              </a:lnSpc>
              <a:spcBef>
                <a:spcPct val="0"/>
              </a:spcBef>
            </a:pPr>
            <a:r>
              <a:rPr lang="en-US" sz="2771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Mr.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14940" y="1759200"/>
            <a:ext cx="11643643" cy="529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Spécialité</a:t>
            </a:r>
            <a:r>
              <a:rPr lang="en-US" sz="314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: Data Science</a:t>
            </a:r>
          </a:p>
        </p:txBody>
      </p:sp>
      <p:pic>
        <p:nvPicPr>
          <p:cNvPr id="4098" name="Picture 2" descr="CY Tech">
            <a:extLst>
              <a:ext uri="{FF2B5EF4-FFF2-40B4-BE49-F238E27FC236}">
                <a16:creationId xmlns:a16="http://schemas.microsoft.com/office/drawing/2014/main" id="{3381A58E-BC81-4B27-B283-6DFCB86FD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53" y="135192"/>
            <a:ext cx="294322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/>
      </p:transition>
    </mc:Choice>
    <mc:Fallback xmlns="">
      <p:transition spd="slow">
        <p:cov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10650</TotalTime>
  <Words>1801</Words>
  <Application>Microsoft Office PowerPoint</Application>
  <PresentationFormat>Personnalisé</PresentationFormat>
  <Paragraphs>515</Paragraphs>
  <Slides>28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43" baseType="lpstr">
      <vt:lpstr>Quicksand</vt:lpstr>
      <vt:lpstr>Alice Bold</vt:lpstr>
      <vt:lpstr>Calibri</vt:lpstr>
      <vt:lpstr>Roboto Bold</vt:lpstr>
      <vt:lpstr>Cormorant Garamond Bold Italics</vt:lpstr>
      <vt:lpstr>Poppins Bold Italics</vt:lpstr>
      <vt:lpstr>Cambria Math</vt:lpstr>
      <vt:lpstr>Poppins</vt:lpstr>
      <vt:lpstr>Quicksand Bold</vt:lpstr>
      <vt:lpstr>Poppins Italics</vt:lpstr>
      <vt:lpstr>Cormorant Garamond Italics</vt:lpstr>
      <vt:lpstr>Helvetica World Bold</vt:lpstr>
      <vt:lpstr>Arial</vt:lpstr>
      <vt:lpstr>Poppins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de Mémoire</dc:title>
  <dc:creator>Aymane</dc:creator>
  <cp:lastModifiedBy>Zakaria ETTOUHAMI</cp:lastModifiedBy>
  <cp:revision>76</cp:revision>
  <dcterms:created xsi:type="dcterms:W3CDTF">2006-08-16T00:00:00Z</dcterms:created>
  <dcterms:modified xsi:type="dcterms:W3CDTF">2026-05-05T19:46:21Z</dcterms:modified>
  <dc:identifier>DAGr7BuBXSY</dc:identifier>
</cp:coreProperties>
</file>